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95" r:id="rId3"/>
    <p:sldId id="290" r:id="rId4"/>
    <p:sldId id="298" r:id="rId5"/>
    <p:sldId id="302" r:id="rId6"/>
    <p:sldId id="291" r:id="rId7"/>
    <p:sldId id="301" r:id="rId8"/>
    <p:sldId id="292" r:id="rId9"/>
    <p:sldId id="303" r:id="rId10"/>
    <p:sldId id="297" r:id="rId11"/>
    <p:sldId id="293" r:id="rId12"/>
    <p:sldId id="288" r:id="rId13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>
        <p:scale>
          <a:sx n="125" d="100"/>
          <a:sy n="125" d="100"/>
        </p:scale>
        <p:origin x="-370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B99FA-97E9-FC7D-2B9A-BA7265933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4028ACA-2CBF-8F75-32D0-881978CDF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C834A5-D89E-6306-39BC-39F084B00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1E4BC98-71A5-DEF9-0FC1-EE9BE6B25C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26202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37379-E8F7-0EEB-24B8-B37B4D10E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99F7970-F455-DA80-F81B-AD9620714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1013AFA-2D76-E2A2-0A6B-B6931F9B2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0898D18-FB82-D342-4D88-F5E6F4C4CB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54042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DEB1E-5176-F287-14B3-D6364A20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024B29C-89F6-0631-BFB6-DEAC27C95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80B46AA-E1A4-017C-CF86-9ED5E1E7E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745E78A-B74C-7E42-7D6E-923EF94C8A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315722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3668B-1BDE-E588-A700-CF53A7851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B69881F-BD8C-A12F-65E4-4D38868345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8C4B1F-4A34-106B-FC71-A08E8F622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C752FB-22D8-AE5E-A74D-882F59A7E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40580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3.png"/><Relationship Id="rId7" Type="http://schemas.openxmlformats.org/officeDocument/2006/relationships/image" Target="NUL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Lidia Tórtola Juan y Raúl Salido Calatayud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https://github.com/cccanvas-upv/cifoin-lab1.git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</a:t>
            </a:r>
            <a:r>
              <a:rPr lang="en-US" sz="2000" dirty="0" err="1"/>
              <a:t>neff</a:t>
            </a:r>
            <a:r>
              <a:rPr lang="en-US" sz="2000" dirty="0"/>
              <a:t> …)</a:t>
            </a:r>
            <a:endParaRPr lang="en-US" sz="2000" b="1" i="1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534989" y="4221458"/>
            <a:ext cx="11047570" cy="212365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realización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primer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ejercicio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usado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siguientes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materiales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nitruro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dioxide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cabo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simulación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éxito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un corte transversal,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definir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dimensiones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además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material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utilizar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tanto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núcleo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la longitude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cantidad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resolución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mallado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diferencia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shallow,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shallow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existe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altura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slab,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mientrsa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deep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altura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nula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dimensiones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dejado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defecto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buen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Si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fuera mas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habria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modirficar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clad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definido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cuatro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cuatro solo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 TE0 y TM0.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modo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tanto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0A16-F2F4-9AF8-DF86-1F9986DB1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E661BFD-005B-617B-7E44-9EBDCA76A8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8F9C000-EAE2-45D7-BAAE-08F90DCC2F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618349C-6186-B659-A1FB-DCB5D31E644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3269ADA-2EAB-1916-57A2-82CCB1F3A5C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8913B8E7-4B48-4485-0C30-71290D04EE4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A4BDF88-73DC-AAF8-4E1D-3CE69A3FDCD6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0022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30471-E512-5565-2D88-AFBC3C1FE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5319B52-BE7A-5EDF-8847-CE583D00CA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8B7A066D-CBDC-5798-F1F7-24E0CB1B0C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746A4DE-8EDB-DF1F-F14B-0A1D45EB681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53B11AF-D881-E24A-11EA-EE0F800E3D0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ED4649C8-97D0-793B-D973-63B9588C8D57}"/>
                  </a:ext>
                </a:extLst>
              </p:cNvPr>
              <p:cNvSpPr txBox="1"/>
              <p:nvPr/>
            </p:nvSpPr>
            <p:spPr>
              <a:xfrm>
                <a:off x="583019" y="4819380"/>
                <a:ext cx="11199971" cy="161781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results (neff changes this way with wavelength, comparison between different waveguide cross-sections …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etc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En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primeras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figuras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estan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representadas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las cross sections de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shallow y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deep,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respectivamente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Vemos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 shallow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está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representada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slab y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tiene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mismo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efectivo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r>
                  <a:rPr lang="es-ES" sz="1200" dirty="0"/>
                  <a:t>La diferencia principal es que la </a:t>
                </a:r>
                <a:r>
                  <a:rPr lang="es-ES" sz="1200" i="1" dirty="0" err="1"/>
                  <a:t>shallow</a:t>
                </a:r>
                <a:r>
                  <a:rPr lang="es-ES" sz="1200" dirty="0"/>
                  <a:t> tiene una capa de </a:t>
                </a:r>
                <a:r>
                  <a:rPr lang="es-ES" sz="1200" i="1" dirty="0" err="1"/>
                  <a:t>slab</a:t>
                </a:r>
                <a:r>
                  <a:rPr lang="es-ES" sz="1200" dirty="0"/>
                  <a:t> (material de núcleo) fuera del </a:t>
                </a:r>
                <a:r>
                  <a:rPr lang="es-ES" sz="1200" dirty="0" err="1"/>
                  <a:t>rib</a:t>
                </a:r>
                <a:r>
                  <a:rPr lang="es-ES" sz="1200" dirty="0"/>
                  <a:t>, mientras que en la </a:t>
                </a:r>
                <a:r>
                  <a:rPr lang="es-ES" sz="1200" i="1" dirty="0" err="1"/>
                  <a:t>deep</a:t>
                </a:r>
                <a:r>
                  <a:rPr lang="es-ES" sz="1200" dirty="0"/>
                  <a:t> esa zona está completamente rodeada por la cubierta (</a:t>
                </a:r>
                <a:r>
                  <a:rPr lang="es-ES" sz="1200" dirty="0" err="1"/>
                  <a:t>SiO</a:t>
                </a:r>
                <a:r>
                  <a:rPr lang="es-ES" sz="1200" dirty="0"/>
                  <a:t>₂).</a:t>
                </a:r>
              </a:p>
              <a:p>
                <a:r>
                  <a:rPr lang="es-ES" sz="1200" dirty="0"/>
                  <a:t>Debido a esto, en la guía </a:t>
                </a:r>
                <a:r>
                  <a:rPr lang="es-ES" sz="1200" i="1" dirty="0" err="1"/>
                  <a:t>shallow</a:t>
                </a:r>
                <a:r>
                  <a:rPr lang="es-ES" sz="1200" dirty="0"/>
                  <a:t> el modo está más confinado en material de alto índice, ya que parte del campo también se propaga por el </a:t>
                </a:r>
                <a:r>
                  <a:rPr lang="es-ES" sz="1200" dirty="0" err="1"/>
                  <a:t>slab</a:t>
                </a:r>
                <a:r>
                  <a:rPr lang="es-ES" sz="1200" dirty="0"/>
                  <a:t>. Como el índice efectivo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>
                            <a:latin typeface="+mj-l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ar-AE" sz="1200" i="0">
                            <a:latin typeface="+mj-lt"/>
                          </a:rPr>
                          <m:t>n</m:t>
                        </m:r>
                      </m:e>
                      <m:sub>
                        <m:r>
                          <m:rPr>
                            <m:nor/>
                          </m:rPr>
                          <a:rPr lang="es-ES" sz="1200">
                            <a:latin typeface="+mj-lt"/>
                          </a:rPr>
                          <m:t>eff</m:t>
                        </m:r>
                      </m:sub>
                    </m:sSub>
                  </m:oMath>
                </a14:m>
                <a:r>
                  <a:rPr lang="es-ES" sz="1200" dirty="0"/>
                  <a:t> depende del material que “ve” el modo, al haber mayor fracción de campo en el núcleo, su valor es más alto.</a:t>
                </a:r>
              </a:p>
              <a:p>
                <a:r>
                  <a:rPr lang="es-ES" sz="1200" dirty="0"/>
                  <a:t>En cambio, en la guía </a:t>
                </a:r>
                <a:r>
                  <a:rPr lang="es-ES" sz="1200" i="1" dirty="0" err="1"/>
                  <a:t>deep</a:t>
                </a:r>
                <a:r>
                  <a:rPr lang="es-ES" sz="1200" dirty="0"/>
                  <a:t> el campo se extiende más hacia la cubierta (índice menor), lo que reduce el confinamiento y hace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>
                            <a:latin typeface="+mj-l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ar-AE" sz="1200" i="0">
                            <a:latin typeface="+mj-lt"/>
                          </a:rPr>
                          <m:t>n</m:t>
                        </m:r>
                      </m:e>
                      <m:sub>
                        <m:r>
                          <m:rPr>
                            <m:nor/>
                          </m:rPr>
                          <a:rPr lang="es-ES" sz="1200">
                            <a:latin typeface="+mj-lt"/>
                          </a:rPr>
                          <m:t>eff</m:t>
                        </m:r>
                      </m:sub>
                    </m:sSub>
                  </m:oMath>
                </a14:m>
                <a:r>
                  <a:rPr lang="es-ES" sz="1200" dirty="0"/>
                  <a:t> sea más bajo.</a:t>
                </a:r>
              </a:p>
            </p:txBody>
          </p:sp>
        </mc:Choice>
        <mc:Fallback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ED4649C8-97D0-793B-D973-63B9588C8D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019" y="4819380"/>
                <a:ext cx="11199971" cy="16178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0065779-FA07-79A3-959D-85192B0F35AB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D143A1E-54DE-4E0B-C607-E875A8C41D19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DC9140D-3EAB-09C8-E28A-4AFA565F7F80}"/>
              </a:ext>
            </a:extLst>
          </p:cNvPr>
          <p:cNvSpPr txBox="1"/>
          <p:nvPr/>
        </p:nvSpPr>
        <p:spPr>
          <a:xfrm>
            <a:off x="609441" y="1069729"/>
            <a:ext cx="14479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6" name="Imagen 5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8CF22875-A714-89D0-83B7-0730E24CDF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9842" y="1558564"/>
            <a:ext cx="4231768" cy="3075628"/>
          </a:xfrm>
          <a:prstGeom prst="rect">
            <a:avLst/>
          </a:prstGeom>
        </p:spPr>
      </p:pic>
      <p:pic>
        <p:nvPicPr>
          <p:cNvPr id="11" name="Imagen 10" descr="Gráfico&#10;&#10;El contenido generado por IA puede ser incorrecto.">
            <a:extLst>
              <a:ext uri="{FF2B5EF4-FFF2-40B4-BE49-F238E27FC236}">
                <a16:creationId xmlns:a16="http://schemas.microsoft.com/office/drawing/2014/main" id="{D2D86B35-4FF6-F1E5-2DDC-A2A060CB84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5997" y="1527005"/>
            <a:ext cx="4377803" cy="317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472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542887" y="5045798"/>
            <a:ext cx="3267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slab_thickness</a:t>
            </a:r>
            <a:r>
              <a:rPr lang="en-US" dirty="0"/>
              <a:t> = 150nm</a:t>
            </a:r>
            <a:endParaRPr lang="es-ES" dirty="0"/>
          </a:p>
        </p:txBody>
      </p:sp>
      <p:pic>
        <p:nvPicPr>
          <p:cNvPr id="10" name="Imagen 9" descr="Gráfico&#10;&#10;El contenido generado por IA puede ser incorrecto.">
            <a:extLst>
              <a:ext uri="{FF2B5EF4-FFF2-40B4-BE49-F238E27FC236}">
                <a16:creationId xmlns:a16="http://schemas.microsoft.com/office/drawing/2014/main" id="{0E2661E7-F8B1-FC85-20AA-858D01336D2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187"/>
          <a:stretch>
            <a:fillRect/>
          </a:stretch>
        </p:blipFill>
        <p:spPr>
          <a:xfrm>
            <a:off x="6550910" y="1508141"/>
            <a:ext cx="5258502" cy="3010670"/>
          </a:xfrm>
          <a:prstGeom prst="rect">
            <a:avLst/>
          </a:prstGeom>
        </p:spPr>
      </p:pic>
      <p:pic>
        <p:nvPicPr>
          <p:cNvPr id="12" name="Imagen 11" descr="Gráfico&#10;&#10;El contenido generado por IA puede ser incorrecto.">
            <a:extLst>
              <a:ext uri="{FF2B5EF4-FFF2-40B4-BE49-F238E27FC236}">
                <a16:creationId xmlns:a16="http://schemas.microsoft.com/office/drawing/2014/main" id="{D207EA98-5B09-BC58-0A08-FC2F68FB59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029" y="1573281"/>
            <a:ext cx="5143103" cy="299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E487D-A41E-9467-90C4-9B4FFD316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B639599-FD86-26FE-4494-F92E30A0B3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E7E29A8-0A3F-E680-4995-0B73838555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B2E448D-F90B-316C-9A22-37B89D74702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F50A87A-25D7-AC78-2D3C-65977DD80EED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6D243C48-D0CB-2131-C493-8E5DFCAD1557}"/>
                  </a:ext>
                </a:extLst>
              </p:cNvPr>
              <p:cNvSpPr txBox="1"/>
              <p:nvPr/>
            </p:nvSpPr>
            <p:spPr>
              <a:xfrm>
                <a:off x="685798" y="2183808"/>
                <a:ext cx="11199971" cy="245631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En primer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lugar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podemos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para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deep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solamente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modo 0 y 1,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mientras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otro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ado, para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shallow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propagan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todas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entender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es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necesario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saber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considere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un modo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está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propaganda,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efectivo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tiene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menor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del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núcleo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caso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2), y mayor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cubierta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 (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caso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1.55).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Además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hemos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visto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figuras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las cross sections,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shallow al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tener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un slab 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efectrivo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sea mayor 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al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mejor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confinado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Por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otro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lado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 deep al no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tener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material, lo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hay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despues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del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nucleo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es material de Si02,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efectivo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disminuye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mas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rapidamente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lo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cual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consiguiente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esté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menos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confinado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algn="just"/>
                <a:r>
                  <a:rPr lang="es-ES" sz="1200" dirty="0"/>
                  <a:t>Además, en las gráficas se observa que el índice efectivo disminuye ligeramente al aumentar la longitud de onda para todos los modos y en ambas guías. Esto se debe a que, a mayores longitudes de onda, el modo se desconfina más y parte del campo se extiende hacia la cubierta, reduciendo el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m:rPr>
                            <m:nor/>
                          </m:rPr>
                          <a:rPr lang="es-ES" i="1"/>
                          <m:t>eff</m:t>
                        </m:r>
                      </m:sub>
                    </m:sSub>
                  </m:oMath>
                </a14:m>
                <a:r>
                  <a:rPr lang="ar-AE" sz="1200" dirty="0"/>
                  <a:t>.</a:t>
                </a:r>
                <a:r>
                  <a:rPr lang="es-ES" sz="1200" dirty="0"/>
                  <a:t>, DEBIDO A QUE CUANDO AUMENTAMOS LAS LONGIUTDES DE ONDA AUMENTA SU TAMAÑO Y POR TANTO DISMINUUYE SU CONFINAMIENTO.</a:t>
                </a:r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Cabe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mencionar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tambien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propaguen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no es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tampoco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bueno,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ya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normalmente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solo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deseamos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uno,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hecho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propaguen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distintos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a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vez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puede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conllevar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veces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interferencias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intermodales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6D243C48-D0CB-2131-C493-8E5DFCAD1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98" y="2183808"/>
                <a:ext cx="11199971" cy="24563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83CA6113-EDE4-221A-895C-6660C9379186}"/>
              </a:ext>
            </a:extLst>
          </p:cNvPr>
          <p:cNvSpPr txBox="1"/>
          <p:nvPr/>
        </p:nvSpPr>
        <p:spPr>
          <a:xfrm>
            <a:off x="583019" y="1325840"/>
            <a:ext cx="111999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Comment results (</a:t>
            </a:r>
            <a:r>
              <a:rPr lang="en-US" sz="1800" i="1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 changes this way with wavelength, comparison between different waveguide </a:t>
            </a:r>
          </a:p>
          <a:p>
            <a:pPr algn="just"/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cross-sections …</a:t>
            </a:r>
            <a:r>
              <a:rPr lang="en-US" sz="1800" i="1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41289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2"/>
            <a:ext cx="11199971" cy="46776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Gráfico&#10;&#10;El contenido generado por IA puede ser incorrecto.">
            <a:extLst>
              <a:ext uri="{FF2B5EF4-FFF2-40B4-BE49-F238E27FC236}">
                <a16:creationId xmlns:a16="http://schemas.microsoft.com/office/drawing/2014/main" id="{7FE8EEDD-8993-BCEA-0B41-201B4F53E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900" y="1517970"/>
            <a:ext cx="7696200" cy="44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7E4B9-ABBB-87A8-4B17-C171028A9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9C23C97-D7CF-497D-A5D2-21CC05D101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22F4EF9-AE55-C48A-8B2E-3848EC3518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1001561-763B-091A-D701-C675075E0AB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C443C3E-55F8-F709-A423-226B9F3EFED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1F9A7E5-D46C-0453-20FD-6B7360905609}"/>
              </a:ext>
            </a:extLst>
          </p:cNvPr>
          <p:cNvSpPr txBox="1"/>
          <p:nvPr/>
        </p:nvSpPr>
        <p:spPr>
          <a:xfrm>
            <a:off x="583019" y="1371600"/>
            <a:ext cx="11199971" cy="341632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figura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distintos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ancho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cabe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destacar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representada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figura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líneas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rojas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mientras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azules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TM. Esto se ha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deducido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gracias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representación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porcentaje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modo TE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temenos tanto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0 TE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0 TM,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cuales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van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representados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Sin embargo,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conforme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misma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longitud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espacio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major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1 TE,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modo 2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hasta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consigue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ancho de 1.25um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aproximadamente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empieza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En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pasa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ser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multimodo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estarían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propaganda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TE.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último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encontramos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3,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modo TM 1,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rango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elegido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nunca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Si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comparamos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ejercicio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nunca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llegaban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últimos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(modo TM1 y TE1),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estabamos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longitud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Sin embargo,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actual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llegados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determinado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valor,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comenzarian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425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94400B4-EE16-8E85-AB54-E82FE3B293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Waveguide compact model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- Find the compact models of the following waveguides: </a:t>
            </a:r>
            <a:br>
              <a:rPr lang="en-US" b="0" dirty="0"/>
            </a:br>
            <a:r>
              <a:rPr lang="en-US" dirty="0"/>
              <a:t>Deep</a:t>
            </a:r>
            <a:r>
              <a:rPr lang="en-US" b="0" dirty="0"/>
              <a:t> waveguide, h=300nm, w=1.2um   - </a:t>
            </a:r>
            <a:r>
              <a:rPr lang="en-US" dirty="0"/>
              <a:t>Shallow</a:t>
            </a:r>
            <a:r>
              <a:rPr lang="en-US" b="0" dirty="0"/>
              <a:t> waveguide, core h=300nm, slab h=150 nm, w = 1.2um </a:t>
            </a:r>
            <a:br>
              <a:rPr lang="en-US" b="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N1 TIENE QUE SER EL NEFF EL QUE EMPIEZAS, N2 TIENE QUE DAR ENTRE 1.9 Y 2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#5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1.2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radius?,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Total Loss (dB/90º) vs R &amp; neff_TE0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0DB343B-A24E-A634-93E8-282DB996B142}"/>
              </a:ext>
            </a:extLst>
          </p:cNvPr>
          <p:cNvSpPr txBox="1"/>
          <p:nvPr/>
        </p:nvSpPr>
        <p:spPr>
          <a:xfrm>
            <a:off x="2667000" y="858867"/>
            <a:ext cx="61208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 err="1"/>
              <a:t>git</a:t>
            </a:r>
            <a:r>
              <a:rPr lang="es-ES" b="1" dirty="0"/>
              <a:t> </a:t>
            </a:r>
            <a:r>
              <a:rPr lang="es-ES" b="1" dirty="0" err="1"/>
              <a:t>config</a:t>
            </a:r>
            <a:r>
              <a:rPr lang="es-ES" b="1" dirty="0"/>
              <a:t> --global user.name "{Tu nombre de usuario}"</a:t>
            </a:r>
            <a:endParaRPr lang="es-ES" dirty="0"/>
          </a:p>
          <a:p>
            <a:r>
              <a:rPr lang="es-ES"/>
              <a:t> </a:t>
            </a:r>
          </a:p>
          <a:p>
            <a:pPr>
              <a:buNone/>
            </a:pPr>
            <a:r>
              <a:rPr lang="en-US">
                <a:effectLst/>
                <a:latin typeface="-apple-system"/>
              </a:rPr>
              <a:t>git </a:t>
            </a:r>
            <a:r>
              <a:rPr lang="en-US" dirty="0">
                <a:effectLst/>
                <a:latin typeface="-apple-system"/>
              </a:rPr>
              <a:t>add -A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 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git commit -m "</a:t>
            </a:r>
            <a:r>
              <a:rPr lang="en-US" dirty="0" err="1">
                <a:effectLst/>
                <a:latin typeface="-apple-system"/>
              </a:rPr>
              <a:t>cambios</a:t>
            </a:r>
            <a:r>
              <a:rPr lang="en-US" dirty="0">
                <a:effectLst/>
                <a:latin typeface="-apple-system"/>
              </a:rPr>
              <a:t>"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 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git push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 </a:t>
            </a:r>
            <a:endParaRPr lang="es-E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1328</TotalTime>
  <Words>1665</Words>
  <Application>Microsoft Office PowerPoint</Application>
  <PresentationFormat>Panorámica</PresentationFormat>
  <Paragraphs>134</Paragraphs>
  <Slides>12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21" baseType="lpstr">
      <vt:lpstr>-apple-system</vt:lpstr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#1 – Effective index of a waveguide </vt:lpstr>
      <vt:lpstr>Learning outcome #2 – Wavelength behavior Wavelength 1.5-1.6 µm (step 0.01 µm) – width 1.2 µm</vt:lpstr>
      <vt:lpstr>Learning outcome #2 – Wavelength behavior Wavelength 1.5-1.6 µm (step 0.01 µm) – width 1.2 µm</vt:lpstr>
      <vt:lpstr>Learning outcome #2 – Wavelength behavior Wavelength 1.5-1.6 µm (step 0.01 µm) – width 1.2 µm</vt:lpstr>
      <vt:lpstr>Learning outcome #3 – Width dependence Width 0.6 - 1.6 µm (step 0.1 µm) – Wavelength 1.55 µm </vt:lpstr>
      <vt:lpstr>Learning outcome #3 – Width dependence Width 0.6 - 1.6 µm (step 0.1 µm) – Wavelength 1.55 µm </vt:lpstr>
      <vt:lpstr>Learning outcome #4 – Waveguide compact model - Find the compact models of the following waveguides:  Deep waveguide, h=300nm, w=1.2um   - Shallow waveguide, core h=300nm, slab h=150 nm, w = 1.2um  </vt:lpstr>
      <vt:lpstr>Learning outcome #5 – Bend waveguide radius vs. loss – deep Find  neff_TE0 for wvl 1.55 µm, width 1.2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Lidia Tortola Juan</cp:lastModifiedBy>
  <cp:revision>17</cp:revision>
  <dcterms:created xsi:type="dcterms:W3CDTF">2025-01-27T02:46:57Z</dcterms:created>
  <dcterms:modified xsi:type="dcterms:W3CDTF">2026-02-28T12:29:38Z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