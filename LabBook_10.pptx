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5"/>
  </p:notesMasterIdLst>
  <p:handoutMasterIdLst>
    <p:handoutMasterId r:id="rId26"/>
  </p:handoutMasterIdLst>
  <p:sldIdLst>
    <p:sldId id="256" r:id="rId2"/>
    <p:sldId id="295" r:id="rId3"/>
    <p:sldId id="290" r:id="rId4"/>
    <p:sldId id="314" r:id="rId5"/>
    <p:sldId id="302" r:id="rId6"/>
    <p:sldId id="315" r:id="rId7"/>
    <p:sldId id="291" r:id="rId8"/>
    <p:sldId id="301" r:id="rId9"/>
    <p:sldId id="292" r:id="rId10"/>
    <p:sldId id="303" r:id="rId11"/>
    <p:sldId id="297" r:id="rId12"/>
    <p:sldId id="304" r:id="rId13"/>
    <p:sldId id="293" r:id="rId14"/>
    <p:sldId id="306" r:id="rId15"/>
    <p:sldId id="309" r:id="rId16"/>
    <p:sldId id="308" r:id="rId17"/>
    <p:sldId id="310" r:id="rId18"/>
    <p:sldId id="311" r:id="rId19"/>
    <p:sldId id="312" r:id="rId20"/>
    <p:sldId id="305" r:id="rId21"/>
    <p:sldId id="307" r:id="rId22"/>
    <p:sldId id="316" r:id="rId23"/>
    <p:sldId id="288" r:id="rId24"/>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11" d="100"/>
          <a:sy n="111" d="100"/>
        </p:scale>
        <p:origin x="1134" y="9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15/03/2026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15/03/2026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A10D-CFDF-F305-711C-ABEAAD7740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0409C9-3F35-A247-1158-6316D1714F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D94356-29E4-EB70-D5FC-5990D833D54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293BA46-578E-933B-EDE3-77E53DF5B3A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925937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7379-E8F7-0EEB-24B8-B37B4D10ED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9F7970-F455-DA80-F81B-AD9620714A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1013AFA-2D76-E2A2-0A6B-B6931F9B271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898D18-FB82-D342-4D88-F5E6F4C4CBA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285404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BF8B-5131-9A18-B50D-F6361CD721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34DD8F-A640-31B9-02F6-B83C924747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6C7641-856B-0566-48CD-66A60DC76D3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1E0058B-60D8-D203-2AD0-CB67836D5F6B}"/>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824082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EB1E-5176-F287-14B3-D6364A2089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24B29C-89F6-0631-BFB6-DEAC27C951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0B46AA-E1A4-017C-CF86-9ED5E1E7E8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745E78A-B74C-7E42-7D6E-923EF94C8AB2}"/>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031572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3668B-1BDE-E588-A700-CF53A78517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69881F-BD8C-A12F-65E4-4D38868345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8C4B1F-4A34-106B-FC71-A08E8F622B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DC752FB-22D8-AE5E-A74D-882F59A7EE23}"/>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3334058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AA65-166B-474B-A6C9-9858D86A94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158223-A8BA-05F6-464C-EC03A9FB8C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CB4DF-C329-8F47-9ECE-661B5B2BF9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1B2276-A4E2-DFBF-0088-6997E86C9FE1}"/>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36231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49ECA-B518-50D2-8604-23126DCCD3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0B53A5A-0048-C702-8F7E-8602245471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5348C2-C668-42AD-11C3-D9A2AAB49F1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E2FB511-3713-07BB-835C-A6009AC63F50}"/>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4056018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6408-1DE0-A656-A80B-1236EC1397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D7B021-1265-D78A-7F4F-E71E8E9E28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224371-A96C-7DD9-5725-A1ABAE701B1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E52CE88-5FEE-6A1A-9972-51BE52A267EA}"/>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602641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E13D-3B4E-739F-356B-1ED6EACA31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17FAAF-7923-8437-91A7-199F79AB01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093DF6-FD67-A5BB-E03C-1655C8630A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61BD152-8B49-F521-00DA-4812CCF7624A}"/>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757885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0610B-BED1-5D98-B16F-3464706DCD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BE0DE1-8042-E014-B858-8CA1F6BE23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5C018B-F255-FD53-2F5B-3A2C6430401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C4E1FFA-B94C-4CDB-A485-79DF4A7A5B37}"/>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323543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A68AC-C58A-846E-7F46-638880890E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0D757F-ED03-5507-C87C-1D4AE90643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951EA6-7512-C325-406C-2DEFF3221B7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0378E57-4CF7-C85F-6E70-31D8A10988B4}"/>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21573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2924-4DE5-DB9A-502C-CD2C5F87BC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CE5034-74D5-8549-84B9-24C49876E6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1E3FC3-B083-70D9-3AB0-53D58AE402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AD32042-FA4B-3BEE-66AC-A5B970A1239D}"/>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29433651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50DEA-1BDB-A16C-45B1-0AC88190C4C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67B5BE-CD77-28ED-9AD6-E16A79DE42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CA1DCA-6470-56DA-C4DC-28B8BFD3F2B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4C01E22-D5AD-CE4C-3CED-5ACD260915D3}"/>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014335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C9DC-82CC-4670-22D4-5992593A56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74CF7F-E690-9508-0B5F-2BA0A5C064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DAB5C4-3DE9-E2AC-1B13-49A58BDA598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90CFDBC-951D-3FB9-8D9B-0680D6DEAB33}"/>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1170916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BE712-D320-AEAC-AE88-1D20EF6D62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127AAAF-A4A4-0842-375C-2CCF552A56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CC4585-06EE-4A93-5FD9-1010BAE00E6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32B67C-6D68-F307-323F-B762197FFD2F}"/>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68104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1.0 WAVEGUIDES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1.0 WAVEGUIDES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1.0. </a:t>
            </a:r>
            <a:r>
              <a:rPr lang="es-ES" sz="3200" b="1" dirty="0" err="1">
                <a:latin typeface="Lucida Sans"/>
                <a:cs typeface="Lucida Sans"/>
              </a:rPr>
              <a:t>Waveguides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b="1" i="1" spc="165" dirty="0" err="1">
                <a:latin typeface="Arial"/>
                <a:cs typeface="Arial"/>
              </a:rPr>
              <a:t>Student</a:t>
            </a:r>
            <a:r>
              <a:rPr lang="es-ES" b="1" i="1" spc="165" dirty="0">
                <a:latin typeface="Arial"/>
                <a:cs typeface="Arial"/>
              </a:rPr>
              <a:t>:</a:t>
            </a:r>
            <a:r>
              <a:rPr lang="es-ES" spc="165" dirty="0">
                <a:latin typeface="Arial"/>
                <a:cs typeface="Arial"/>
              </a:rPr>
              <a:t> Lidia Tórtola Juan y Raúl Salido Calatayud</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
        <p:nvSpPr>
          <p:cNvPr id="2" name="CuadroTexto 1">
            <a:extLst>
              <a:ext uri="{FF2B5EF4-FFF2-40B4-BE49-F238E27FC236}">
                <a16:creationId xmlns:a16="http://schemas.microsoft.com/office/drawing/2014/main" id="{B0D34455-D259-6803-6157-D4D57EF20FC9}"/>
              </a:ext>
            </a:extLst>
          </p:cNvPr>
          <p:cNvSpPr txBox="1"/>
          <p:nvPr/>
        </p:nvSpPr>
        <p:spPr>
          <a:xfrm>
            <a:off x="2667000" y="5911435"/>
            <a:ext cx="8305800" cy="369332"/>
          </a:xfrm>
          <a:prstGeom prst="rect">
            <a:avLst/>
          </a:prstGeom>
          <a:noFill/>
        </p:spPr>
        <p:txBody>
          <a:bodyPr wrap="square">
            <a:spAutoFit/>
          </a:bodyPr>
          <a:lstStyle/>
          <a:p>
            <a:r>
              <a:rPr lang="es-ES" b="1" i="1" dirty="0">
                <a:latin typeface="Arial" panose="020B0604020202020204" pitchFamily="34" charset="0"/>
                <a:cs typeface="Arial" panose="020B0604020202020204" pitchFamily="34" charset="0"/>
              </a:rPr>
              <a:t>URL:</a:t>
            </a:r>
            <a:r>
              <a:rPr lang="es-ES" dirty="0">
                <a:latin typeface="Arial" panose="020B0604020202020204" pitchFamily="34" charset="0"/>
                <a:cs typeface="Arial" panose="020B0604020202020204" pitchFamily="34" charset="0"/>
              </a:rPr>
              <a:t> https://github.com/cccanvas-upv/cifoin-lab1/tree/Lab1_Lidia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https://github.com/cccanvas-upv/cifoin-lab1.git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WAVEGUIDES_Student.ipynb</a:t>
            </a:r>
            <a:r>
              <a:rPr lang="en-US" kern="0" dirty="0">
                <a:solidFill>
                  <a:sysClr val="windowText" lastClr="000000"/>
                </a:solidFill>
              </a:rPr>
              <a:t> </a:t>
            </a:r>
          </a:p>
          <a:p>
            <a:pPr algn="just"/>
            <a:endParaRPr lang="en-US" sz="2000" b="1" i="1" u="sng"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902765"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47061" y="3983757"/>
            <a:ext cx="76200" cy="986155"/>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091131" y="4210910"/>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endParaRPr sz="1400">
              <a:latin typeface="Calibri"/>
              <a:cs typeface="Calibri"/>
            </a:endParaRP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endParaRPr sz="1400">
              <a:latin typeface="Calibri"/>
              <a:cs typeface="Calibri"/>
            </a:endParaRPr>
          </a:p>
        </p:txBody>
      </p:sp>
      <p:sp>
        <p:nvSpPr>
          <p:cNvPr id="99" name="object 64">
            <a:extLst>
              <a:ext uri="{FF2B5EF4-FFF2-40B4-BE49-F238E27FC236}">
                <a16:creationId xmlns:a16="http://schemas.microsoft.com/office/drawing/2014/main" id="{ABAAA5DD-56CA-BF94-2180-F0866658B6B3}"/>
              </a:ext>
            </a:extLst>
          </p:cNvPr>
          <p:cNvSpPr/>
          <p:nvPr/>
        </p:nvSpPr>
        <p:spPr>
          <a:xfrm>
            <a:off x="1984805"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504743"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1984805"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3983988"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391400" y="3422925"/>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8473440" y="3773445"/>
            <a:ext cx="1758314" cy="76200"/>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93378" y="3532730"/>
            <a:ext cx="733425" cy="240029"/>
          </a:xfrm>
          <a:prstGeom prst="rect">
            <a:avLst/>
          </a:prstGeom>
        </p:spPr>
        <p:txBody>
          <a:bodyPr vert="horz" wrap="square" lIns="0" tIns="13335" rIns="0" bIns="0" rtlCol="0">
            <a:spAutoFit/>
          </a:bodyPr>
          <a:lstStyle/>
          <a:p>
            <a:pPr>
              <a:lnSpc>
                <a:spcPct val="100000"/>
              </a:lnSpc>
              <a:spcBef>
                <a:spcPts val="105"/>
              </a:spcBef>
            </a:pPr>
            <a:r>
              <a:rPr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8473440" y="3983757"/>
            <a:ext cx="1758950" cy="986155"/>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10472623" y="4338253"/>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20" name="object 73">
            <a:extLst>
              <a:ext uri="{FF2B5EF4-FFF2-40B4-BE49-F238E27FC236}">
                <a16:creationId xmlns:a16="http://schemas.microsoft.com/office/drawing/2014/main" id="{C699977C-9138-F9B9-E43D-0CCB01AEB75F}"/>
              </a:ext>
            </a:extLst>
          </p:cNvPr>
          <p:cNvSpPr txBox="1"/>
          <p:nvPr/>
        </p:nvSpPr>
        <p:spPr>
          <a:xfrm>
            <a:off x="7391400" y="4690819"/>
            <a:ext cx="39061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lang="es-ES" sz="2350" dirty="0">
              <a:latin typeface="Times New Roman"/>
              <a:cs typeface="Times New Roman"/>
            </a:endParaRPr>
          </a:p>
          <a:p>
            <a:pPr marL="18415">
              <a:lnSpc>
                <a:spcPct val="100000"/>
              </a:lnSpc>
            </a:pPr>
            <a:r>
              <a:rPr lang="es-ES" sz="1600" b="1" spc="-10" dirty="0" err="1">
                <a:latin typeface="Calibri"/>
                <a:cs typeface="Calibri"/>
              </a:rPr>
              <a:t>Slab</a:t>
            </a:r>
            <a:endParaRPr sz="1600" dirty="0">
              <a:latin typeface="Calibri"/>
              <a:cs typeface="Calibri"/>
            </a:endParaRPr>
          </a:p>
        </p:txBody>
      </p:sp>
      <p:sp>
        <p:nvSpPr>
          <p:cNvPr id="112" name="object 62">
            <a:extLst>
              <a:ext uri="{FF2B5EF4-FFF2-40B4-BE49-F238E27FC236}">
                <a16:creationId xmlns:a16="http://schemas.microsoft.com/office/drawing/2014/main" id="{04561701-4B4F-F208-98F6-2DAB5C1138D3}"/>
              </a:ext>
            </a:extLst>
          </p:cNvPr>
          <p:cNvSpPr/>
          <p:nvPr/>
        </p:nvSpPr>
        <p:spPr>
          <a:xfrm>
            <a:off x="8575910" y="3994221"/>
            <a:ext cx="56259" cy="694989"/>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1" name="object 62">
            <a:extLst>
              <a:ext uri="{FF2B5EF4-FFF2-40B4-BE49-F238E27FC236}">
                <a16:creationId xmlns:a16="http://schemas.microsoft.com/office/drawing/2014/main" id="{CCA3B0D6-0C9E-B4A6-FA43-1AB5F1821674}"/>
              </a:ext>
            </a:extLst>
          </p:cNvPr>
          <p:cNvSpPr/>
          <p:nvPr/>
        </p:nvSpPr>
        <p:spPr>
          <a:xfrm>
            <a:off x="8233207" y="4689210"/>
            <a:ext cx="55008" cy="613272"/>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13" name="object 63">
            <a:extLst>
              <a:ext uri="{FF2B5EF4-FFF2-40B4-BE49-F238E27FC236}">
                <a16:creationId xmlns:a16="http://schemas.microsoft.com/office/drawing/2014/main" id="{6394166D-0522-24AD-E666-39FE8A3FDC24}"/>
              </a:ext>
            </a:extLst>
          </p:cNvPr>
          <p:cNvSpPr txBox="1"/>
          <p:nvPr/>
        </p:nvSpPr>
        <p:spPr>
          <a:xfrm>
            <a:off x="8351994" y="4887127"/>
            <a:ext cx="674053" cy="228909"/>
          </a:xfrm>
          <a:prstGeom prst="rect">
            <a:avLst/>
          </a:prstGeom>
        </p:spPr>
        <p:txBody>
          <a:bodyPr vert="horz" wrap="square" lIns="0" tIns="13335" rIns="0" bIns="0" rtlCol="0">
            <a:spAutoFit/>
          </a:bodyPr>
          <a:lstStyle/>
          <a:p>
            <a:pPr marR="3175">
              <a:lnSpc>
                <a:spcPct val="100000"/>
              </a:lnSpc>
              <a:spcBef>
                <a:spcPts val="105"/>
              </a:spcBef>
            </a:pPr>
            <a:r>
              <a:rPr lang="es-ES" sz="1400" dirty="0" err="1">
                <a:latin typeface="Calibri"/>
                <a:cs typeface="Calibri"/>
              </a:rPr>
              <a:t>h_slab</a:t>
            </a:r>
            <a:endParaRPr sz="1400" dirty="0">
              <a:latin typeface="Calibri"/>
              <a:cs typeface="Calibri"/>
            </a:endParaRPr>
          </a:p>
        </p:txBody>
      </p:sp>
      <p:sp>
        <p:nvSpPr>
          <p:cNvPr id="122" name="object 63">
            <a:extLst>
              <a:ext uri="{FF2B5EF4-FFF2-40B4-BE49-F238E27FC236}">
                <a16:creationId xmlns:a16="http://schemas.microsoft.com/office/drawing/2014/main" id="{B589EB7D-B26E-4239-A5C2-F96DBBE82162}"/>
              </a:ext>
            </a:extLst>
          </p:cNvPr>
          <p:cNvSpPr txBox="1"/>
          <p:nvPr/>
        </p:nvSpPr>
        <p:spPr>
          <a:xfrm>
            <a:off x="8706378" y="3990085"/>
            <a:ext cx="1380175" cy="228909"/>
          </a:xfrm>
          <a:prstGeom prst="rect">
            <a:avLst/>
          </a:prstGeom>
        </p:spPr>
        <p:txBody>
          <a:bodyPr vert="horz" wrap="square" lIns="0" tIns="13335" rIns="0" bIns="0" rtlCol="0">
            <a:spAutoFit/>
          </a:bodyPr>
          <a:lstStyle/>
          <a:p>
            <a:pPr marR="3175">
              <a:lnSpc>
                <a:spcPct val="100000"/>
              </a:lnSpc>
              <a:spcBef>
                <a:spcPts val="105"/>
              </a:spcBef>
            </a:pPr>
            <a:r>
              <a:rPr lang="es-ES" sz="1400" spc="-10" dirty="0" err="1">
                <a:latin typeface="Calibri"/>
                <a:cs typeface="Calibri"/>
              </a:rPr>
              <a:t>h_core</a:t>
            </a:r>
            <a:r>
              <a:rPr lang="es-ES" sz="1400" spc="-10" dirty="0">
                <a:latin typeface="Calibri"/>
                <a:cs typeface="Calibri"/>
              </a:rPr>
              <a:t> </a:t>
            </a:r>
            <a:endParaRPr sz="14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9306491" y="5257071"/>
            <a:ext cx="1980542" cy="369332"/>
          </a:xfrm>
          <a:prstGeom prst="rect">
            <a:avLst/>
          </a:prstGeom>
          <a:noFill/>
        </p:spPr>
        <p:txBody>
          <a:bodyPr wrap="none" rtlCol="0">
            <a:spAutoFit/>
          </a:bodyPr>
          <a:lstStyle/>
          <a:p>
            <a:pPr algn="ctr"/>
            <a:r>
              <a:rPr lang="en-US" b="1" dirty="0"/>
              <a:t>shallow</a:t>
            </a:r>
            <a:r>
              <a:rPr lang="en-US" dirty="0"/>
              <a:t> waveguide</a:t>
            </a:r>
          </a:p>
        </p:txBody>
      </p:sp>
      <p:sp>
        <p:nvSpPr>
          <p:cNvPr id="8" name="CuadroTexto 7">
            <a:extLst>
              <a:ext uri="{FF2B5EF4-FFF2-40B4-BE49-F238E27FC236}">
                <a16:creationId xmlns:a16="http://schemas.microsoft.com/office/drawing/2014/main" id="{7336B5D8-2D70-3E7A-336D-AF55EC49DEB8}"/>
              </a:ext>
            </a:extLst>
          </p:cNvPr>
          <p:cNvSpPr txBox="1"/>
          <p:nvPr/>
        </p:nvSpPr>
        <p:spPr>
          <a:xfrm>
            <a:off x="2969899" y="5257071"/>
            <a:ext cx="2157554" cy="369332"/>
          </a:xfrm>
          <a:prstGeom prst="rect">
            <a:avLst/>
          </a:prstGeom>
          <a:noFill/>
        </p:spPr>
        <p:txBody>
          <a:bodyPr wrap="square">
            <a:spAutoFit/>
          </a:bodyPr>
          <a:lstStyle/>
          <a:p>
            <a:pPr algn="ctr"/>
            <a:r>
              <a:rPr lang="en-US" b="1" dirty="0"/>
              <a:t>deep</a:t>
            </a:r>
            <a:r>
              <a:rPr lang="en-US" dirty="0"/>
              <a:t> waveguide</a:t>
            </a:r>
          </a:p>
        </p:txBody>
      </p:sp>
    </p:spTree>
    <p:extLst>
      <p:ext uri="{BB962C8B-B14F-4D97-AF65-F5344CB8AC3E}">
        <p14:creationId xmlns:p14="http://schemas.microsoft.com/office/powerpoint/2010/main" val="473922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5021" y="611673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a:xfrm>
            <a:off x="959615" y="6217737"/>
            <a:ext cx="2743200" cy="184666"/>
          </a:xfrm>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838200"/>
            <a:ext cx="11048999" cy="54153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INSTRUCTOR:</a:t>
            </a:r>
          </a:p>
          <a:p>
            <a:pPr marL="342900" indent="-342900" algn="just">
              <a:buFont typeface="Arial" panose="020B0604020202020204" pitchFamily="34" charset="0"/>
              <a:buChar char="•"/>
            </a:pPr>
            <a:r>
              <a:rPr lang="en-US" dirty="0"/>
              <a:t>Present Python and </a:t>
            </a:r>
            <a:r>
              <a:rPr lang="en-US" dirty="0" err="1"/>
              <a:t>GDSFactory</a:t>
            </a:r>
            <a:r>
              <a:rPr lang="en-US" dirty="0"/>
              <a:t>: materials, output, results.</a:t>
            </a:r>
          </a:p>
          <a:p>
            <a:pPr marL="342900" indent="-342900" algn="just">
              <a:buFont typeface="Arial" panose="020B0604020202020204" pitchFamily="34" charset="0"/>
              <a:buChar char="•"/>
            </a:pPr>
            <a:r>
              <a:rPr lang="en-US" dirty="0"/>
              <a:t>Explain how to run a simulation for a particular cross-section. </a:t>
            </a:r>
          </a:p>
          <a:p>
            <a:pPr marL="342900" indent="-342900" algn="just">
              <a:buFont typeface="Arial" panose="020B0604020202020204" pitchFamily="34" charset="0"/>
              <a:buChar char="•"/>
            </a:pPr>
            <a:r>
              <a:rPr lang="en-US" dirty="0"/>
              <a:t>Showcase how to change between shallow and deep waveguide.</a:t>
            </a:r>
          </a:p>
          <a:p>
            <a:pPr marL="342900" indent="-342900" algn="just">
              <a:buFont typeface="Arial" panose="020B0604020202020204" pitchFamily="34" charset="0"/>
              <a:buChar char="•"/>
            </a:pPr>
            <a:r>
              <a:rPr lang="en-US" dirty="0"/>
              <a:t>Describe how to change the wavelength and width for the waveguide analysis.</a:t>
            </a:r>
          </a:p>
          <a:p>
            <a:pPr marL="342900" indent="-342900" algn="just">
              <a:buFont typeface="Arial" panose="020B0604020202020204" pitchFamily="34" charset="0"/>
              <a:buChar char="•"/>
            </a:pPr>
            <a:r>
              <a:rPr lang="en-US" dirty="0"/>
              <a:t>Describe the outputs.</a:t>
            </a:r>
          </a:p>
          <a:p>
            <a:pPr marL="0" indent="0" algn="just">
              <a:buNone/>
            </a:pPr>
            <a:r>
              <a:rPr lang="en-US" b="1" dirty="0"/>
              <a:t>ALL EXAMPLE #1: </a:t>
            </a:r>
            <a:r>
              <a:rPr lang="en-US" dirty="0"/>
              <a:t>waveguide width 1.2 µm, deep </a:t>
            </a:r>
            <a:r>
              <a:rPr lang="en-US" dirty="0" err="1"/>
              <a:t>wvg</a:t>
            </a:r>
            <a:r>
              <a:rPr lang="en-US" dirty="0"/>
              <a:t>, wavelength start and end same 1.55 µm </a:t>
            </a:r>
            <a:r>
              <a:rPr lang="en-US" dirty="0">
                <a:sym typeface="Wingdings" pitchFamily="2" charset="2"/>
              </a:rPr>
              <a:t> all ”Run”</a:t>
            </a:r>
            <a:endParaRPr lang="en-US" b="1" i="1" dirty="0"/>
          </a:p>
        </p:txBody>
      </p:sp>
      <p:pic>
        <p:nvPicPr>
          <p:cNvPr id="5" name="Imagen 4">
            <a:extLst>
              <a:ext uri="{FF2B5EF4-FFF2-40B4-BE49-F238E27FC236}">
                <a16:creationId xmlns:a16="http://schemas.microsoft.com/office/drawing/2014/main" id="{DCA5AF43-2137-5CEE-31D1-8A5CB647D539}"/>
              </a:ext>
            </a:extLst>
          </p:cNvPr>
          <p:cNvPicPr>
            <a:picLocks noChangeAspect="1"/>
          </p:cNvPicPr>
          <p:nvPr/>
        </p:nvPicPr>
        <p:blipFill>
          <a:blip r:embed="rId5"/>
          <a:stretch>
            <a:fillRect/>
          </a:stretch>
        </p:blipFill>
        <p:spPr>
          <a:xfrm>
            <a:off x="1520274" y="2940769"/>
            <a:ext cx="4293337" cy="3094716"/>
          </a:xfrm>
          <a:prstGeom prst="rect">
            <a:avLst/>
          </a:prstGeom>
        </p:spPr>
      </p:pic>
      <p:sp>
        <p:nvSpPr>
          <p:cNvPr id="6" name="Rectángulo 5">
            <a:extLst>
              <a:ext uri="{FF2B5EF4-FFF2-40B4-BE49-F238E27FC236}">
                <a16:creationId xmlns:a16="http://schemas.microsoft.com/office/drawing/2014/main" id="{06B91297-9903-2C8D-4311-B890347C6F77}"/>
              </a:ext>
            </a:extLst>
          </p:cNvPr>
          <p:cNvSpPr/>
          <p:nvPr/>
        </p:nvSpPr>
        <p:spPr>
          <a:xfrm>
            <a:off x="1444434" y="2918998"/>
            <a:ext cx="9131818" cy="31565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1B8CA093-D509-5308-6726-7C5D5C86472E}"/>
              </a:ext>
            </a:extLst>
          </p:cNvPr>
          <p:cNvPicPr>
            <a:picLocks noChangeAspect="1"/>
          </p:cNvPicPr>
          <p:nvPr/>
        </p:nvPicPr>
        <p:blipFill>
          <a:blip r:embed="rId6"/>
          <a:stretch>
            <a:fillRect/>
          </a:stretch>
        </p:blipFill>
        <p:spPr>
          <a:xfrm>
            <a:off x="5898290" y="2953210"/>
            <a:ext cx="4615055" cy="2997449"/>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2B7B6-A566-4CFA-7B1E-2ED1DC7A5AD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475D1BE-1157-DD9D-E53F-6F8BFE2B9C0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Effective index of a waveguide</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F7990CA3-9157-2A69-7E45-6C114B76F2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95021" y="6116737"/>
            <a:ext cx="6409575" cy="363174"/>
          </a:xfrm>
          <a:prstGeom prst="rect">
            <a:avLst/>
          </a:prstGeom>
        </p:spPr>
      </p:pic>
      <p:sp>
        <p:nvSpPr>
          <p:cNvPr id="84" name="Marcador de número de diapositiva 83">
            <a:extLst>
              <a:ext uri="{FF2B5EF4-FFF2-40B4-BE49-F238E27FC236}">
                <a16:creationId xmlns:a16="http://schemas.microsoft.com/office/drawing/2014/main" id="{36D1D36A-6C85-9626-08A2-0B4613145CB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6771AC72-6291-53C1-E2F0-B17FE1760113}"/>
              </a:ext>
            </a:extLst>
          </p:cNvPr>
          <p:cNvSpPr>
            <a:spLocks noGrp="1"/>
          </p:cNvSpPr>
          <p:nvPr>
            <p:ph type="ftr" sz="quarter" idx="5"/>
          </p:nvPr>
        </p:nvSpPr>
        <p:spPr>
          <a:xfrm>
            <a:off x="959615" y="6217737"/>
            <a:ext cx="2743200" cy="184666"/>
          </a:xfrm>
        </p:spPr>
        <p:txBody>
          <a:bodyPr/>
          <a:lstStyle/>
          <a:p>
            <a:pPr marL="12700">
              <a:spcBef>
                <a:spcPts val="15"/>
              </a:spcBef>
            </a:pPr>
            <a:r>
              <a:rPr lang="es-ES" spc="-5"/>
              <a:t>LAB 1.0 WAVEGUIDES</a:t>
            </a:r>
            <a:endParaRPr lang="es-ES" spc="-5" dirty="0"/>
          </a:p>
        </p:txBody>
      </p:sp>
      <p:sp>
        <p:nvSpPr>
          <p:cNvPr id="4" name="Marcador de texto 2">
            <a:extLst>
              <a:ext uri="{FF2B5EF4-FFF2-40B4-BE49-F238E27FC236}">
                <a16:creationId xmlns:a16="http://schemas.microsoft.com/office/drawing/2014/main" id="{BD0CF5DD-7365-A253-6182-0B54B17F4D11}"/>
              </a:ext>
            </a:extLst>
          </p:cNvPr>
          <p:cNvSpPr txBox="1">
            <a:spLocks/>
          </p:cNvSpPr>
          <p:nvPr/>
        </p:nvSpPr>
        <p:spPr>
          <a:xfrm>
            <a:off x="608012" y="838200"/>
            <a:ext cx="11048999" cy="54153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INSTRUCTOR:</a:t>
            </a:r>
          </a:p>
          <a:p>
            <a:pPr marL="342900" indent="-342900" algn="just">
              <a:buFont typeface="Arial" panose="020B0604020202020204" pitchFamily="34" charset="0"/>
              <a:buChar char="•"/>
            </a:pPr>
            <a:r>
              <a:rPr lang="en-US" dirty="0"/>
              <a:t>Present Python and </a:t>
            </a:r>
            <a:r>
              <a:rPr lang="en-US" dirty="0" err="1"/>
              <a:t>GDSFactory</a:t>
            </a:r>
            <a:r>
              <a:rPr lang="en-US" dirty="0"/>
              <a:t>: materials, output, results.</a:t>
            </a:r>
          </a:p>
          <a:p>
            <a:pPr marL="342900" indent="-342900" algn="just">
              <a:buFont typeface="Arial" panose="020B0604020202020204" pitchFamily="34" charset="0"/>
              <a:buChar char="•"/>
            </a:pPr>
            <a:r>
              <a:rPr lang="en-US" dirty="0"/>
              <a:t>Explain how to run a simulation for a particular cross-section. </a:t>
            </a:r>
          </a:p>
          <a:p>
            <a:pPr marL="342900" indent="-342900" algn="just">
              <a:buFont typeface="Arial" panose="020B0604020202020204" pitchFamily="34" charset="0"/>
              <a:buChar char="•"/>
            </a:pPr>
            <a:r>
              <a:rPr lang="en-US" dirty="0"/>
              <a:t>Showcase how to change between shallow and deep waveguide.</a:t>
            </a:r>
          </a:p>
          <a:p>
            <a:pPr marL="342900" indent="-342900" algn="just">
              <a:buFont typeface="Arial" panose="020B0604020202020204" pitchFamily="34" charset="0"/>
              <a:buChar char="•"/>
            </a:pPr>
            <a:r>
              <a:rPr lang="en-US" dirty="0"/>
              <a:t>Describe how to change the wavelength and width for the waveguide analysis.</a:t>
            </a:r>
          </a:p>
          <a:p>
            <a:pPr marL="342900" indent="-342900" algn="just">
              <a:buFont typeface="Arial" panose="020B0604020202020204" pitchFamily="34" charset="0"/>
              <a:buChar char="•"/>
            </a:pPr>
            <a:r>
              <a:rPr lang="en-US" dirty="0"/>
              <a:t>Describe the outputs.</a:t>
            </a:r>
          </a:p>
          <a:p>
            <a:pPr marL="0" indent="0" algn="just">
              <a:buNone/>
            </a:pPr>
            <a:r>
              <a:rPr lang="en-US" b="1" dirty="0"/>
              <a:t>ALL EXAMPLE #1: </a:t>
            </a:r>
            <a:r>
              <a:rPr lang="en-US" dirty="0"/>
              <a:t>waveguide width 1.2 µm, deep </a:t>
            </a:r>
            <a:r>
              <a:rPr lang="en-US" dirty="0" err="1"/>
              <a:t>wvg</a:t>
            </a:r>
            <a:r>
              <a:rPr lang="en-US" dirty="0"/>
              <a:t>, wavelength start and end same 1.55 µm </a:t>
            </a:r>
            <a:r>
              <a:rPr lang="en-US" dirty="0">
                <a:sym typeface="Wingdings" pitchFamily="2" charset="2"/>
              </a:rPr>
              <a:t> all ”Run”</a:t>
            </a:r>
            <a:endParaRPr lang="en-US" b="1" i="1" dirty="0"/>
          </a:p>
        </p:txBody>
      </p:sp>
      <p:sp>
        <p:nvSpPr>
          <p:cNvPr id="2" name="CuadroTexto 1">
            <a:extLst>
              <a:ext uri="{FF2B5EF4-FFF2-40B4-BE49-F238E27FC236}">
                <a16:creationId xmlns:a16="http://schemas.microsoft.com/office/drawing/2014/main" id="{C0A9DE33-307D-ACAD-7B31-E6BC0F4DF45F}"/>
              </a:ext>
            </a:extLst>
          </p:cNvPr>
          <p:cNvSpPr txBox="1"/>
          <p:nvPr/>
        </p:nvSpPr>
        <p:spPr>
          <a:xfrm>
            <a:off x="572215" y="3044746"/>
            <a:ext cx="11047570" cy="2862322"/>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realización</a:t>
            </a:r>
            <a:r>
              <a:rPr lang="en-US" sz="1200" dirty="0">
                <a:latin typeface="Arial" panose="020B0604020202020204" pitchFamily="34" charset="0"/>
                <a:cs typeface="Arial" panose="020B0604020202020204" pitchFamily="34" charset="0"/>
              </a:rPr>
              <a:t> del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usado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siguientes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materiales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dióxido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a:t>
            </a:r>
          </a:p>
          <a:p>
            <a:pPr algn="just"/>
            <a:r>
              <a:rPr lang="en-US" sz="1200" dirty="0">
                <a:latin typeface="Arial" panose="020B0604020202020204" pitchFamily="34" charset="0"/>
                <a:cs typeface="Arial" panose="020B0604020202020204" pitchFamily="34" charset="0"/>
              </a:rPr>
              <a:t>En primer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cabo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éxito</a:t>
            </a:r>
            <a:r>
              <a:rPr lang="en-US" sz="1200" dirty="0">
                <a:latin typeface="Arial" panose="020B0604020202020204" pitchFamily="34" charset="0"/>
                <a:cs typeface="Arial" panose="020B0604020202020204" pitchFamily="34" charset="0"/>
              </a:rPr>
              <a:t> de un corte transversal, se </a:t>
            </a:r>
            <a:r>
              <a:rPr lang="en-US" sz="1200" dirty="0" err="1">
                <a:latin typeface="Arial" panose="020B0604020202020204" pitchFamily="34" charset="0"/>
                <a:cs typeface="Arial" panose="020B0604020202020204" pitchFamily="34" charset="0"/>
              </a:rPr>
              <a:t>deben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definir</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del material a </a:t>
            </a:r>
            <a:r>
              <a:rPr lang="en-US" sz="1200" dirty="0" err="1">
                <a:latin typeface="Arial" panose="020B0604020202020204" pitchFamily="34" charset="0"/>
                <a:cs typeface="Arial" panose="020B0604020202020204" pitchFamily="34" charset="0"/>
              </a:rPr>
              <a:t>utilizar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cantidad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queramos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calcular</a:t>
            </a:r>
            <a:r>
              <a:rPr lang="en-US" sz="1200" dirty="0">
                <a:latin typeface="Arial" panose="020B0604020202020204" pitchFamily="34" charset="0"/>
                <a:cs typeface="Arial" panose="020B0604020202020204" pitchFamily="34" charset="0"/>
              </a:rPr>
              <a:t>, y la </a:t>
            </a:r>
            <a:r>
              <a:rPr lang="en-US" sz="1200" dirty="0" err="1">
                <a:latin typeface="Arial" panose="020B0604020202020204" pitchFamily="34" charset="0"/>
                <a:cs typeface="Arial" panose="020B0604020202020204" pitchFamily="34" charset="0"/>
              </a:rPr>
              <a:t>resolución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mallado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Además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importante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entre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existe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slab,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las deep </a:t>
            </a:r>
            <a:r>
              <a:rPr lang="en-US" sz="1200" dirty="0" err="1">
                <a:latin typeface="Arial" panose="020B0604020202020204" pitchFamily="34" charset="0"/>
                <a:cs typeface="Arial" panose="020B0604020202020204" pitchFamily="34" charset="0"/>
              </a:rPr>
              <a:t>dicha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altura</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nula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dimensiones</a:t>
            </a:r>
            <a:r>
              <a:rPr lang="en-US" sz="1200" dirty="0">
                <a:latin typeface="Arial" panose="020B0604020202020204" pitchFamily="34" charset="0"/>
                <a:cs typeface="Arial" panose="020B0604020202020204" pitchFamily="34" charset="0"/>
              </a:rPr>
              <a:t> del clad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dejado</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valores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defecto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puesto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presentan</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buen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fuera </a:t>
            </a:r>
            <a:r>
              <a:rPr lang="en-US" sz="1200" dirty="0" err="1">
                <a:latin typeface="Arial" panose="020B0604020202020204" pitchFamily="34" charset="0"/>
                <a:cs typeface="Arial" panose="020B0604020202020204" pitchFamily="34" charset="0"/>
              </a:rPr>
              <a:t>más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sí</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sería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modificar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clad.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Finalmente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definido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de cuatro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y, de </a:t>
            </a:r>
            <a:r>
              <a:rPr lang="en-US" sz="1200" dirty="0" err="1">
                <a:latin typeface="Arial" panose="020B0604020202020204" pitchFamily="34" charset="0"/>
                <a:cs typeface="Arial" panose="020B0604020202020204" pitchFamily="34" charset="0"/>
              </a:rPr>
              <a:t>esos</a:t>
            </a:r>
            <a:r>
              <a:rPr lang="en-US" sz="1200" dirty="0">
                <a:latin typeface="Arial" panose="020B0604020202020204" pitchFamily="34" charset="0"/>
                <a:cs typeface="Arial" panose="020B0604020202020204" pitchFamily="34" charset="0"/>
              </a:rPr>
              <a:t> cuatro, solo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son TE0 y TM0. En </a:t>
            </a:r>
            <a:r>
              <a:rPr lang="en-US" sz="1200" dirty="0" err="1">
                <a:latin typeface="Arial" panose="020B0604020202020204" pitchFamily="34" charset="0"/>
                <a:cs typeface="Arial" panose="020B0604020202020204" pitchFamily="34" charset="0"/>
              </a:rPr>
              <a:t>cambio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no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encuentran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1661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0471-E512-5565-2D88-AFBC3C1FEF4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5319B52-BE7A-5EDF-8847-CE583D00CA5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8B7A066D-CBDC-5798-F1F7-24E0CB1B0C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746A4DE-8EDB-DF1F-F14B-0A1D45EB6811}"/>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53B11AF-D881-E24A-11EA-EE0F800E3D0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0065779-FA07-79A3-959D-85192B0F35AB}"/>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DD143A1E-54DE-4E0B-C607-E875A8C41D19}"/>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DC9140D-3EAB-09C8-E28A-4AFA565F7F80}"/>
              </a:ext>
            </a:extLst>
          </p:cNvPr>
          <p:cNvSpPr txBox="1"/>
          <p:nvPr/>
        </p:nvSpPr>
        <p:spPr>
          <a:xfrm>
            <a:off x="609441" y="1069729"/>
            <a:ext cx="1447959" cy="369332"/>
          </a:xfrm>
          <a:prstGeom prst="rect">
            <a:avLst/>
          </a:prstGeom>
          <a:noFill/>
        </p:spPr>
        <p:txBody>
          <a:bodyPr wrap="square">
            <a:spAutoFit/>
          </a:bodyPr>
          <a:lstStyle/>
          <a:p>
            <a:r>
              <a:rPr lang="en-US" dirty="0"/>
              <a:t>slab = 150nm</a:t>
            </a:r>
            <a:endParaRPr lang="es-ES" dirty="0"/>
          </a:p>
        </p:txBody>
      </p:sp>
      <p:pic>
        <p:nvPicPr>
          <p:cNvPr id="6" name="Imagen 5" descr="Gráfico, Histograma&#10;&#10;El contenido generado por IA puede ser incorrecto.">
            <a:extLst>
              <a:ext uri="{FF2B5EF4-FFF2-40B4-BE49-F238E27FC236}">
                <a16:creationId xmlns:a16="http://schemas.microsoft.com/office/drawing/2014/main" id="{8CF22875-A714-89D0-83B7-0730E24CDFD7}"/>
              </a:ext>
            </a:extLst>
          </p:cNvPr>
          <p:cNvPicPr>
            <a:picLocks noChangeAspect="1"/>
          </p:cNvPicPr>
          <p:nvPr/>
        </p:nvPicPr>
        <p:blipFill>
          <a:blip r:embed="rId5"/>
          <a:stretch>
            <a:fillRect/>
          </a:stretch>
        </p:blipFill>
        <p:spPr>
          <a:xfrm>
            <a:off x="1159842" y="1558564"/>
            <a:ext cx="4231768" cy="3075628"/>
          </a:xfrm>
          <a:prstGeom prst="rect">
            <a:avLst/>
          </a:prstGeom>
        </p:spPr>
      </p:pic>
      <p:pic>
        <p:nvPicPr>
          <p:cNvPr id="11" name="Imagen 10" descr="Gráfico&#10;&#10;El contenido generado por IA puede ser incorrecto.">
            <a:extLst>
              <a:ext uri="{FF2B5EF4-FFF2-40B4-BE49-F238E27FC236}">
                <a16:creationId xmlns:a16="http://schemas.microsoft.com/office/drawing/2014/main" id="{D2D86B35-4FF6-F1E5-2DDC-A2A060CB8490}"/>
              </a:ext>
            </a:extLst>
          </p:cNvPr>
          <p:cNvPicPr>
            <a:picLocks noChangeAspect="1"/>
          </p:cNvPicPr>
          <p:nvPr/>
        </p:nvPicPr>
        <p:blipFill>
          <a:blip r:embed="rId6"/>
          <a:stretch>
            <a:fillRect/>
          </a:stretch>
        </p:blipFill>
        <p:spPr>
          <a:xfrm>
            <a:off x="6975997" y="1527005"/>
            <a:ext cx="4377803" cy="3172763"/>
          </a:xfrm>
          <a:prstGeom prst="rect">
            <a:avLst/>
          </a:prstGeom>
        </p:spPr>
      </p:pic>
    </p:spTree>
    <p:extLst>
      <p:ext uri="{BB962C8B-B14F-4D97-AF65-F5344CB8AC3E}">
        <p14:creationId xmlns:p14="http://schemas.microsoft.com/office/powerpoint/2010/main" val="652472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98E2D-B48E-35D9-2E2C-A2E78BB1307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2302DC3-538E-75E6-5809-894964AA8BB9}"/>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817A9C1B-6F8B-4681-FEB7-B0716447D1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CCE47A5-1643-ECCD-636A-F95124617FF3}"/>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3C313A28-AB3E-563E-986F-A82DC6DA49D1}"/>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41E9D699-58A5-0BFF-8FF3-859F008773D7}"/>
              </a:ext>
            </a:extLst>
          </p:cNvPr>
          <p:cNvSpPr txBox="1"/>
          <p:nvPr/>
        </p:nvSpPr>
        <p:spPr>
          <a:xfrm>
            <a:off x="496014" y="2441229"/>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wavelength, comparison between different waveguide cross-sections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representadas</a:t>
            </a:r>
            <a:r>
              <a:rPr lang="en-US" sz="1200" dirty="0">
                <a:latin typeface="Arial" panose="020B0604020202020204" pitchFamily="34" charset="0"/>
                <a:cs typeface="Arial" panose="020B0604020202020204" pitchFamily="34" charset="0"/>
              </a:rPr>
              <a:t> las cross sections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y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respectivamente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como en la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su slab y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mismo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La diferencia principal entre los dos tipos de guía es que la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tiene una capa de </a:t>
            </a:r>
            <a:r>
              <a:rPr lang="es-ES" sz="1200" i="1"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(material de núcleo) fuera del </a:t>
            </a:r>
            <a:r>
              <a:rPr lang="es-ES" sz="1200" dirty="0" err="1">
                <a:latin typeface="Arial" panose="020B0604020202020204" pitchFamily="34" charset="0"/>
                <a:cs typeface="Arial" panose="020B0604020202020204" pitchFamily="34" charset="0"/>
              </a:rPr>
              <a:t>rib</a:t>
            </a:r>
            <a:r>
              <a:rPr lang="es-ES" sz="1200" dirty="0">
                <a:latin typeface="Arial" panose="020B0604020202020204" pitchFamily="34" charset="0"/>
                <a:cs typeface="Arial" panose="020B0604020202020204" pitchFamily="34" charset="0"/>
              </a:rPr>
              <a:t>, mientras que en la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esa zona está completamente rodeada por la cubierta (</a:t>
            </a:r>
            <a:r>
              <a:rPr lang="es-ES" sz="1200" dirty="0" err="1">
                <a:latin typeface="Arial" panose="020B0604020202020204" pitchFamily="34" charset="0"/>
                <a:cs typeface="Arial" panose="020B0604020202020204" pitchFamily="34" charset="0"/>
              </a:rPr>
              <a:t>SiO</a:t>
            </a:r>
            <a:r>
              <a:rPr lang="es-ES" sz="1200" dirty="0">
                <a:latin typeface="Arial" panose="020B0604020202020204" pitchFamily="34" charset="0"/>
                <a:cs typeface="Arial" panose="020B0604020202020204" pitchFamily="34" charset="0"/>
              </a:rPr>
              <a:t>₂).</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Debido a esto, en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el modo está más confinado en material de alto índice, ya que parte del campo también se propaga por 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Como el índice efectivo depende del material que “ve” el modo, al haber mayor fracción de campo en el núcleo, su valor es más alto.</a:t>
            </a:r>
          </a:p>
          <a:p>
            <a:r>
              <a:rPr lang="es-ES" sz="1200" dirty="0">
                <a:latin typeface="Arial" panose="020B0604020202020204" pitchFamily="34" charset="0"/>
                <a:cs typeface="Arial" panose="020B0604020202020204" pitchFamily="34" charset="0"/>
              </a:rPr>
              <a:t>En cambio, en la guía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el campo se extiende más hacia la cubierta (índice menor), lo que reduce el confinamiento y hace que el índice efectivo sea más bajo.</a:t>
            </a:r>
          </a:p>
        </p:txBody>
      </p:sp>
      <p:sp>
        <p:nvSpPr>
          <p:cNvPr id="9" name="CuadroTexto 8">
            <a:extLst>
              <a:ext uri="{FF2B5EF4-FFF2-40B4-BE49-F238E27FC236}">
                <a16:creationId xmlns:a16="http://schemas.microsoft.com/office/drawing/2014/main" id="{B4201CD7-8169-0945-0077-2947BAEE7DF7}"/>
              </a:ext>
            </a:extLst>
          </p:cNvPr>
          <p:cNvSpPr txBox="1"/>
          <p:nvPr/>
        </p:nvSpPr>
        <p:spPr>
          <a:xfrm>
            <a:off x="609441" y="1069729"/>
            <a:ext cx="1447959" cy="369332"/>
          </a:xfrm>
          <a:prstGeom prst="rect">
            <a:avLst/>
          </a:prstGeom>
          <a:noFill/>
        </p:spPr>
        <p:txBody>
          <a:bodyPr wrap="square">
            <a:spAutoFit/>
          </a:bodyPr>
          <a:lstStyle/>
          <a:p>
            <a:r>
              <a:rPr lang="en-US" dirty="0"/>
              <a:t>slab = 150nm</a:t>
            </a:r>
            <a:endParaRPr lang="es-ES" dirty="0"/>
          </a:p>
        </p:txBody>
      </p:sp>
    </p:spTree>
    <p:extLst>
      <p:ext uri="{BB962C8B-B14F-4D97-AF65-F5344CB8AC3E}">
        <p14:creationId xmlns:p14="http://schemas.microsoft.com/office/powerpoint/2010/main" val="113065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88F19863-7091-B8CA-F848-DBEA5CEEA027}"/>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21F754A5-65BC-14A3-5F55-75716FFA9027}"/>
              </a:ext>
            </a:extLst>
          </p:cNvPr>
          <p:cNvSpPr/>
          <p:nvPr/>
        </p:nvSpPr>
        <p:spPr>
          <a:xfrm>
            <a:off x="64768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BD4C233-B5D9-B6AA-93A8-CF2F130CFF9C}"/>
              </a:ext>
            </a:extLst>
          </p:cNvPr>
          <p:cNvSpPr txBox="1"/>
          <p:nvPr/>
        </p:nvSpPr>
        <p:spPr>
          <a:xfrm>
            <a:off x="542887" y="504579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0" name="Imagen 9" descr="Gráfico&#10;&#10;El contenido generado por IA puede ser incorrecto.">
            <a:extLst>
              <a:ext uri="{FF2B5EF4-FFF2-40B4-BE49-F238E27FC236}">
                <a16:creationId xmlns:a16="http://schemas.microsoft.com/office/drawing/2014/main" id="{0E2661E7-F8B1-FC85-20AA-858D01336D29}"/>
              </a:ext>
            </a:extLst>
          </p:cNvPr>
          <p:cNvPicPr>
            <a:picLocks noChangeAspect="1"/>
          </p:cNvPicPr>
          <p:nvPr/>
        </p:nvPicPr>
        <p:blipFill>
          <a:blip r:embed="rId5"/>
          <a:srcRect b="2187"/>
          <a:stretch>
            <a:fillRect/>
          </a:stretch>
        </p:blipFill>
        <p:spPr>
          <a:xfrm>
            <a:off x="6550910" y="1508141"/>
            <a:ext cx="5258502" cy="3010670"/>
          </a:xfrm>
          <a:prstGeom prst="rect">
            <a:avLst/>
          </a:prstGeom>
        </p:spPr>
      </p:pic>
      <p:pic>
        <p:nvPicPr>
          <p:cNvPr id="12" name="Imagen 11" descr="Gráfico&#10;&#10;El contenido generado por IA puede ser incorrecto.">
            <a:extLst>
              <a:ext uri="{FF2B5EF4-FFF2-40B4-BE49-F238E27FC236}">
                <a16:creationId xmlns:a16="http://schemas.microsoft.com/office/drawing/2014/main" id="{D207EA98-5B09-BC58-0A08-FC2F68FB5952}"/>
              </a:ext>
            </a:extLst>
          </p:cNvPr>
          <p:cNvPicPr>
            <a:picLocks noChangeAspect="1"/>
          </p:cNvPicPr>
          <p:nvPr/>
        </p:nvPicPr>
        <p:blipFill>
          <a:blip r:embed="rId6"/>
          <a:stretch>
            <a:fillRect/>
          </a:stretch>
        </p:blipFill>
        <p:spPr>
          <a:xfrm>
            <a:off x="664029" y="1573281"/>
            <a:ext cx="5143103" cy="2996211"/>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E487D-A41E-9467-90C4-9B4FFD31689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B639599-FD86-26FE-4494-F92E30A0B3A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Wavelength behavior</a:t>
            </a:r>
            <a:br>
              <a:rPr lang="es-ES" sz="2500" spc="-5" dirty="0">
                <a:latin typeface="+mj-lt"/>
                <a:cs typeface="Lucida Sans"/>
              </a:rPr>
            </a:br>
            <a:r>
              <a:rPr lang="en-US" b="0" dirty="0"/>
              <a:t>Wavelength 1.5-1.6 µm (step 0.01 µm) – width 1.2 µm</a:t>
            </a:r>
            <a:endParaRPr sz="2500" b="0" dirty="0">
              <a:latin typeface="+mj-lt"/>
              <a:cs typeface="Lucida Sans"/>
            </a:endParaRPr>
          </a:p>
        </p:txBody>
      </p:sp>
      <p:pic>
        <p:nvPicPr>
          <p:cNvPr id="83" name="Gráfico 82">
            <a:extLst>
              <a:ext uri="{FF2B5EF4-FFF2-40B4-BE49-F238E27FC236}">
                <a16:creationId xmlns:a16="http://schemas.microsoft.com/office/drawing/2014/main" id="{6E7E29A8-0A3F-E680-4995-0B73838555B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B2E448D-F90B-316C-9A22-37B89D747027}"/>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5F50A87A-25D7-AC78-2D3C-65977DD80EE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6D243C48-D0CB-2131-C493-8E5DFCAD1557}"/>
              </a:ext>
            </a:extLst>
          </p:cNvPr>
          <p:cNvSpPr txBox="1"/>
          <p:nvPr/>
        </p:nvSpPr>
        <p:spPr>
          <a:xfrm>
            <a:off x="685798" y="2183808"/>
            <a:ext cx="11199971" cy="267765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En primer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podemos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solamente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0 y 1,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shallow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todas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entender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saber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se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propaganda,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2),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1.55). Además, como </a:t>
            </a:r>
            <a:r>
              <a:rPr lang="en-US" sz="1200" dirty="0" err="1">
                <a:latin typeface="Arial" panose="020B0604020202020204" pitchFamily="34" charset="0"/>
                <a:cs typeface="Arial" panose="020B0604020202020204" pitchFamily="34" charset="0"/>
              </a:rPr>
              <a:t>hemos</a:t>
            </a:r>
            <a:r>
              <a:rPr lang="en-US" sz="1200" dirty="0">
                <a:latin typeface="Arial" panose="020B0604020202020204" pitchFamily="34" charset="0"/>
                <a:cs typeface="Arial" panose="020B0604020202020204" pitchFamily="34" charset="0"/>
              </a:rPr>
              <a:t> visto en las </a:t>
            </a:r>
            <a:r>
              <a:rPr lang="en-US" sz="1200" dirty="0" err="1">
                <a:latin typeface="Arial" panose="020B0604020202020204" pitchFamily="34" charset="0"/>
                <a:cs typeface="Arial" panose="020B0604020202020204" pitchFamily="34" charset="0"/>
              </a:rPr>
              <a:t>figuras</a:t>
            </a:r>
            <a:r>
              <a:rPr lang="en-US" sz="1200" dirty="0">
                <a:latin typeface="Arial" panose="020B0604020202020204" pitchFamily="34" charset="0"/>
                <a:cs typeface="Arial" panose="020B0604020202020204" pitchFamily="34" charset="0"/>
              </a:rPr>
              <a:t> de las cross sections, la guía shallow,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slab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que su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sea mayor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estar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en la deep al no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este material, lo que hay </a:t>
            </a:r>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es material de Si02, por lo que su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disminuye</a:t>
            </a:r>
            <a:r>
              <a:rPr lang="en-US" sz="1200" dirty="0">
                <a:latin typeface="Arial" panose="020B0604020202020204" pitchFamily="34" charset="0"/>
                <a:cs typeface="Arial" panose="020B0604020202020204" pitchFamily="34" charset="0"/>
              </a:rPr>
              <a:t> mas </a:t>
            </a:r>
            <a:r>
              <a:rPr lang="en-US" sz="1200" dirty="0" err="1">
                <a:latin typeface="Arial" panose="020B0604020202020204" pitchFamily="34" charset="0"/>
                <a:cs typeface="Arial" panose="020B0604020202020204" pitchFamily="34" charset="0"/>
              </a:rPr>
              <a:t>rápidamente</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por </a:t>
            </a:r>
            <a:r>
              <a:rPr lang="en-US" sz="1200" dirty="0" err="1">
                <a:latin typeface="Arial" panose="020B0604020202020204" pitchFamily="34" charset="0"/>
                <a:cs typeface="Arial" panose="020B0604020202020204" pitchFamily="34" charset="0"/>
              </a:rPr>
              <a:t>consiguiente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hace</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esté</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confinado</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en las gráficas se observa que el índice efectivo disminuye ligeramente al aumentar la longitud de onda para todos los modos y en ambas guías. Esto se debe a que, a mayores longitudes de onda, el modo se desconfina más y parte del campo se extiende hacia la cubierta, reduciendo su valor.</a:t>
            </a:r>
          </a:p>
          <a:p>
            <a:pPr algn="just"/>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también que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no es </a:t>
            </a:r>
            <a:r>
              <a:rPr lang="en-US" sz="1200" dirty="0" err="1">
                <a:latin typeface="Arial" panose="020B0604020202020204" pitchFamily="34" charset="0"/>
                <a:cs typeface="Arial" panose="020B0604020202020204" pitchFamily="34" charset="0"/>
              </a:rPr>
              <a:t>tampoco</a:t>
            </a:r>
            <a:r>
              <a:rPr lang="en-US" sz="1200" dirty="0">
                <a:latin typeface="Arial" panose="020B0604020202020204" pitchFamily="34" charset="0"/>
                <a:cs typeface="Arial" panose="020B0604020202020204" pitchFamily="34" charset="0"/>
              </a:rPr>
              <a:t> bueno, ya que </a:t>
            </a:r>
            <a:r>
              <a:rPr lang="en-US" sz="1200" dirty="0" err="1">
                <a:latin typeface="Arial" panose="020B0604020202020204" pitchFamily="34" charset="0"/>
                <a:cs typeface="Arial" panose="020B0604020202020204" pitchFamily="34" charset="0"/>
              </a:rPr>
              <a:t>normalmente</a:t>
            </a:r>
            <a:r>
              <a:rPr lang="en-US" sz="1200" dirty="0">
                <a:latin typeface="Arial" panose="020B0604020202020204" pitchFamily="34" charset="0"/>
                <a:cs typeface="Arial" panose="020B0604020202020204" pitchFamily="34" charset="0"/>
              </a:rPr>
              <a:t> solo </a:t>
            </a:r>
            <a:r>
              <a:rPr lang="en-US" sz="1200" dirty="0" err="1">
                <a:latin typeface="Arial" panose="020B0604020202020204" pitchFamily="34" charset="0"/>
                <a:cs typeface="Arial" panose="020B0604020202020204" pitchFamily="34" charset="0"/>
              </a:rPr>
              <a:t>deseamos</a:t>
            </a:r>
            <a:r>
              <a:rPr lang="en-US" sz="1200" dirty="0">
                <a:latin typeface="Arial" panose="020B0604020202020204" pitchFamily="34" charset="0"/>
                <a:cs typeface="Arial" panose="020B0604020202020204" pitchFamily="34" charset="0"/>
              </a:rPr>
              <a:t> que se </a:t>
            </a:r>
            <a:r>
              <a:rPr lang="en-US" sz="1200" dirty="0" err="1">
                <a:latin typeface="Arial" panose="020B0604020202020204" pitchFamily="34" charset="0"/>
                <a:cs typeface="Arial" panose="020B0604020202020204" pitchFamily="34" charset="0"/>
              </a:rPr>
              <a:t>propague</a:t>
            </a:r>
            <a:r>
              <a:rPr lang="en-US" sz="1200" dirty="0">
                <a:latin typeface="Arial" panose="020B0604020202020204" pitchFamily="34" charset="0"/>
                <a:cs typeface="Arial" panose="020B0604020202020204" pitchFamily="34" charset="0"/>
              </a:rPr>
              <a:t> uno, el </a:t>
            </a:r>
            <a:r>
              <a:rPr lang="en-US" sz="1200" dirty="0" err="1">
                <a:latin typeface="Arial" panose="020B0604020202020204" pitchFamily="34" charset="0"/>
                <a:cs typeface="Arial" panose="020B0604020202020204" pitchFamily="34" charset="0"/>
              </a:rPr>
              <a:t>hecho</a:t>
            </a:r>
            <a:r>
              <a:rPr lang="en-US" sz="1200" dirty="0">
                <a:latin typeface="Arial" panose="020B0604020202020204" pitchFamily="34" charset="0"/>
                <a:cs typeface="Arial" panose="020B0604020202020204" pitchFamily="34" charset="0"/>
              </a:rPr>
              <a:t> de que se </a:t>
            </a:r>
            <a:r>
              <a:rPr lang="en-US" sz="1200" dirty="0" err="1">
                <a:latin typeface="Arial" panose="020B0604020202020204" pitchFamily="34" charset="0"/>
                <a:cs typeface="Arial" panose="020B0604020202020204" pitchFamily="34" charset="0"/>
              </a:rPr>
              <a:t>propaguen</a:t>
            </a:r>
            <a:r>
              <a:rPr lang="en-US" sz="1200" dirty="0">
                <a:latin typeface="Arial" panose="020B0604020202020204" pitchFamily="34" charset="0"/>
                <a:cs typeface="Arial" panose="020B0604020202020204" pitchFamily="34" charset="0"/>
              </a:rPr>
              <a:t> distintos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 la </a:t>
            </a:r>
            <a:r>
              <a:rPr lang="en-US" sz="1200" dirty="0" err="1">
                <a:latin typeface="Arial" panose="020B0604020202020204" pitchFamily="34" charset="0"/>
                <a:cs typeface="Arial" panose="020B0604020202020204" pitchFamily="34" charset="0"/>
              </a:rPr>
              <a:t>vez</a:t>
            </a:r>
            <a:r>
              <a:rPr lang="en-US" sz="1200" dirty="0">
                <a:latin typeface="Arial" panose="020B0604020202020204" pitchFamily="34" charset="0"/>
                <a:cs typeface="Arial" panose="020B0604020202020204" pitchFamily="34" charset="0"/>
              </a:rPr>
              <a:t> puede </a:t>
            </a:r>
            <a:r>
              <a:rPr lang="en-US" sz="1200" dirty="0" err="1">
                <a:latin typeface="Arial" panose="020B0604020202020204" pitchFamily="34" charset="0"/>
                <a:cs typeface="Arial" panose="020B0604020202020204" pitchFamily="34" charset="0"/>
              </a:rPr>
              <a:t>conllevar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veces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interferencias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intermodales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3CA6113-EDE4-221A-895C-6660C9379186}"/>
              </a:ext>
            </a:extLst>
          </p:cNvPr>
          <p:cNvSpPr txBox="1"/>
          <p:nvPr/>
        </p:nvSpPr>
        <p:spPr>
          <a:xfrm>
            <a:off x="583019" y="1325840"/>
            <a:ext cx="11199971" cy="646331"/>
          </a:xfrm>
          <a:prstGeom prst="rect">
            <a:avLst/>
          </a:prstGeom>
          <a:noFill/>
        </p:spPr>
        <p:txBody>
          <a:bodyPr wrap="square">
            <a:spAutoFit/>
          </a:bodyPr>
          <a:lstStyle/>
          <a:p>
            <a:pPr algn="just"/>
            <a:r>
              <a:rPr lang="en-US" sz="1800" i="1" dirty="0">
                <a:latin typeface="Arial" panose="020B0604020202020204" pitchFamily="34" charset="0"/>
                <a:cs typeface="Arial" panose="020B0604020202020204" pitchFamily="34" charset="0"/>
              </a:rPr>
              <a:t>Comment results (</a:t>
            </a:r>
            <a:r>
              <a:rPr lang="en-US" sz="1800" i="1" dirty="0" err="1">
                <a:latin typeface="Arial" panose="020B0604020202020204" pitchFamily="34" charset="0"/>
                <a:cs typeface="Arial" panose="020B0604020202020204" pitchFamily="34" charset="0"/>
              </a:rPr>
              <a:t>neff</a:t>
            </a:r>
            <a:r>
              <a:rPr lang="en-US" sz="1800" i="1" dirty="0">
                <a:latin typeface="Arial" panose="020B0604020202020204" pitchFamily="34" charset="0"/>
                <a:cs typeface="Arial" panose="020B0604020202020204" pitchFamily="34" charset="0"/>
              </a:rPr>
              <a:t> changes this way with wavelength, comparison between different waveguide </a:t>
            </a:r>
          </a:p>
          <a:p>
            <a:pPr algn="just"/>
            <a:r>
              <a:rPr lang="en-US" sz="1800" i="1" dirty="0">
                <a:latin typeface="Arial" panose="020B0604020202020204" pitchFamily="34" charset="0"/>
                <a:cs typeface="Arial" panose="020B0604020202020204" pitchFamily="34" charset="0"/>
              </a:rPr>
              <a:t>cross-sections …</a:t>
            </a:r>
            <a:r>
              <a:rPr lang="en-US" sz="1800" i="1" dirty="0" err="1">
                <a:latin typeface="Arial" panose="020B0604020202020204" pitchFamily="34" charset="0"/>
                <a:cs typeface="Arial" panose="020B0604020202020204" pitchFamily="34" charset="0"/>
              </a:rPr>
              <a:t>etc</a:t>
            </a:r>
            <a:r>
              <a:rPr lang="en-US" sz="1800" i="1"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4128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67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Gráfico&#10;&#10;El contenido generado por IA puede ser incorrecto.">
            <a:extLst>
              <a:ext uri="{FF2B5EF4-FFF2-40B4-BE49-F238E27FC236}">
                <a16:creationId xmlns:a16="http://schemas.microsoft.com/office/drawing/2014/main" id="{7FE8EEDD-8993-BCEA-0B41-201B4F53E4FF}"/>
              </a:ext>
            </a:extLst>
          </p:cNvPr>
          <p:cNvPicPr>
            <a:picLocks noChangeAspect="1"/>
          </p:cNvPicPr>
          <p:nvPr/>
        </p:nvPicPr>
        <p:blipFill>
          <a:blip r:embed="rId5"/>
          <a:stretch>
            <a:fillRect/>
          </a:stretch>
        </p:blipFill>
        <p:spPr>
          <a:xfrm>
            <a:off x="2247900" y="1517970"/>
            <a:ext cx="7696200" cy="4478429"/>
          </a:xfrm>
          <a:prstGeom prst="rect">
            <a:avLst/>
          </a:prstGeom>
        </p:spPr>
      </p:pic>
    </p:spTree>
    <p:extLst>
      <p:ext uri="{BB962C8B-B14F-4D97-AF65-F5344CB8AC3E}">
        <p14:creationId xmlns:p14="http://schemas.microsoft.com/office/powerpoint/2010/main" val="2900117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7E4B9-ABBB-87A8-4B17-C171028A99D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9C23C97-D7CF-497D-A5D2-21CC05D1013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Width dependence</a:t>
            </a:r>
            <a:br>
              <a:rPr lang="es-ES" sz="2500" spc="-5" dirty="0">
                <a:latin typeface="+mj-lt"/>
                <a:cs typeface="Lucida Sans"/>
              </a:rPr>
            </a:br>
            <a:r>
              <a:rPr lang="en-US" b="0" dirty="0"/>
              <a:t>Width 0.6 - 1.6 µm (step 0.1 µm) – Wavelength 1.55 µm </a:t>
            </a:r>
            <a:endParaRPr sz="2500" b="0" dirty="0">
              <a:latin typeface="+mj-lt"/>
              <a:cs typeface="Lucida Sans"/>
            </a:endParaRPr>
          </a:p>
        </p:txBody>
      </p:sp>
      <p:pic>
        <p:nvPicPr>
          <p:cNvPr id="83" name="Gráfico 82">
            <a:extLst>
              <a:ext uri="{FF2B5EF4-FFF2-40B4-BE49-F238E27FC236}">
                <a16:creationId xmlns:a16="http://schemas.microsoft.com/office/drawing/2014/main" id="{522F4EF9-AE55-C48A-8B2E-3848EC3518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001561-763B-091A-D701-C675075E0A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9C443C3E-55F8-F709-A423-226B9F3EFED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9" name="CuadroTexto 8">
            <a:extLst>
              <a:ext uri="{FF2B5EF4-FFF2-40B4-BE49-F238E27FC236}">
                <a16:creationId xmlns:a16="http://schemas.microsoft.com/office/drawing/2014/main" id="{71F9A7E5-D46C-0453-20FD-6B7360905609}"/>
              </a:ext>
            </a:extLst>
          </p:cNvPr>
          <p:cNvSpPr txBox="1"/>
          <p:nvPr/>
        </p:nvSpPr>
        <p:spPr>
          <a:xfrm>
            <a:off x="583019" y="1371600"/>
            <a:ext cx="11199971"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(neff changes this way with width, polarization behavior, </a:t>
            </a:r>
            <a:r>
              <a:rPr lang="en-US" sz="1200" dirty="0" err="1">
                <a:latin typeface="Arial" panose="020B0604020202020204" pitchFamily="34" charset="0"/>
                <a:cs typeface="Arial" panose="020B0604020202020204" pitchFamily="34" charset="0"/>
              </a:rPr>
              <a:t>etc</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observa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distintos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del ancho de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cabe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destacar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figura</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líneas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rojas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azules</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TM. Esto se ha </a:t>
            </a:r>
            <a:r>
              <a:rPr lang="en-US" sz="1200" dirty="0" err="1">
                <a:latin typeface="Arial" panose="020B0604020202020204" pitchFamily="34" charset="0"/>
                <a:cs typeface="Arial" panose="020B0604020202020204" pitchFamily="34" charset="0"/>
              </a:rPr>
              <a:t>deducido</a:t>
            </a:r>
            <a:r>
              <a:rPr lang="en-US" sz="1200" dirty="0">
                <a:latin typeface="Arial" panose="020B0604020202020204" pitchFamily="34" charset="0"/>
                <a:cs typeface="Arial" panose="020B0604020202020204" pitchFamily="34" charset="0"/>
              </a:rPr>
              <a:t> gracias a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porcentaje</a:t>
            </a:r>
            <a:r>
              <a:rPr lang="en-US" sz="1200" dirty="0">
                <a:latin typeface="Arial" panose="020B0604020202020204" pitchFamily="34" charset="0"/>
                <a:cs typeface="Arial" panose="020B0604020202020204" pitchFamily="34" charset="0"/>
              </a:rPr>
              <a:t> de modo TE y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correspondencia</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colores</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tanto el modo TE0 como el modo TM0, los </a:t>
            </a:r>
            <a:r>
              <a:rPr lang="en-US" sz="1200" dirty="0" err="1">
                <a:latin typeface="Arial" panose="020B0604020202020204" pitchFamily="34" charset="0"/>
                <a:cs typeface="Arial" panose="020B0604020202020204" pitchFamily="34" charset="0"/>
              </a:rPr>
              <a:t>cuales</a:t>
            </a:r>
            <a:r>
              <a:rPr lang="en-US" sz="1200" dirty="0">
                <a:latin typeface="Arial" panose="020B0604020202020204" pitchFamily="34" charset="0"/>
                <a:cs typeface="Arial" panose="020B0604020202020204" pitchFamily="34" charset="0"/>
              </a:rPr>
              <a:t> se van a </a:t>
            </a:r>
            <a:r>
              <a:rPr lang="en-US" sz="1200" dirty="0" err="1">
                <a:latin typeface="Arial" panose="020B0604020202020204" pitchFamily="34" charset="0"/>
                <a:cs typeface="Arial" panose="020B0604020202020204" pitchFamily="34" charset="0"/>
              </a:rPr>
              <a:t>propagar</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Sin embargo, se puede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conforme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el ancho de la guía, al </a:t>
            </a:r>
            <a:r>
              <a:rPr lang="en-US" sz="1200" dirty="0" err="1">
                <a:latin typeface="Arial" panose="020B0604020202020204" pitchFamily="34" charset="0"/>
                <a:cs typeface="Arial" panose="020B0604020202020204" pitchFamily="34" charset="0"/>
              </a:rPr>
              <a:t>mantener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misma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más </a:t>
            </a:r>
            <a:r>
              <a:rPr lang="en-US" sz="1200" dirty="0" err="1">
                <a:latin typeface="Arial" panose="020B0604020202020204" pitchFamily="34" charset="0"/>
                <a:cs typeface="Arial" panose="020B0604020202020204" pitchFamily="34" charset="0"/>
              </a:rPr>
              <a:t>espacio</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poder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tener</a:t>
            </a:r>
            <a:r>
              <a:rPr lang="en-US" sz="1200" dirty="0">
                <a:latin typeface="Arial" panose="020B0604020202020204" pitchFamily="34" charset="0"/>
                <a:cs typeface="Arial" panose="020B0604020202020204" pitchFamily="34" charset="0"/>
              </a:rPr>
              <a:t> un mayor </a:t>
            </a:r>
            <a:r>
              <a:rPr lang="en-US" sz="1200" dirty="0" err="1">
                <a:latin typeface="Arial" panose="020B0604020202020204" pitchFamily="34" charset="0"/>
                <a:cs typeface="Arial" panose="020B0604020202020204" pitchFamily="34" charset="0"/>
              </a:rPr>
              <a:t>confinamiento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tenemos</a:t>
            </a:r>
            <a:r>
              <a:rPr lang="en-US" sz="1200" dirty="0">
                <a:latin typeface="Arial" panose="020B0604020202020204" pitchFamily="34" charset="0"/>
                <a:cs typeface="Arial" panose="020B0604020202020204" pitchFamily="34" charset="0"/>
              </a:rPr>
              <a:t> el modo TE1, que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2 de la guía,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hasta que no </a:t>
            </a:r>
            <a:r>
              <a:rPr lang="en-US" sz="1200" dirty="0" err="1">
                <a:latin typeface="Arial" panose="020B0604020202020204" pitchFamily="34" charset="0"/>
                <a:cs typeface="Arial" panose="020B0604020202020204" pitchFamily="34" charset="0"/>
              </a:rPr>
              <a:t>consigue</a:t>
            </a:r>
            <a:r>
              <a:rPr lang="en-US" sz="1200" dirty="0">
                <a:latin typeface="Arial" panose="020B0604020202020204" pitchFamily="34" charset="0"/>
                <a:cs typeface="Arial" panose="020B0604020202020204" pitchFamily="34" charset="0"/>
              </a:rPr>
              <a:t> un ancho de 1.25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aproximadamente, no </a:t>
            </a:r>
            <a:r>
              <a:rPr lang="en-US" sz="1200" dirty="0" err="1">
                <a:latin typeface="Arial" panose="020B0604020202020204" pitchFamily="34" charset="0"/>
                <a:cs typeface="Arial" panose="020B0604020202020204" pitchFamily="34" charset="0"/>
              </a:rPr>
              <a:t>empieza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En </a:t>
            </a:r>
            <a:r>
              <a:rPr lang="en-US" sz="1200" dirty="0" err="1">
                <a:latin typeface="Arial" panose="020B0604020202020204" pitchFamily="34" charset="0"/>
                <a:cs typeface="Arial" panose="020B0604020202020204" pitchFamily="34" charset="0"/>
              </a:rPr>
              <a:t>dicho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momento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cuando</a:t>
            </a:r>
            <a:r>
              <a:rPr lang="en-US" sz="1200" dirty="0">
                <a:latin typeface="Arial" panose="020B0604020202020204" pitchFamily="34" charset="0"/>
                <a:cs typeface="Arial" panose="020B0604020202020204" pitchFamily="34" charset="0"/>
              </a:rPr>
              <a:t> la guía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pasa</a:t>
            </a:r>
            <a:r>
              <a:rPr lang="en-US" sz="1200" dirty="0">
                <a:latin typeface="Arial" panose="020B0604020202020204" pitchFamily="34" charset="0"/>
                <a:cs typeface="Arial" panose="020B0604020202020204" pitchFamily="34" charset="0"/>
              </a:rPr>
              <a:t> a ser </a:t>
            </a:r>
            <a:r>
              <a:rPr lang="en-US" sz="1200" dirty="0" err="1">
                <a:latin typeface="Arial" panose="020B0604020202020204" pitchFamily="34" charset="0"/>
                <a:cs typeface="Arial" panose="020B0604020202020204" pitchFamily="34" charset="0"/>
              </a:rPr>
              <a:t>multimodo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que se </a:t>
            </a:r>
            <a:r>
              <a:rPr lang="en-US" sz="1200" dirty="0" err="1">
                <a:latin typeface="Arial" panose="020B0604020202020204" pitchFamily="34" charset="0"/>
                <a:cs typeface="Arial" panose="020B0604020202020204" pitchFamily="34" charset="0"/>
              </a:rPr>
              <a:t>estarían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propagando</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TE. Por </a:t>
            </a:r>
            <a:r>
              <a:rPr lang="en-US" sz="1200" dirty="0" err="1">
                <a:latin typeface="Arial" panose="020B0604020202020204" pitchFamily="34" charset="0"/>
                <a:cs typeface="Arial" panose="020B0604020202020204" pitchFamily="34" charset="0"/>
              </a:rPr>
              <a:t>último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encontramos</a:t>
            </a:r>
            <a:r>
              <a:rPr lang="en-US" sz="1200" dirty="0">
                <a:latin typeface="Arial" panose="020B0604020202020204" pitchFamily="34" charset="0"/>
                <a:cs typeface="Arial" panose="020B0604020202020204" pitchFamily="34" charset="0"/>
              </a:rPr>
              <a:t> el modo 3, que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modo TM1,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para el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guia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dos, en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nunca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llegaban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estos</a:t>
            </a:r>
            <a:r>
              <a:rPr lang="en-US" sz="1200" dirty="0">
                <a:latin typeface="Arial" panose="020B0604020202020204" pitchFamily="34" charset="0"/>
                <a:cs typeface="Arial" panose="020B0604020202020204" pitchFamily="34" charset="0"/>
              </a:rPr>
              <a:t> dos </a:t>
            </a:r>
            <a:r>
              <a:rPr lang="en-US" sz="1200" dirty="0" err="1">
                <a:latin typeface="Arial" panose="020B0604020202020204" pitchFamily="34" charset="0"/>
                <a:cs typeface="Arial" panose="020B0604020202020204" pitchFamily="34" charset="0"/>
              </a:rPr>
              <a:t>últimos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(modo TM1 y TE1), ya que </a:t>
            </a:r>
            <a:r>
              <a:rPr lang="en-US" sz="1200" dirty="0" err="1">
                <a:latin typeface="Arial" panose="020B0604020202020204" pitchFamily="34" charset="0"/>
                <a:cs typeface="Arial" panose="020B0604020202020204" pitchFamily="34" charset="0"/>
              </a:rPr>
              <a:t>estábamos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Sin embargo, para el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actual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variando</a:t>
            </a:r>
            <a:r>
              <a:rPr lang="en-US" sz="1200" dirty="0">
                <a:latin typeface="Arial" panose="020B0604020202020204" pitchFamily="34" charset="0"/>
                <a:cs typeface="Arial" panose="020B0604020202020204" pitchFamily="34" charset="0"/>
              </a:rPr>
              <a:t> los </a:t>
            </a:r>
            <a:r>
              <a:rPr lang="en-US" sz="1200" dirty="0" err="1">
                <a:latin typeface="Arial" panose="020B0604020202020204" pitchFamily="34" charset="0"/>
                <a:cs typeface="Arial" panose="020B0604020202020204" pitchFamily="34" charset="0"/>
              </a:rPr>
              <a:t>anchos</a:t>
            </a:r>
            <a:r>
              <a:rPr lang="en-US" sz="1200" dirty="0">
                <a:latin typeface="Arial" panose="020B0604020202020204" pitchFamily="34" charset="0"/>
                <a:cs typeface="Arial" panose="020B0604020202020204" pitchFamily="34" charset="0"/>
              </a:rPr>
              <a:t> de la guía, </a:t>
            </a:r>
            <a:r>
              <a:rPr lang="en-US" sz="1200" dirty="0" err="1">
                <a:latin typeface="Arial" panose="020B0604020202020204" pitchFamily="34" charset="0"/>
                <a:cs typeface="Arial" panose="020B0604020202020204" pitchFamily="34" charset="0"/>
              </a:rPr>
              <a:t>llegados</a:t>
            </a:r>
            <a:r>
              <a:rPr lang="en-US" sz="1200" dirty="0">
                <a:latin typeface="Arial" panose="020B0604020202020204" pitchFamily="34" charset="0"/>
                <a:cs typeface="Arial" panose="020B0604020202020204" pitchFamily="34" charset="0"/>
              </a:rPr>
              <a:t> a un </a:t>
            </a:r>
            <a:r>
              <a:rPr lang="en-US" sz="1200" dirty="0" err="1">
                <a:latin typeface="Arial" panose="020B0604020202020204" pitchFamily="34" charset="0"/>
                <a:cs typeface="Arial" panose="020B0604020202020204" pitchFamily="34" charset="0"/>
              </a:rPr>
              <a:t>determinado</a:t>
            </a:r>
            <a:r>
              <a:rPr lang="en-US" sz="1200" dirty="0">
                <a:latin typeface="Arial" panose="020B0604020202020204" pitchFamily="34" charset="0"/>
                <a:cs typeface="Arial" panose="020B0604020202020204" pitchFamily="34" charset="0"/>
              </a:rPr>
              <a:t> valor,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que </a:t>
            </a:r>
            <a:r>
              <a:rPr lang="en-US" sz="1200" dirty="0" err="1">
                <a:latin typeface="Arial" panose="020B0604020202020204" pitchFamily="34" charset="0"/>
                <a:cs typeface="Arial" panose="020B0604020202020204" pitchFamily="34" charset="0"/>
              </a:rPr>
              <a:t>comenzarian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propagarse</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4425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DA0F9-B230-D9FC-3CE7-03BD08CF54F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94400B4-EE16-8E85-AB54-E82FE3B29345}"/>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D53B68D-17ED-7EFB-F2B4-10DA7A772E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9AB8697-C1EE-6E9A-6550-ACA2C3AE6630}"/>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970D4A6C-5B37-EDF5-6242-74B16127E96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Rectángulo 4">
            <a:extLst>
              <a:ext uri="{FF2B5EF4-FFF2-40B4-BE49-F238E27FC236}">
                <a16:creationId xmlns:a16="http://schemas.microsoft.com/office/drawing/2014/main" id="{A6B92C76-6772-2E00-346F-532321092C04}"/>
              </a:ext>
            </a:extLst>
          </p:cNvPr>
          <p:cNvSpPr/>
          <p:nvPr/>
        </p:nvSpPr>
        <p:spPr>
          <a:xfrm>
            <a:off x="685801" y="1827022"/>
            <a:ext cx="5334000" cy="322427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2886628E-6E58-1F7E-B6C6-432B9A228397}"/>
              </a:ext>
            </a:extLst>
          </p:cNvPr>
          <p:cNvSpPr/>
          <p:nvPr/>
        </p:nvSpPr>
        <p:spPr>
          <a:xfrm>
            <a:off x="6306363" y="1827022"/>
            <a:ext cx="5334000" cy="322427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F38E924-A0E7-A039-C837-916BA77FE89B}"/>
              </a:ext>
            </a:extLst>
          </p:cNvPr>
          <p:cNvSpPr txBox="1"/>
          <p:nvPr/>
        </p:nvSpPr>
        <p:spPr>
          <a:xfrm>
            <a:off x="6178409" y="5194183"/>
            <a:ext cx="5486560" cy="276999"/>
          </a:xfrm>
          <a:prstGeom prst="rect">
            <a:avLst/>
          </a:prstGeom>
          <a:noFill/>
        </p:spPr>
        <p:txBody>
          <a:bodyPr wrap="square">
            <a:spAutoFit/>
          </a:bodyPr>
          <a:lstStyle/>
          <a:p>
            <a:pPr algn="r"/>
            <a:r>
              <a:rPr lang="en-US" sz="1200" b="1" dirty="0">
                <a:solidFill>
                  <a:schemeClr val="tx1"/>
                </a:solidFill>
                <a:latin typeface="Arial" panose="020B0604020202020204" pitchFamily="34" charset="0"/>
                <a:cs typeface="Arial" panose="020B0604020202020204" pitchFamily="34" charset="0"/>
              </a:rPr>
              <a:t>slab: 150nm</a:t>
            </a:r>
            <a:endParaRPr lang="en-US" sz="1200" dirty="0">
              <a:solidFill>
                <a:schemeClr val="tx1"/>
              </a:solidFill>
              <a:latin typeface="Arial" panose="020B0604020202020204" pitchFamily="34" charset="0"/>
              <a:cs typeface="Arial" panose="020B0604020202020204" pitchFamily="34" charset="0"/>
            </a:endParaRPr>
          </a:p>
        </p:txBody>
      </p:sp>
      <p:pic>
        <p:nvPicPr>
          <p:cNvPr id="7" name="Imagen 6" descr="Gráfico&#10;&#10;El contenido generado por IA puede ser incorrecto.">
            <a:extLst>
              <a:ext uri="{FF2B5EF4-FFF2-40B4-BE49-F238E27FC236}">
                <a16:creationId xmlns:a16="http://schemas.microsoft.com/office/drawing/2014/main" id="{6EE6A301-802F-71A8-D45A-719DDCE2374F}"/>
              </a:ext>
            </a:extLst>
          </p:cNvPr>
          <p:cNvPicPr>
            <a:picLocks noChangeAspect="1"/>
          </p:cNvPicPr>
          <p:nvPr/>
        </p:nvPicPr>
        <p:blipFill>
          <a:blip r:embed="rId5"/>
          <a:stretch>
            <a:fillRect/>
          </a:stretch>
        </p:blipFill>
        <p:spPr>
          <a:xfrm>
            <a:off x="797560" y="1896211"/>
            <a:ext cx="5110480" cy="3065578"/>
          </a:xfrm>
          <a:prstGeom prst="rect">
            <a:avLst/>
          </a:prstGeom>
        </p:spPr>
      </p:pic>
      <p:pic>
        <p:nvPicPr>
          <p:cNvPr id="12" name="Imagen 11" descr="Gráfico, Gráfico de líneas&#10;&#10;El contenido generado por IA puede ser incorrecto.">
            <a:extLst>
              <a:ext uri="{FF2B5EF4-FFF2-40B4-BE49-F238E27FC236}">
                <a16:creationId xmlns:a16="http://schemas.microsoft.com/office/drawing/2014/main" id="{53B7AF3B-D6BB-A7C0-88D3-336824D54616}"/>
              </a:ext>
            </a:extLst>
          </p:cNvPr>
          <p:cNvPicPr>
            <a:picLocks noChangeAspect="1"/>
          </p:cNvPicPr>
          <p:nvPr/>
        </p:nvPicPr>
        <p:blipFill>
          <a:blip r:embed="rId6"/>
          <a:stretch>
            <a:fillRect/>
          </a:stretch>
        </p:blipFill>
        <p:spPr>
          <a:xfrm>
            <a:off x="6420663" y="1914500"/>
            <a:ext cx="5105399" cy="3062529"/>
          </a:xfrm>
          <a:prstGeom prst="rect">
            <a:avLst/>
          </a:prstGeom>
        </p:spPr>
      </p:pic>
    </p:spTree>
    <p:extLst>
      <p:ext uri="{BB962C8B-B14F-4D97-AF65-F5344CB8AC3E}">
        <p14:creationId xmlns:p14="http://schemas.microsoft.com/office/powerpoint/2010/main" val="23605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FB58-B666-0C41-4C72-3ABC0EC4388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3DF2B24-AC21-643D-B8C0-62993AB27B88}"/>
              </a:ext>
            </a:extLst>
          </p:cNvPr>
          <p:cNvSpPr txBox="1">
            <a:spLocks noGrp="1"/>
          </p:cNvSpPr>
          <p:nvPr>
            <p:ph type="title"/>
          </p:nvPr>
        </p:nvSpPr>
        <p:spPr>
          <a:xfrm>
            <a:off x="685800" y="408883"/>
            <a:ext cx="10994410" cy="1397819"/>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Waveguide compact model</a:t>
            </a:r>
            <a:br>
              <a:rPr lang="en-US" sz="2500" spc="-5" dirty="0">
                <a:latin typeface="+mj-lt"/>
                <a:cs typeface="Lucida Sans"/>
              </a:rPr>
            </a:br>
            <a:r>
              <a:rPr lang="en-US" b="0" dirty="0"/>
              <a:t>- Find the compact models of the following waveguides: </a:t>
            </a:r>
            <a:br>
              <a:rPr lang="en-US" b="0" dirty="0"/>
            </a:br>
            <a:r>
              <a:rPr lang="en-US" dirty="0"/>
              <a:t>Deep</a:t>
            </a:r>
            <a:r>
              <a:rPr lang="en-US" b="0" dirty="0"/>
              <a:t> waveguide, h=300nm, w=1.2</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 </a:t>
            </a:r>
            <a:r>
              <a:rPr lang="en-US" dirty="0"/>
              <a:t>Shallow</a:t>
            </a:r>
            <a:r>
              <a:rPr lang="en-US" b="0" dirty="0"/>
              <a:t> waveguide, core h=300nm, slab h=150 nm, w = 1.2um </a:t>
            </a:r>
            <a:br>
              <a:rPr lang="en-US" b="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37813654-26E9-7238-D73E-68BA1316A31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E2D0D11-BF34-FF92-6520-B37F368C0D94}"/>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FB835810-53AB-5DA6-6898-CDFC21E038D3}"/>
              </a:ext>
            </a:extLst>
          </p:cNvPr>
          <p:cNvSpPr>
            <a:spLocks noGrp="1"/>
          </p:cNvSpPr>
          <p:nvPr>
            <p:ph type="ftr" sz="quarter" idx="5"/>
          </p:nvPr>
        </p:nvSpPr>
        <p:spPr/>
        <p:txBody>
          <a:bodyPr/>
          <a:lstStyle/>
          <a:p>
            <a:pPr marL="12700">
              <a:spcBef>
                <a:spcPts val="15"/>
              </a:spcBef>
            </a:pPr>
            <a:r>
              <a:rPr lang="es-ES" spc="-5" dirty="0"/>
              <a:t>LAB 1.0 WAVEGUIDES</a:t>
            </a: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11E2B217-7A2F-7F84-8CFC-E023D5FB8F3B}"/>
                  </a:ext>
                </a:extLst>
              </p:cNvPr>
              <p:cNvSpPr txBox="1"/>
              <p:nvPr/>
            </p:nvSpPr>
            <p:spPr>
              <a:xfrm>
                <a:off x="481668" y="1690095"/>
                <a:ext cx="11198542" cy="422827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cs typeface="Arial" panose="020B0604020202020204" pitchFamily="34" charset="0"/>
                  </a:rPr>
                  <a:t>Find the second-degree polynomial coefficients and relate them with the group index and the dispersion parameter. </a:t>
                </a:r>
                <a14:m>
                  <m:oMath xmlns:m="http://schemas.openxmlformats.org/officeDocument/2006/math">
                    <m:d>
                      <m:dPr>
                        <m:begChr m:val="{"/>
                        <m:endChr m:val=""/>
                        <m:ctrlPr>
                          <a:rPr lang="es-ES" sz="1200" b="0" i="1" smtClean="0">
                            <a:latin typeface="Cambria Math" panose="02040503050406030204" pitchFamily="18" charset="0"/>
                            <a:cs typeface="Arial" panose="020B0604020202020204" pitchFamily="34" charset="0"/>
                          </a:rPr>
                        </m:ctrlPr>
                      </m:dPr>
                      <m:e>
                        <m:eqArr>
                          <m:eqArrPr>
                            <m:ctrlPr>
                              <a:rPr lang="es-ES" sz="1200" b="0" i="1" smtClean="0">
                                <a:latin typeface="Cambria Math" panose="02040503050406030204" pitchFamily="18" charset="0"/>
                                <a:cs typeface="Arial" panose="020B0604020202020204" pitchFamily="34" charset="0"/>
                              </a:rPr>
                            </m:ctrlPr>
                          </m:eqArrPr>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𝑒𝑓𝑓</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e>
                          <m:e>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1</m:t>
                                </m:r>
                              </m:sub>
                            </m:sSub>
                            <m:r>
                              <a:rPr lang="es-ES" sz="1200" b="0" i="1" smtClean="0">
                                <a:latin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2</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e>
                          <m:e>
                            <m:r>
                              <a:rPr lang="es-ES" sz="1200" b="0" i="1" smtClean="0">
                                <a:latin typeface="Cambria Math" panose="02040503050406030204" pitchFamily="18" charset="0"/>
                                <a:cs typeface="Arial" panose="020B0604020202020204" pitchFamily="34" charset="0"/>
                              </a:rPr>
                              <m:t>𝐷</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m:t>
                                </m:r>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cs typeface="Arial" panose="020B0604020202020204" pitchFamily="34" charset="0"/>
                                      </a:rPr>
                                      <m:t>0</m:t>
                                    </m:r>
                                  </m:sub>
                                </m:sSub>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3</m:t>
                                    </m:r>
                                  </m:sub>
                                </m:sSub>
                              </m:num>
                              <m:den>
                                <m:r>
                                  <a:rPr lang="es-ES" sz="1200" b="0" i="1" smtClean="0">
                                    <a:latin typeface="Cambria Math" panose="02040503050406030204" pitchFamily="18" charset="0"/>
                                    <a:cs typeface="Arial" panose="020B0604020202020204" pitchFamily="34" charset="0"/>
                                  </a:rPr>
                                  <m:t>𝑐</m:t>
                                </m:r>
                              </m:den>
                            </m:f>
                            <m:d>
                              <m:dPr>
                                <m:begChr m:val="["/>
                                <m:endChr m:val="]"/>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𝑠</m:t>
                                        </m:r>
                                      </m:e>
                                      <m:sup>
                                        <m:r>
                                          <a:rPr lang="es-ES" sz="1200" b="0" i="1" smtClean="0">
                                            <a:latin typeface="Cambria Math" panose="02040503050406030204" pitchFamily="18" charset="0"/>
                                            <a:cs typeface="Arial" panose="020B0604020202020204" pitchFamily="34" charset="0"/>
                                          </a:rPr>
                                          <m:t>2</m:t>
                                        </m:r>
                                      </m:sup>
                                    </m:sSup>
                                  </m:num>
                                  <m:den>
                                    <m:r>
                                      <a:rPr lang="es-ES" sz="1200" b="0" i="1" smtClean="0">
                                        <a:latin typeface="Cambria Math" panose="02040503050406030204" pitchFamily="18" charset="0"/>
                                        <a:cs typeface="Arial" panose="020B0604020202020204" pitchFamily="34" charset="0"/>
                                      </a:rPr>
                                      <m:t>𝑚</m:t>
                                    </m:r>
                                  </m:den>
                                </m:f>
                              </m:e>
                            </m:d>
                          </m:e>
                        </m:eqArr>
                      </m:e>
                    </m:d>
                  </m:oMath>
                </a14:m>
                <a:endParaRPr lang="es-ES" sz="1200" b="0" dirty="0">
                  <a:cs typeface="Arial" panose="020B0604020202020204" pitchFamily="34" charset="0"/>
                </a:endParaRPr>
              </a:p>
              <a:p>
                <a:pPr algn="just"/>
                <a:r>
                  <a:rPr lang="en-US" sz="1200" dirty="0">
                    <a:cs typeface="Arial" panose="020B0604020202020204" pitchFamily="34" charset="0"/>
                  </a:rPr>
                  <a:t>Comment on the results found for the TE0 and TM0 for both deep and shallow waveguides. </a:t>
                </a:r>
              </a:p>
              <a:p>
                <a:pPr algn="just"/>
                <a:endParaRPr lang="en-US" sz="1200" dirty="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 </a:t>
                </a:r>
                <a:r>
                  <a:rPr lang="en-US" sz="1200" dirty="0" err="1">
                    <a:latin typeface="Arial" panose="020B0604020202020204" pitchFamily="34" charset="0"/>
                    <a:cs typeface="Arial" panose="020B0604020202020204" pitchFamily="34" charset="0"/>
                  </a:rPr>
                  <a:t>continuación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presenta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ecuación</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segundo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grado</a:t>
                </a:r>
                <a:r>
                  <a:rPr lang="en-US" sz="1200" dirty="0">
                    <a:latin typeface="Arial" panose="020B0604020202020204" pitchFamily="34" charset="0"/>
                    <a:cs typeface="Arial" panose="020B0604020202020204" pitchFamily="34" charset="0"/>
                  </a:rPr>
                  <a:t> con los </a:t>
                </a:r>
                <a:r>
                  <a:rPr lang="en-US" sz="1200" dirty="0" err="1">
                    <a:latin typeface="Arial" panose="020B0604020202020204" pitchFamily="34" charset="0"/>
                    <a:cs typeface="Arial" panose="020B0604020202020204" pitchFamily="34" charset="0"/>
                  </a:rPr>
                  <a:t>coeficientes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polinómicos</a:t>
                </a:r>
                <a:r>
                  <a:rPr lang="en-US" sz="1200" dirty="0">
                    <a:latin typeface="Arial" panose="020B0604020202020204" pitchFamily="34" charset="0"/>
                    <a:cs typeface="Arial" panose="020B0604020202020204" pitchFamily="34" charset="0"/>
                  </a:rPr>
                  <a:t>. Su </a:t>
                </a:r>
                <a:r>
                  <a:rPr lang="en-US" sz="1200" dirty="0" err="1">
                    <a:latin typeface="Arial" panose="020B0604020202020204" pitchFamily="34" charset="0"/>
                    <a:cs typeface="Arial" panose="020B0604020202020204" pitchFamily="34" charset="0"/>
                  </a:rPr>
                  <a:t>objetivo</a:t>
                </a:r>
                <a:r>
                  <a:rPr lang="en-US" sz="1200" dirty="0">
                    <a:latin typeface="Arial" panose="020B0604020202020204" pitchFamily="34" charset="0"/>
                    <a:cs typeface="Arial" panose="020B0604020202020204" pitchFamily="34" charset="0"/>
                  </a:rPr>
                  <a:t> es </a:t>
                </a:r>
                <a:r>
                  <a:rPr lang="en-US" sz="1200" dirty="0" err="1">
                    <a:latin typeface="Arial" panose="020B0604020202020204" pitchFamily="34" charset="0"/>
                    <a:cs typeface="Arial" panose="020B0604020202020204" pitchFamily="34" charset="0"/>
                  </a:rPr>
                  <a:t>disminuir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complejidad</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representación</a:t>
                </a:r>
                <a:r>
                  <a:rPr lang="en-US" sz="1200" dirty="0">
                    <a:latin typeface="Arial" panose="020B0604020202020204" pitchFamily="34" charset="0"/>
                    <a:cs typeface="Arial" panose="020B0604020202020204" pitchFamily="34" charset="0"/>
                  </a:rPr>
                  <a:t> y del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llevando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cabo</a:t>
                </a:r>
                <a:r>
                  <a:rPr lang="en-US" sz="1200" dirty="0">
                    <a:latin typeface="Arial" panose="020B0604020202020204" pitchFamily="34" charset="0"/>
                    <a:cs typeface="Arial" panose="020B0604020202020204" pitchFamily="34" charset="0"/>
                  </a:rPr>
                  <a:t> una </a:t>
                </a:r>
                <a:r>
                  <a:rPr lang="en-US" sz="1200" dirty="0" err="1">
                    <a:latin typeface="Arial" panose="020B0604020202020204" pitchFamily="34" charset="0"/>
                    <a:cs typeface="Arial" panose="020B0604020202020204" pitchFamily="34" charset="0"/>
                  </a:rPr>
                  <a:t>aproximacion</a:t>
                </a:r>
                <a:r>
                  <a:rPr lang="en-US" sz="1200" dirty="0">
                    <a:latin typeface="Arial" panose="020B0604020202020204" pitchFamily="34" charset="0"/>
                    <a:cs typeface="Arial" panose="020B0604020202020204" pitchFamily="34" charset="0"/>
                  </a:rPr>
                  <a:t> de sus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en el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1.50 a 1.6, </a:t>
                </a:r>
                <a:r>
                  <a:rPr lang="en-US" sz="1200" dirty="0" err="1">
                    <a:latin typeface="Arial" panose="020B0604020202020204" pitchFamily="34" charset="0"/>
                    <a:cs typeface="Arial" panose="020B0604020202020204" pitchFamily="34" charset="0"/>
                  </a:rPr>
                  <a:t>tomando</a:t>
                </a:r>
                <a:r>
                  <a:rPr lang="en-US" sz="1200" dirty="0">
                    <a:latin typeface="Arial" panose="020B0604020202020204" pitchFamily="34" charset="0"/>
                    <a:cs typeface="Arial" panose="020B0604020202020204" pitchFamily="34" charset="0"/>
                  </a:rPr>
                  <a:t> como </a:t>
                </a:r>
                <a:r>
                  <a:rPr lang="en-US" sz="1200" dirty="0" err="1">
                    <a:latin typeface="Arial" panose="020B0604020202020204" pitchFamily="34" charset="0"/>
                    <a:cs typeface="Arial" panose="020B0604020202020204" pitchFamily="34" charset="0"/>
                  </a:rPr>
                  <a:t>referencia</a:t>
                </a:r>
                <a:r>
                  <a:rPr lang="en-US" sz="1200" dirty="0">
                    <a:latin typeface="Arial" panose="020B0604020202020204" pitchFamily="34" charset="0"/>
                    <a:cs typeface="Arial" panose="020B0604020202020204" pitchFamily="34" charset="0"/>
                  </a:rPr>
                  <a:t> 1.55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ello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tomado</a:t>
                </a:r>
                <a:r>
                  <a:rPr lang="en-US" sz="1200" dirty="0">
                    <a:latin typeface="Arial" panose="020B0604020202020204" pitchFamily="34" charset="0"/>
                    <a:cs typeface="Arial" panose="020B0604020202020204" pitchFamily="34" charset="0"/>
                  </a:rPr>
                  <a:t> las dos </a:t>
                </a:r>
                <a:r>
                  <a:rPr lang="en-US" sz="1200" dirty="0" err="1">
                    <a:latin typeface="Arial" panose="020B0604020202020204" pitchFamily="34" charset="0"/>
                    <a:cs typeface="Arial" panose="020B0604020202020204" pitchFamily="34" charset="0"/>
                  </a:rPr>
                  <a:t>funciones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creadas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LO.2, tanto para la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para la shallow.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de los resultados obtenidos con el </a:t>
                </a:r>
                <a:r>
                  <a:rPr lang="es-ES" sz="1200" dirty="0" err="1">
                    <a:latin typeface="Arial" panose="020B0604020202020204" pitchFamily="34" charset="0"/>
                    <a:cs typeface="Arial" panose="020B0604020202020204" pitchFamily="34" charset="0"/>
                  </a:rPr>
                  <a:t>ModeSolver</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se ha realizado un ajuste polinómico de segundo orden en torno a </a:t>
                </a:r>
                <a:r>
                  <a:rPr lang="el-GR" sz="1200" dirty="0">
                    <a:latin typeface="Arial" panose="020B0604020202020204" pitchFamily="34" charset="0"/>
                    <a:cs typeface="Arial" panose="020B0604020202020204" pitchFamily="34" charset="0"/>
                  </a:rPr>
                  <a:t>λ₀, </a:t>
                </a:r>
                <a:r>
                  <a:rPr lang="es-ES" sz="1200" dirty="0">
                    <a:latin typeface="Arial" panose="020B0604020202020204" pitchFamily="34" charset="0"/>
                    <a:cs typeface="Arial" panose="020B0604020202020204" pitchFamily="34" charset="0"/>
                  </a:rPr>
                  <a:t>obteniendo los coeficientes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1</m:t>
                        </m:r>
                      </m:sub>
                    </m:sSub>
                  </m:oMath>
                </a14:m>
                <a:r>
                  <a:rPr lang="ar-AE" sz="1200" dirty="0">
                    <a:latin typeface="Arial" panose="020B0604020202020204" pitchFamily="34" charset="0"/>
                    <a:cs typeface="Arial" panose="020B0604020202020204" pitchFamily="34" charset="0"/>
                  </a:rPr>
                  <a:t>,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latin typeface="Arial" panose="020B0604020202020204" pitchFamily="34" charset="0"/>
                    <a:cs typeface="Arial" panose="020B0604020202020204" pitchFamily="34" charset="0"/>
                  </a:rPr>
                  <a:t>y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así como el índice de grupo y el parámetro de dispersión.</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Posteriormente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analizado</a:t>
                </a:r>
                <a:r>
                  <a:rPr lang="en-US" sz="1200" dirty="0">
                    <a:latin typeface="Arial" panose="020B0604020202020204" pitchFamily="34" charset="0"/>
                    <a:cs typeface="Arial" panose="020B0604020202020204" pitchFamily="34" charset="0"/>
                  </a:rPr>
                  <a:t> los resultados y se ha </a:t>
                </a:r>
                <a:r>
                  <a:rPr lang="en-US" sz="1200" dirty="0" err="1">
                    <a:latin typeface="Arial" panose="020B0604020202020204" pitchFamily="34" charset="0"/>
                    <a:cs typeface="Arial" panose="020B0604020202020204" pitchFamily="34" charset="0"/>
                  </a:rPr>
                  <a:t>llegado</a:t>
                </a:r>
                <a:r>
                  <a:rPr lang="en-US" sz="1200" dirty="0">
                    <a:latin typeface="Arial" panose="020B0604020202020204" pitchFamily="34" charset="0"/>
                    <a:cs typeface="Arial" panose="020B0604020202020204" pitchFamily="34" charset="0"/>
                  </a:rPr>
                  <a:t> a la conclusion de que son </a:t>
                </a:r>
                <a:r>
                  <a:rPr lang="en-US" sz="1200" dirty="0" err="1">
                    <a:latin typeface="Arial" panose="020B0604020202020204" pitchFamily="34" charset="0"/>
                    <a:cs typeface="Arial" panose="020B0604020202020204" pitchFamily="34" charset="0"/>
                  </a:rPr>
                  <a:t>correctos</a:t>
                </a:r>
                <a:r>
                  <a:rPr lang="en-US" sz="1200" dirty="0">
                    <a:latin typeface="Arial" panose="020B0604020202020204" pitchFamily="34" charset="0"/>
                    <a:cs typeface="Arial" panose="020B0604020202020204" pitchFamily="34" charset="0"/>
                  </a:rPr>
                  <a:t>, ya que el </a:t>
                </a:r>
                <a:r>
                  <a:rPr lang="en-US" sz="1200" dirty="0" err="1">
                    <a:latin typeface="Arial" panose="020B0604020202020204" pitchFamily="34" charset="0"/>
                    <a:cs typeface="Arial" panose="020B0604020202020204" pitchFamily="34" charset="0"/>
                  </a:rPr>
                  <a:t>coeficiente</a:t>
                </a:r>
                <a:r>
                  <a:rPr lang="en-US" sz="1200" dirty="0">
                    <a:latin typeface="Arial" panose="020B0604020202020204" pitchFamily="34" charset="0"/>
                    <a:cs typeface="Arial" panose="020B0604020202020204" pitchFamily="34" charset="0"/>
                  </a:rPr>
                  <a:t> n1 </a:t>
                </a:r>
                <a:r>
                  <a:rPr lang="en-US" sz="1200" dirty="0" err="1">
                    <a:latin typeface="Arial" panose="020B0604020202020204" pitchFamily="34" charset="0"/>
                    <a:cs typeface="Arial" panose="020B0604020202020204" pitchFamily="34" charset="0"/>
                  </a:rPr>
                  <a:t>corresponde</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en cada modo en la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referencia</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Además,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2</m:t>
                        </m:r>
                      </m:sub>
                    </m:sSub>
                  </m:oMath>
                </a14:m>
                <a:r>
                  <a:rPr lang="es-ES" sz="1200" dirty="0">
                    <a:latin typeface="Arial" panose="020B0604020202020204" pitchFamily="34" charset="0"/>
                    <a:cs typeface="Arial" panose="020B0604020202020204" pitchFamily="34" charset="0"/>
                  </a:rPr>
                  <a:t>es menor que cero, lo que indica que el índice efectivo disminuye al aumentar la longitud de onda debido al </a:t>
                </a:r>
                <a:r>
                  <a:rPr lang="es-ES" sz="1200" dirty="0" err="1">
                    <a:latin typeface="Arial" panose="020B0604020202020204" pitchFamily="34" charset="0"/>
                    <a:cs typeface="Arial" panose="020B0604020202020204" pitchFamily="34" charset="0"/>
                  </a:rPr>
                  <a:t>desconfiamiento</a:t>
                </a:r>
                <a:r>
                  <a:rPr lang="es-ES" sz="1200" dirty="0">
                    <a:latin typeface="Arial" panose="020B0604020202020204" pitchFamily="34" charset="0"/>
                    <a:cs typeface="Arial" panose="020B0604020202020204" pitchFamily="34" charset="0"/>
                  </a:rPr>
                  <a:t> modal. Por otro lado, la dispersión resulta negativa porque el coeficiente </a:t>
                </a:r>
                <a14:m>
                  <m:oMath xmlns:m="http://schemas.openxmlformats.org/officeDocument/2006/math">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oMath>
                </a14:m>
                <a:r>
                  <a:rPr lang="es-ES" sz="1200" dirty="0">
                    <a:latin typeface="Arial" panose="020B0604020202020204" pitchFamily="34" charset="0"/>
                    <a:cs typeface="Arial" panose="020B0604020202020204" pitchFamily="34" charset="0"/>
                  </a:rPr>
                  <a:t>es positivo, según la relación </a:t>
                </a:r>
                <a14:m>
                  <m:oMath xmlns:m="http://schemas.openxmlformats.org/officeDocument/2006/math">
                    <m:r>
                      <a:rPr lang="es-ES" sz="1200" i="1">
                        <a:latin typeface="Cambria Math" panose="02040503050406030204" pitchFamily="18" charset="0"/>
                      </a:rPr>
                      <m:t>𝐷</m:t>
                    </m:r>
                    <m:r>
                      <a:rPr lang="es-ES" sz="1200">
                        <a:latin typeface="Cambria Math" panose="02040503050406030204" pitchFamily="18" charset="0"/>
                      </a:rPr>
                      <m:t>=−</m:t>
                    </m:r>
                    <m:f>
                      <m:fPr>
                        <m:ctrlPr>
                          <a:rPr lang="ar-AE" sz="1200" i="1">
                            <a:latin typeface="Cambria Math" panose="02040503050406030204" pitchFamily="18" charset="0"/>
                          </a:rPr>
                        </m:ctrlPr>
                      </m:fPr>
                      <m:num>
                        <m:r>
                          <a:rPr lang="ar-AE" sz="1200">
                            <a:latin typeface="Cambria Math" panose="02040503050406030204" pitchFamily="18" charset="0"/>
                          </a:rPr>
                          <m:t>2</m:t>
                        </m:r>
                        <m:sSub>
                          <m:sSubPr>
                            <m:ctrlPr>
                              <a:rPr lang="ar-AE" sz="1200" i="1">
                                <a:latin typeface="Cambria Math" panose="02040503050406030204" pitchFamily="18" charset="0"/>
                              </a:rPr>
                            </m:ctrlPr>
                          </m:sSubPr>
                          <m:e>
                            <m:r>
                              <a:rPr lang="ar-AE" sz="1200" i="1">
                                <a:latin typeface="Cambria Math" panose="02040503050406030204" pitchFamily="18" charset="0"/>
                              </a:rPr>
                              <m:t>𝜆</m:t>
                            </m:r>
                          </m:e>
                          <m:sub>
                            <m:r>
                              <a:rPr lang="ar-AE" sz="1200">
                                <a:latin typeface="Cambria Math" panose="02040503050406030204" pitchFamily="18" charset="0"/>
                              </a:rPr>
                              <m:t>0</m:t>
                            </m:r>
                          </m:sub>
                        </m:sSub>
                        <m:sSub>
                          <m:sSubPr>
                            <m:ctrlPr>
                              <a:rPr lang="ar-AE" sz="1200" i="1">
                                <a:latin typeface="Cambria Math" panose="02040503050406030204" pitchFamily="18" charset="0"/>
                              </a:rPr>
                            </m:ctrlPr>
                          </m:sSubPr>
                          <m:e>
                            <m:r>
                              <a:rPr lang="ar-AE" sz="1200" i="1">
                                <a:latin typeface="Cambria Math" panose="02040503050406030204" pitchFamily="18" charset="0"/>
                              </a:rPr>
                              <m:t>𝑛</m:t>
                            </m:r>
                          </m:e>
                          <m:sub>
                            <m:r>
                              <a:rPr lang="ar-AE" sz="1200">
                                <a:latin typeface="Cambria Math" panose="02040503050406030204" pitchFamily="18" charset="0"/>
                              </a:rPr>
                              <m:t>3</m:t>
                            </m:r>
                          </m:sub>
                        </m:sSub>
                      </m:num>
                      <m:den>
                        <m:r>
                          <a:rPr lang="ar-AE" sz="1200" i="1">
                            <a:latin typeface="Cambria Math" panose="02040503050406030204" pitchFamily="18" charset="0"/>
                          </a:rPr>
                          <m:t>𝑐</m:t>
                        </m:r>
                      </m:den>
                    </m:f>
                  </m:oMath>
                </a14:m>
                <a:r>
                  <a:rPr lang="ar-AE"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lo que implica una curvatura cóncava hacia arriba del índice efectivo en el rango analizado.</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Asimismo, se observa que la guía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presenta valores ligeramente mayores de índice efectivo que la </a:t>
                </a:r>
                <a:r>
                  <a:rPr lang="es-ES" sz="1200" dirty="0" err="1">
                    <a:latin typeface="Arial" panose="020B0604020202020204" pitchFamily="34" charset="0"/>
                    <a:cs typeface="Arial" panose="020B0604020202020204" pitchFamily="34" charset="0"/>
                  </a:rPr>
                  <a:t>deep</a:t>
                </a:r>
                <a:r>
                  <a:rPr lang="es-ES" sz="1200" dirty="0">
                    <a:latin typeface="Arial" panose="020B0604020202020204" pitchFamily="34" charset="0"/>
                    <a:cs typeface="Arial" panose="020B0604020202020204" pitchFamily="34" charset="0"/>
                  </a:rPr>
                  <a:t>, lo que indica un mayor confinamiento modal debido a la presencia del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11E2B217-7A2F-7F84-8CFC-E023D5FB8F3B}"/>
                  </a:ext>
                </a:extLst>
              </p:cNvPr>
              <p:cNvSpPr txBox="1">
                <a:spLocks noRot="1" noChangeAspect="1" noMove="1" noResize="1" noEditPoints="1" noAdjustHandles="1" noChangeArrowheads="1" noChangeShapeType="1" noTextEdit="1"/>
              </p:cNvSpPr>
              <p:nvPr/>
            </p:nvSpPr>
            <p:spPr>
              <a:xfrm>
                <a:off x="481668" y="1690095"/>
                <a:ext cx="11198542" cy="4228273"/>
              </a:xfrm>
              <a:prstGeom prst="rect">
                <a:avLst/>
              </a:prstGeom>
              <a:blipFill>
                <a:blip r:embed="rId5"/>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3463398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B5FE8755-B0BF-14B7-64E6-4BBB2560B9A6}"/>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331EBD86-BA6C-68C9-2D38-FC8CFBA7ADC4}"/>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descr="Gráfico, Gráfico de dispersión&#10;&#10;El contenido generado por IA puede ser incorrecto.">
            <a:extLst>
              <a:ext uri="{FF2B5EF4-FFF2-40B4-BE49-F238E27FC236}">
                <a16:creationId xmlns:a16="http://schemas.microsoft.com/office/drawing/2014/main" id="{70A89036-EB7E-9A46-D116-F1BAD743101C}"/>
              </a:ext>
            </a:extLst>
          </p:cNvPr>
          <p:cNvPicPr>
            <a:picLocks noChangeAspect="1"/>
          </p:cNvPicPr>
          <p:nvPr/>
        </p:nvPicPr>
        <p:blipFill>
          <a:blip r:embed="rId5"/>
          <a:srcRect l="1995" t="902" r="1855" b="2727"/>
          <a:stretch>
            <a:fillRect/>
          </a:stretch>
        </p:blipFill>
        <p:spPr>
          <a:xfrm>
            <a:off x="660400" y="1475594"/>
            <a:ext cx="4993562" cy="3225476"/>
          </a:xfrm>
          <a:prstGeom prst="rect">
            <a:avLst/>
          </a:prstGeom>
        </p:spPr>
      </p:pic>
      <p:pic>
        <p:nvPicPr>
          <p:cNvPr id="9" name="Imagen 8" descr="Gráfico, Gráfico de líneas&#10;&#10;El contenido generado por IA puede ser incorrecto.">
            <a:extLst>
              <a:ext uri="{FF2B5EF4-FFF2-40B4-BE49-F238E27FC236}">
                <a16:creationId xmlns:a16="http://schemas.microsoft.com/office/drawing/2014/main" id="{9A312882-DF5D-CE26-F7E3-9D817AD22C22}"/>
              </a:ext>
            </a:extLst>
          </p:cNvPr>
          <p:cNvPicPr>
            <a:picLocks noChangeAspect="1"/>
          </p:cNvPicPr>
          <p:nvPr/>
        </p:nvPicPr>
        <p:blipFill>
          <a:blip r:embed="rId6"/>
          <a:srcRect t="2021" r="1086" b="733"/>
          <a:stretch>
            <a:fillRect/>
          </a:stretch>
        </p:blipFill>
        <p:spPr>
          <a:xfrm>
            <a:off x="6047402" y="1497072"/>
            <a:ext cx="5762010" cy="3205852"/>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025F-7C56-CF6A-394E-203CB01B0E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811E270-6497-C24F-31EF-DFFBAE5521EA}"/>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Bend waveguide radius vs. loss – deep</a:t>
            </a:r>
            <a:br>
              <a:rPr lang="en-US" sz="2500" dirty="0"/>
            </a:br>
            <a:r>
              <a:rPr lang="en-US" b="0" dirty="0"/>
              <a:t>Find  neff_TE0 for </a:t>
            </a:r>
            <a:r>
              <a:rPr lang="en-US" b="0" dirty="0" err="1"/>
              <a:t>wvl</a:t>
            </a:r>
            <a:r>
              <a:rPr lang="en-US" b="0" dirty="0"/>
              <a:t> 1.55 µm, width 1.2 µm for R=25,50,75,100, 125,150 µm</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BBE2C89A-E812-F179-8A96-5A335CB2A3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4571273-BA80-70DE-5420-91DCEDAF3C4C}"/>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1FB8752-4AC3-FBE5-E695-D52471548915}"/>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C1DBD8C0-0238-565F-ED3C-EDDA517BD7D2}"/>
              </a:ext>
            </a:extLst>
          </p:cNvPr>
          <p:cNvSpPr txBox="1"/>
          <p:nvPr/>
        </p:nvSpPr>
        <p:spPr>
          <a:xfrm>
            <a:off x="228600" y="1219200"/>
            <a:ext cx="11734800" cy="507831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la </a:t>
            </a:r>
            <a:r>
              <a:rPr lang="en-US" sz="1200" dirty="0" err="1">
                <a:latin typeface="Arial" panose="020B0604020202020204" pitchFamily="34" charset="0"/>
                <a:cs typeface="Arial" panose="020B0604020202020204" pitchFamily="34" charset="0"/>
              </a:rPr>
              <a:t>ejecución</a:t>
            </a:r>
            <a:r>
              <a:rPr lang="en-US" sz="1200" dirty="0">
                <a:latin typeface="Arial" panose="020B0604020202020204" pitchFamily="34" charset="0"/>
                <a:cs typeface="Arial" panose="020B0604020202020204" pitchFamily="34" charset="0"/>
              </a:rPr>
              <a:t> de este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las pérdidas de la guía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en función del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el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en este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se ha </a:t>
            </a:r>
            <a:r>
              <a:rPr lang="en-US" sz="1200" dirty="0" err="1">
                <a:latin typeface="Arial" panose="020B0604020202020204" pitchFamily="34" charset="0"/>
                <a:cs typeface="Arial" panose="020B0604020202020204" pitchFamily="34" charset="0"/>
              </a:rPr>
              <a:t>simulado</a:t>
            </a:r>
            <a:r>
              <a:rPr lang="en-US" sz="1200" dirty="0">
                <a:latin typeface="Arial" panose="020B0604020202020204" pitchFamily="34" charset="0"/>
                <a:cs typeface="Arial" panose="020B0604020202020204" pitchFamily="34" charset="0"/>
              </a:rPr>
              <a:t> en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 a 150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Cabe </a:t>
            </a:r>
            <a:r>
              <a:rPr lang="en-US" sz="1200" dirty="0" err="1">
                <a:latin typeface="Arial" panose="020B0604020202020204" pitchFamily="34" charset="0"/>
                <a:cs typeface="Arial" panose="020B0604020202020204" pitchFamily="34" charset="0"/>
              </a:rPr>
              <a:t>mencionar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suma</a:t>
            </a:r>
            <a:r>
              <a:rPr lang="en-US" sz="1200" dirty="0">
                <a:latin typeface="Arial" panose="020B0604020202020204" pitchFamily="34" charset="0"/>
                <a:cs typeface="Arial" panose="020B0604020202020204" pitchFamily="34" charset="0"/>
              </a:rPr>
              <a:t> de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modo y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propagacion</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no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tenido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cuenta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nitruro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silicio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dichas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radiación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resultan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pequeñas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tanto no es </a:t>
            </a:r>
            <a:r>
              <a:rPr lang="en-US" sz="1200" dirty="0" err="1">
                <a:latin typeface="Arial" panose="020B0604020202020204" pitchFamily="34" charset="0"/>
                <a:cs typeface="Arial" panose="020B0604020202020204" pitchFamily="34" charset="0"/>
              </a:rPr>
              <a:t>necesario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estudio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primera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modo y </a:t>
            </a:r>
            <a:r>
              <a:rPr lang="en-US" sz="1200" dirty="0" err="1">
                <a:latin typeface="Arial" panose="020B0604020202020204" pitchFamily="34" charset="0"/>
                <a:cs typeface="Arial" panose="020B0604020202020204" pitchFamily="34" charset="0"/>
              </a:rPr>
              <a:t>por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pérdidas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simulación</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han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elegido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perdidas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de 1.5 dB/cm. Se puede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que para radios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menores</a:t>
            </a:r>
            <a:r>
              <a:rPr lang="en-US" sz="1200" dirty="0">
                <a:latin typeface="Arial" panose="020B0604020202020204" pitchFamily="34" charset="0"/>
                <a:cs typeface="Arial" panose="020B0604020202020204" pitchFamily="34" charset="0"/>
              </a:rPr>
              <a:t> de 75</a:t>
            </a:r>
            <a:r>
              <a:rPr lang="es-ES" altLang="es-ES" sz="1200" dirty="0">
                <a:latin typeface="Arial" panose="020B0604020202020204" pitchFamily="34" charset="0"/>
                <a:cs typeface="Arial" panose="020B0604020202020204" pitchFamily="34" charset="0"/>
              </a:rPr>
              <a:t> µm</a:t>
            </a:r>
            <a:r>
              <a:rPr lang="en-US" sz="1200" dirty="0">
                <a:latin typeface="Arial" panose="020B0604020202020204" pitchFamily="34" charset="0"/>
                <a:cs typeface="Arial" panose="020B0604020202020204" pitchFamily="34" charset="0"/>
              </a:rPr>
              <a:t>, las pérdidas por modo son </a:t>
            </a:r>
            <a:r>
              <a:rPr lang="en-US" sz="1200" dirty="0" err="1">
                <a:latin typeface="Arial" panose="020B0604020202020204" pitchFamily="34" charset="0"/>
                <a:cs typeface="Arial" panose="020B0604020202020204" pitchFamily="34" charset="0"/>
              </a:rPr>
              <a:t>mucho</a:t>
            </a:r>
            <a:r>
              <a:rPr lang="en-US" sz="1200" dirty="0">
                <a:latin typeface="Arial" panose="020B0604020202020204" pitchFamily="34" charset="0"/>
                <a:cs typeface="Arial" panose="020B0604020202020204" pitchFamily="34" charset="0"/>
              </a:rPr>
              <a:t> más </a:t>
            </a:r>
            <a:r>
              <a:rPr lang="en-US" sz="1200" dirty="0" err="1">
                <a:latin typeface="Arial" panose="020B0604020202020204" pitchFamily="34" charset="0"/>
                <a:cs typeface="Arial" panose="020B0604020202020204" pitchFamily="34" charset="0"/>
              </a:rPr>
              <a:t>significativas</a:t>
            </a:r>
            <a:r>
              <a:rPr lang="en-US" sz="1200" dirty="0">
                <a:latin typeface="Arial" panose="020B0604020202020204" pitchFamily="34" charset="0"/>
                <a:cs typeface="Arial" panose="020B0604020202020204" pitchFamily="34" charset="0"/>
              </a:rPr>
              <a:t> que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Por otro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partir</a:t>
            </a:r>
            <a:r>
              <a:rPr lang="en-US" sz="1200" dirty="0">
                <a:latin typeface="Arial" panose="020B0604020202020204" pitchFamily="34" charset="0"/>
                <a:cs typeface="Arial" panose="020B0604020202020204" pitchFamily="34" charset="0"/>
              </a:rPr>
              <a:t> de radios mayores de 75 </a:t>
            </a:r>
            <a:r>
              <a:rPr lang="es-ES" altLang="es-ES" sz="1200" dirty="0">
                <a:latin typeface="Arial" panose="020B0604020202020204" pitchFamily="34" charset="0"/>
                <a:cs typeface="Arial" panose="020B0604020202020204" pitchFamily="34" charset="0"/>
              </a:rPr>
              <a:t>µm</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empiezan</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predominar</a:t>
            </a:r>
            <a:r>
              <a:rPr lang="en-US" sz="1200" dirty="0">
                <a:latin typeface="Arial" panose="020B0604020202020204" pitchFamily="34" charset="0"/>
                <a:cs typeface="Arial" panose="020B0604020202020204" pitchFamily="34" charset="0"/>
              </a:rPr>
              <a:t> las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Además, se también se puede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que las pérdidas de modo </a:t>
            </a:r>
            <a:r>
              <a:rPr lang="en-US" sz="1200" dirty="0" err="1">
                <a:latin typeface="Arial" panose="020B0604020202020204" pitchFamily="34" charset="0"/>
                <a:cs typeface="Arial" panose="020B0604020202020204" pitchFamily="34" charset="0"/>
              </a:rPr>
              <a:t>disminuyen</a:t>
            </a:r>
            <a:r>
              <a:rPr lang="en-US" sz="1200" dirty="0">
                <a:latin typeface="Arial" panose="020B0604020202020204" pitchFamily="34" charset="0"/>
                <a:cs typeface="Arial" panose="020B0604020202020204" pitchFamily="34" charset="0"/>
              </a:rPr>
              <a:t> aproximadamente de forma </a:t>
            </a:r>
            <a:r>
              <a:rPr lang="en-US" sz="1200" dirty="0" err="1">
                <a:latin typeface="Arial" panose="020B0604020202020204" pitchFamily="34" charset="0"/>
                <a:cs typeface="Arial" panose="020B0604020202020204" pitchFamily="34" charset="0"/>
              </a:rPr>
              <a:t>exponencial</a:t>
            </a:r>
            <a:r>
              <a:rPr lang="en-US" sz="1200" dirty="0">
                <a:latin typeface="Arial" panose="020B0604020202020204" pitchFamily="34" charset="0"/>
                <a:cs typeface="Arial" panose="020B0604020202020204" pitchFamily="34" charset="0"/>
              </a:rPr>
              <a:t> al </a:t>
            </a:r>
            <a:r>
              <a:rPr lang="en-US" sz="1200" dirty="0" err="1">
                <a:latin typeface="Arial" panose="020B0604020202020204" pitchFamily="34" charset="0"/>
                <a:cs typeface="Arial" panose="020B0604020202020204" pitchFamily="34" charset="0"/>
              </a:rPr>
              <a:t>aumentar</a:t>
            </a:r>
            <a:r>
              <a:rPr lang="en-US" sz="1200" dirty="0">
                <a:latin typeface="Arial" panose="020B0604020202020204" pitchFamily="34" charset="0"/>
                <a:cs typeface="Arial" panose="020B0604020202020204" pitchFamily="34" charset="0"/>
              </a:rPr>
              <a:t> el radio de </a:t>
            </a:r>
            <a:r>
              <a:rPr lang="en-US" sz="1200" dirty="0" err="1">
                <a:latin typeface="Arial" panose="020B0604020202020204" pitchFamily="34" charset="0"/>
                <a:cs typeface="Arial" panose="020B0604020202020204" pitchFamily="34" charset="0"/>
              </a:rPr>
              <a:t>curvatura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mientras</a:t>
            </a:r>
            <a:r>
              <a:rPr lang="en-US" sz="1200" dirty="0">
                <a:latin typeface="Arial" panose="020B0604020202020204" pitchFamily="34" charset="0"/>
                <a:cs typeface="Arial" panose="020B0604020202020204" pitchFamily="34" charset="0"/>
              </a:rPr>
              <a:t> que las pérdidas de </a:t>
            </a:r>
            <a:r>
              <a:rPr lang="en-US" sz="1200" dirty="0" err="1">
                <a:latin typeface="Arial" panose="020B0604020202020204" pitchFamily="34" charset="0"/>
                <a:cs typeface="Arial" panose="020B0604020202020204" pitchFamily="34" charset="0"/>
              </a:rPr>
              <a:t>propagación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aumentan</a:t>
            </a:r>
            <a:r>
              <a:rPr lang="en-US" sz="1200" dirty="0">
                <a:latin typeface="Arial" panose="020B0604020202020204" pitchFamily="34" charset="0"/>
                <a:cs typeface="Arial" panose="020B0604020202020204" pitchFamily="34" charset="0"/>
              </a:rPr>
              <a:t> aproximadamente de forma lineal.</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radios de curvatura pequeños, la fuerte curvatura provoca un desplazamiento del modo óptico hacia el borde exterior de la guía de onda, reduciendo su confinamiento y dando lugar a pérdidas significativas de modo, ya que parte del modo deja de estar guiado. A medida que el radio de curvatura aumenta, la curvatura se suaviza y las pérdidas de modo disminuyen. En este régimen, las pérdidas de propagación pasan a dominar debido al aumento de la longitud del recorrido del modo en la sección curvada.</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 partir de la gráfica de pérdidas totales también es posible determinar el radio seguro y el radio óptimo de curvatura. El radio seguro se define como aquel para el cual las pérdidas totales son menores de 0.1 dB. En este caso, dicha condición se cumple a partir de aproximadamente 30 µm. Por otro lado, el radio óptimo corresponde al valor del radio para el cual las pérdidas totales son mínimas. Observando la gráfica, este mínimo se encuentra aproximadamente en el rango de 80 a 85 µm.</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Además de las pérdidas, también se ha analizado cómo varía el índice efectivo del modo fundamental TE con el radio de curvatura. En la segunda gráfica se observa que, para radios pequeños, el índice efectivo es ligeramente mayor debido a que la fuerte curvatura altera la distribución del modo dentro de la guía. A medida que el radio de curvatura aumenta, la guía se comporta de forma más similar a una guía recta, por lo que el índice efectivo disminuye ligeramente y tiende a estabilizarse. Para radios grandes, las variaciones del índice efectivo son muy pequeñas, lo que indica que la influencia de la curvatura sobre la propagación del modo es prácticamente despreciable. El ligero aumento observado a partir de aproximadamente 125 µm se debe a que el modo vuelve a concentrarse más en el núcleo de la guía, acercándose así al valor de índice efectivo correspondiente a una guía recta.</a:t>
            </a:r>
            <a:endParaRPr lang="en-US" sz="12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677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50AF-7EAA-8177-5F2B-4FAF9EC9E93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3AB4E06-78AA-34FE-920A-700390F13354}"/>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EJERCICIOS EXTRA</a:t>
            </a:r>
            <a:br>
              <a:rPr lang="en-US" sz="2500" dirty="0"/>
            </a:b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0C62A384-9894-F4AB-7152-DDD1B519DE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7F7A888-9AFD-46FE-5D0B-9A1149CAA8AF}"/>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F8F78A0-2405-D366-9165-4CB016A56926}"/>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D10220D1-AE1F-A176-41E7-4E5B9E0A66FB}"/>
              </a:ext>
            </a:extLst>
          </p:cNvPr>
          <p:cNvSpPr txBox="1"/>
          <p:nvPr/>
        </p:nvSpPr>
        <p:spPr>
          <a:xfrm>
            <a:off x="496014" y="2133600"/>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En </a:t>
            </a:r>
            <a:r>
              <a:rPr lang="en-US" sz="1200" b="1" i="1" dirty="0" err="1">
                <a:latin typeface="Arial" panose="020B0604020202020204" pitchFamily="34" charset="0"/>
                <a:cs typeface="Arial" panose="020B0604020202020204" pitchFamily="34" charset="0"/>
              </a:rPr>
              <a:t>este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ejercicio</a:t>
            </a:r>
            <a:r>
              <a:rPr lang="en-US" sz="1200" b="1" i="1" dirty="0">
                <a:latin typeface="Arial" panose="020B0604020202020204" pitchFamily="34" charset="0"/>
                <a:cs typeface="Arial" panose="020B0604020202020204" pitchFamily="34" charset="0"/>
              </a:rPr>
              <a:t> y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los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próximos</a:t>
            </a:r>
            <a:r>
              <a:rPr lang="en-US" sz="1200" b="1" i="1" dirty="0">
                <a:latin typeface="Arial" panose="020B0604020202020204" pitchFamily="34" charset="0"/>
                <a:cs typeface="Arial" panose="020B0604020202020204" pitchFamily="34" charset="0"/>
              </a:rPr>
              <a:t>, se ha </a:t>
            </a:r>
            <a:r>
              <a:rPr lang="en-US" sz="1200" b="1" i="1" dirty="0" err="1">
                <a:latin typeface="Arial" panose="020B0604020202020204" pitchFamily="34" charset="0"/>
                <a:cs typeface="Arial" panose="020B0604020202020204" pitchFamily="34" charset="0"/>
              </a:rPr>
              <a:t>sustituido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guía</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por</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(Si), </a:t>
            </a:r>
            <a:r>
              <a:rPr lang="en-US" sz="1200" b="1" i="1" dirty="0" err="1">
                <a:latin typeface="Arial" panose="020B0604020202020204" pitchFamily="34" charset="0"/>
                <a:cs typeface="Arial" panose="020B0604020202020204" pitchFamily="34" charset="0"/>
              </a:rPr>
              <a:t>mientras</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de la </a:t>
            </a:r>
            <a:r>
              <a:rPr lang="en-US" sz="1200" b="1" i="1" dirty="0" err="1">
                <a:latin typeface="Arial" panose="020B0604020202020204" pitchFamily="34" charset="0"/>
                <a:cs typeface="Arial" panose="020B0604020202020204" pitchFamily="34" charset="0"/>
              </a:rPr>
              <a:t>cubierta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mismo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que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anteriormente</a:t>
            </a:r>
            <a:r>
              <a:rPr lang="en-US" sz="1200" b="1" i="1" dirty="0">
                <a:latin typeface="Arial" panose="020B0604020202020204" pitchFamily="34" charset="0"/>
                <a:cs typeface="Arial" panose="020B0604020202020204" pitchFamily="34" charset="0"/>
              </a:rPr>
              <a:t> (Si02). El </a:t>
            </a:r>
            <a:r>
              <a:rPr lang="en-US" sz="1200" b="1" i="1" dirty="0" err="1">
                <a:latin typeface="Arial" panose="020B0604020202020204" pitchFamily="34" charset="0"/>
                <a:cs typeface="Arial" panose="020B0604020202020204" pitchFamily="34" charset="0"/>
              </a:rPr>
              <a:t>silicio</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presenta</a:t>
            </a:r>
            <a:r>
              <a:rPr lang="en-US" sz="1200" b="1" i="1" dirty="0">
                <a:latin typeface="Arial" panose="020B0604020202020204" pitchFamily="34" charset="0"/>
                <a:cs typeface="Arial" panose="020B0604020202020204" pitchFamily="34" charset="0"/>
              </a:rPr>
              <a:t> un </a:t>
            </a:r>
            <a:r>
              <a:rPr lang="en-US" sz="1200" b="1" i="1" dirty="0" err="1">
                <a:latin typeface="Arial" panose="020B0604020202020204" pitchFamily="34" charset="0"/>
                <a:cs typeface="Arial" panose="020B0604020202020204" pitchFamily="34" charset="0"/>
              </a:rPr>
              <a:t>índice</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efectivo</a:t>
            </a:r>
            <a:r>
              <a:rPr lang="en-US" sz="1200" b="1" i="1" dirty="0">
                <a:latin typeface="Arial" panose="020B0604020202020204" pitchFamily="34" charset="0"/>
                <a:cs typeface="Arial" panose="020B0604020202020204" pitchFamily="34" charset="0"/>
              </a:rPr>
              <a:t> de </a:t>
            </a:r>
            <a:r>
              <a:rPr lang="en-US" sz="1200" b="1" i="1" dirty="0" err="1">
                <a:latin typeface="Arial" panose="020B0604020202020204" pitchFamily="34" charset="0"/>
                <a:cs typeface="Arial" panose="020B0604020202020204" pitchFamily="34" charset="0"/>
              </a:rPr>
              <a:t>alrededor</a:t>
            </a:r>
            <a:r>
              <a:rPr lang="en-US" sz="1200" b="1" i="1" dirty="0">
                <a:latin typeface="Arial" panose="020B0604020202020204" pitchFamily="34" charset="0"/>
                <a:cs typeface="Arial" panose="020B0604020202020204" pitchFamily="34" charset="0"/>
              </a:rPr>
              <a:t> de 3.47 </a:t>
            </a:r>
            <a:r>
              <a:rPr lang="en-US" sz="1200" b="1" i="1" dirty="0" err="1">
                <a:latin typeface="Arial" panose="020B0604020202020204" pitchFamily="34" charset="0"/>
                <a:cs typeface="Arial" panose="020B0604020202020204" pitchFamily="34" charset="0"/>
              </a:rPr>
              <a:t>en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rango</a:t>
            </a:r>
            <a:r>
              <a:rPr lang="en-US" sz="1200" b="1" i="1" dirty="0">
                <a:latin typeface="Arial" panose="020B0604020202020204" pitchFamily="34" charset="0"/>
                <a:cs typeface="Arial" panose="020B0604020202020204" pitchFamily="34" charset="0"/>
              </a:rPr>
              <a:t> de longitudes de </a:t>
            </a:r>
            <a:r>
              <a:rPr lang="en-US" sz="1200" b="1" i="1" dirty="0" err="1">
                <a:latin typeface="Arial" panose="020B0604020202020204" pitchFamily="34" charset="0"/>
                <a:cs typeface="Arial" panose="020B0604020202020204" pitchFamily="34" charset="0"/>
              </a:rPr>
              <a:t>onda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estudiados</a:t>
            </a:r>
            <a:r>
              <a:rPr lang="en-US" sz="1200" b="1" i="1" dirty="0">
                <a:latin typeface="Arial" panose="020B0604020202020204" pitchFamily="34" charset="0"/>
                <a:cs typeface="Arial" panose="020B0604020202020204" pitchFamily="34" charset="0"/>
              </a:rPr>
              <a:t>. </a:t>
            </a:r>
          </a:p>
          <a:p>
            <a:pPr algn="just"/>
            <a:endParaRPr lang="en-US" sz="1200" b="1" i="1" dirty="0">
              <a:latin typeface="Arial" panose="020B0604020202020204" pitchFamily="34" charset="0"/>
              <a:cs typeface="Arial" panose="020B0604020202020204" pitchFamily="34" charset="0"/>
            </a:endParaRPr>
          </a:p>
          <a:p>
            <a:pPr algn="just"/>
            <a:r>
              <a:rPr lang="en-US" sz="1200" b="1" i="1" dirty="0">
                <a:latin typeface="Arial" panose="020B0604020202020204" pitchFamily="34" charset="0"/>
                <a:cs typeface="Arial" panose="020B0604020202020204" pitchFamily="34" charset="0"/>
              </a:rPr>
              <a:t>Además de </a:t>
            </a:r>
            <a:r>
              <a:rPr lang="en-US" sz="1200" b="1" i="1" dirty="0" err="1">
                <a:latin typeface="Arial" panose="020B0604020202020204" pitchFamily="34" charset="0"/>
                <a:cs typeface="Arial" panose="020B0604020202020204" pitchFamily="34" charset="0"/>
              </a:rPr>
              <a:t>cambiar</a:t>
            </a:r>
            <a:r>
              <a:rPr lang="en-US" sz="1200" b="1" i="1" dirty="0">
                <a:latin typeface="Arial" panose="020B0604020202020204" pitchFamily="34" charset="0"/>
                <a:cs typeface="Arial" panose="020B0604020202020204" pitchFamily="34" charset="0"/>
              </a:rPr>
              <a:t> el material del </a:t>
            </a:r>
            <a:r>
              <a:rPr lang="en-US" sz="1200" b="1" i="1" dirty="0" err="1">
                <a:latin typeface="Arial" panose="020B0604020202020204" pitchFamily="34" charset="0"/>
                <a:cs typeface="Arial" panose="020B0604020202020204" pitchFamily="34" charset="0"/>
              </a:rPr>
              <a:t>núcleo</a:t>
            </a:r>
            <a:r>
              <a:rPr lang="en-US" sz="1200" b="1" i="1" dirty="0">
                <a:latin typeface="Arial" panose="020B0604020202020204" pitchFamily="34" charset="0"/>
                <a:cs typeface="Arial" panose="020B0604020202020204" pitchFamily="34" charset="0"/>
              </a:rPr>
              <a:t>, También se </a:t>
            </a:r>
            <a:r>
              <a:rPr lang="en-US" sz="1200" b="1" i="1" dirty="0" err="1">
                <a:latin typeface="Arial" panose="020B0604020202020204" pitchFamily="34" charset="0"/>
                <a:cs typeface="Arial" panose="020B0604020202020204" pitchFamily="34" charset="0"/>
              </a:rPr>
              <a:t>han</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hecho</a:t>
            </a:r>
            <a:r>
              <a:rPr lang="en-US" sz="1200" b="1" i="1" dirty="0">
                <a:latin typeface="Arial" panose="020B0604020202020204" pitchFamily="34" charset="0"/>
                <a:cs typeface="Arial" panose="020B0604020202020204" pitchFamily="34" charset="0"/>
              </a:rPr>
              <a:t> unas </a:t>
            </a:r>
            <a:r>
              <a:rPr lang="en-US" sz="1200" b="1" i="1" dirty="0" err="1">
                <a:latin typeface="Arial" panose="020B0604020202020204" pitchFamily="34" charset="0"/>
                <a:cs typeface="Arial" panose="020B0604020202020204" pitchFamily="34" charset="0"/>
              </a:rPr>
              <a:t>modificaciones</a:t>
            </a:r>
            <a:r>
              <a:rPr lang="en-US" sz="1200" b="1" i="1" dirty="0">
                <a:latin typeface="Arial" panose="020B0604020202020204" pitchFamily="34" charset="0"/>
                <a:cs typeface="Arial" panose="020B0604020202020204" pitchFamily="34" charset="0"/>
              </a:rPr>
              <a:t> en las dimensiones de la guía, en </a:t>
            </a:r>
            <a:r>
              <a:rPr lang="en-US" sz="1200" b="1" i="1" dirty="0" err="1">
                <a:latin typeface="Arial" panose="020B0604020202020204" pitchFamily="34" charset="0"/>
                <a:cs typeface="Arial" panose="020B0604020202020204" pitchFamily="34" charset="0"/>
              </a:rPr>
              <a:t>concreto</a:t>
            </a:r>
            <a:r>
              <a:rPr lang="en-US" sz="1200" b="1" i="1" dirty="0">
                <a:latin typeface="Arial" panose="020B0604020202020204" pitchFamily="34" charset="0"/>
                <a:cs typeface="Arial" panose="020B0604020202020204" pitchFamily="34" charset="0"/>
              </a:rPr>
              <a:t>: el ancho, el </a:t>
            </a:r>
            <a:r>
              <a:rPr lang="en-US" sz="1200" b="1" i="1" dirty="0" err="1">
                <a:latin typeface="Arial" panose="020B0604020202020204" pitchFamily="34" charset="0"/>
                <a:cs typeface="Arial" panose="020B0604020202020204" pitchFamily="34" charset="0"/>
              </a:rPr>
              <a:t>cual</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ahora</a:t>
            </a:r>
            <a:r>
              <a:rPr lang="en-US" sz="1200" b="1" i="1" dirty="0">
                <a:latin typeface="Arial" panose="020B0604020202020204" pitchFamily="34" charset="0"/>
                <a:cs typeface="Arial" panose="020B0604020202020204" pitchFamily="34" charset="0"/>
              </a:rPr>
              <a:t> </a:t>
            </a:r>
            <a:r>
              <a:rPr lang="en-US" sz="1200" b="1" i="1" dirty="0" err="1">
                <a:latin typeface="Arial" panose="020B0604020202020204" pitchFamily="34" charset="0"/>
                <a:cs typeface="Arial" panose="020B0604020202020204" pitchFamily="34" charset="0"/>
              </a:rPr>
              <a:t>va</a:t>
            </a:r>
            <a:r>
              <a:rPr lang="en-US" sz="1200" b="1" i="1" dirty="0">
                <a:latin typeface="Arial" panose="020B0604020202020204" pitchFamily="34" charset="0"/>
                <a:cs typeface="Arial" panose="020B0604020202020204" pitchFamily="34" charset="0"/>
              </a:rPr>
              <a:t> a ser de 0.5 </a:t>
            </a:r>
            <a:r>
              <a:rPr lang="en-US" sz="1200" dirty="0">
                <a:latin typeface="Arial" panose="020B0604020202020204" pitchFamily="34" charset="0"/>
                <a:cs typeface="Arial" panose="020B0604020202020204" pitchFamily="34" charset="0"/>
              </a:rPr>
              <a:t> </a:t>
            </a:r>
            <a:r>
              <a:rPr lang="es-ES" altLang="es-ES" sz="1200" b="1" dirty="0">
                <a:latin typeface="Arial" panose="020B0604020202020204" pitchFamily="34" charset="0"/>
                <a:cs typeface="Arial" panose="020B0604020202020204" pitchFamily="34" charset="0"/>
              </a:rPr>
              <a:t>µm</a:t>
            </a:r>
            <a:r>
              <a:rPr lang="en-US" sz="1200" b="1" i="1" dirty="0">
                <a:latin typeface="Arial" panose="020B0604020202020204" pitchFamily="34" charset="0"/>
                <a:cs typeface="Arial" panose="020B0604020202020204" pitchFamily="34" charset="0"/>
              </a:rPr>
              <a:t>, y la </a:t>
            </a:r>
            <a:r>
              <a:rPr lang="en-US" sz="1200" b="1" i="1" dirty="0" err="1">
                <a:latin typeface="Arial" panose="020B0604020202020204" pitchFamily="34" charset="0"/>
                <a:cs typeface="Arial" panose="020B0604020202020204" pitchFamily="34" charset="0"/>
              </a:rPr>
              <a:t>altura</a:t>
            </a:r>
            <a:r>
              <a:rPr lang="en-US" sz="1200" b="1" i="1" dirty="0">
                <a:latin typeface="Arial" panose="020B0604020202020204" pitchFamily="34" charset="0"/>
                <a:cs typeface="Arial" panose="020B0604020202020204" pitchFamily="34" charset="0"/>
              </a:rPr>
              <a:t>, de 0.22 </a:t>
            </a:r>
            <a:r>
              <a:rPr lang="en-US" sz="1200" dirty="0">
                <a:latin typeface="Arial" panose="020B0604020202020204" pitchFamily="34" charset="0"/>
                <a:cs typeface="Arial" panose="020B0604020202020204" pitchFamily="34" charset="0"/>
              </a:rPr>
              <a:t> </a:t>
            </a:r>
            <a:r>
              <a:rPr lang="es-ES" altLang="es-ES" sz="1200" b="1" dirty="0">
                <a:latin typeface="Arial" panose="020B0604020202020204" pitchFamily="34" charset="0"/>
                <a:cs typeface="Arial" panose="020B0604020202020204" pitchFamily="34" charset="0"/>
              </a:rPr>
              <a:t>µm</a:t>
            </a:r>
            <a:r>
              <a:rPr lang="en-US" sz="1200" b="1" i="1"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930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22E24-29DB-E2F3-9307-23DB7AB34ED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14FF14D-9463-1CC1-8B86-92479A35EA8B}"/>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80F73181-ED8C-350B-EA9D-FDBDC57238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61864EF-26CB-788F-DAFF-2B3187D5EE91}"/>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29936319-2C10-BCFC-21AA-A36400AD75F8}"/>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0A82FF6F-244E-0422-0BBA-FD5BC8913A02}"/>
              </a:ext>
            </a:extLst>
          </p:cNvPr>
          <p:cNvSpPr/>
          <p:nvPr/>
        </p:nvSpPr>
        <p:spPr>
          <a:xfrm>
            <a:off x="381000" y="1418372"/>
            <a:ext cx="11429999" cy="38394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7AA86609-8BC2-1A5A-00DF-AA354E7D022E}"/>
              </a:ext>
            </a:extLst>
          </p:cNvPr>
          <p:cNvPicPr>
            <a:picLocks noChangeAspect="1"/>
          </p:cNvPicPr>
          <p:nvPr/>
        </p:nvPicPr>
        <p:blipFill>
          <a:blip r:embed="rId5"/>
          <a:srcRect r="1102"/>
          <a:stretch>
            <a:fillRect/>
          </a:stretch>
        </p:blipFill>
        <p:spPr>
          <a:xfrm>
            <a:off x="532006" y="1554870"/>
            <a:ext cx="5473098" cy="3486839"/>
          </a:xfrm>
          <a:prstGeom prst="rect">
            <a:avLst/>
          </a:prstGeom>
        </p:spPr>
      </p:pic>
      <p:sp>
        <p:nvSpPr>
          <p:cNvPr id="11" name="CuadroTexto 10">
            <a:extLst>
              <a:ext uri="{FF2B5EF4-FFF2-40B4-BE49-F238E27FC236}">
                <a16:creationId xmlns:a16="http://schemas.microsoft.com/office/drawing/2014/main" id="{45E43CA7-9210-5968-B78B-45925C329253}"/>
              </a:ext>
            </a:extLst>
          </p:cNvPr>
          <p:cNvSpPr txBox="1"/>
          <p:nvPr/>
        </p:nvSpPr>
        <p:spPr>
          <a:xfrm>
            <a:off x="685800" y="5439628"/>
            <a:ext cx="3267113" cy="369332"/>
          </a:xfrm>
          <a:prstGeom prst="rect">
            <a:avLst/>
          </a:prstGeom>
          <a:noFill/>
        </p:spPr>
        <p:txBody>
          <a:bodyPr wrap="square">
            <a:spAutoFit/>
          </a:bodyPr>
          <a:lstStyle/>
          <a:p>
            <a:r>
              <a:rPr lang="en-US" dirty="0" err="1"/>
              <a:t>slab_thickness</a:t>
            </a:r>
            <a:r>
              <a:rPr lang="en-US" dirty="0"/>
              <a:t> = 150nm</a:t>
            </a:r>
            <a:endParaRPr lang="es-ES" dirty="0"/>
          </a:p>
        </p:txBody>
      </p:sp>
      <p:pic>
        <p:nvPicPr>
          <p:cNvPr id="13" name="Imagen 12">
            <a:extLst>
              <a:ext uri="{FF2B5EF4-FFF2-40B4-BE49-F238E27FC236}">
                <a16:creationId xmlns:a16="http://schemas.microsoft.com/office/drawing/2014/main" id="{85FDF6E3-3F61-832C-4589-FF828B653121}"/>
              </a:ext>
            </a:extLst>
          </p:cNvPr>
          <p:cNvPicPr>
            <a:picLocks noChangeAspect="1"/>
          </p:cNvPicPr>
          <p:nvPr/>
        </p:nvPicPr>
        <p:blipFill>
          <a:blip r:embed="rId6"/>
          <a:stretch>
            <a:fillRect/>
          </a:stretch>
        </p:blipFill>
        <p:spPr>
          <a:xfrm>
            <a:off x="6036963" y="1554870"/>
            <a:ext cx="5588819" cy="3486839"/>
          </a:xfrm>
          <a:prstGeom prst="rect">
            <a:avLst/>
          </a:prstGeom>
        </p:spPr>
      </p:pic>
    </p:spTree>
    <p:extLst>
      <p:ext uri="{BB962C8B-B14F-4D97-AF65-F5344CB8AC3E}">
        <p14:creationId xmlns:p14="http://schemas.microsoft.com/office/powerpoint/2010/main" val="1468151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90A31-EA4D-95A6-2C5E-7D0C46CA7028}"/>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0744EA-A8E0-D40D-B1FD-4C37A7BFECC8}"/>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spcBef>
                <a:spcPts val="100"/>
              </a:spcBef>
            </a:pPr>
            <a:r>
              <a:rPr lang="en-US" sz="2500" dirty="0"/>
              <a:t>EXTRA EJERCICIO 1: </a:t>
            </a:r>
            <a:br>
              <a:rPr lang="en-US" sz="2500" dirty="0"/>
            </a:br>
            <a:r>
              <a:rPr lang="en-US" b="0" dirty="0"/>
              <a:t>Repeat the LO.2. wavelength behavior simulations, considering the updated materials and dimensions</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C5AEDF8F-1E47-638E-B7AD-DE8F9D9EB3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A571BAA-9282-B084-D18F-F8176D48F2F8}"/>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4A75EB05-3E07-1AA7-934E-29710A8F4544}"/>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14" name="CuadroTexto 13">
            <a:extLst>
              <a:ext uri="{FF2B5EF4-FFF2-40B4-BE49-F238E27FC236}">
                <a16:creationId xmlns:a16="http://schemas.microsoft.com/office/drawing/2014/main" id="{013B78EF-DAB1-0BE3-963D-9C7ACF01DE8E}"/>
              </a:ext>
            </a:extLst>
          </p:cNvPr>
          <p:cNvSpPr txBox="1"/>
          <p:nvPr/>
        </p:nvSpPr>
        <p:spPr>
          <a:xfrm>
            <a:off x="576943" y="1945986"/>
            <a:ext cx="11199971" cy="249299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En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primer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extra, se </a:t>
            </a:r>
            <a:r>
              <a:rPr lang="en-US" sz="1200" dirty="0" err="1">
                <a:latin typeface="Arial" panose="020B0604020202020204" pitchFamily="34" charset="0"/>
                <a:cs typeface="Arial" panose="020B0604020202020204" pitchFamily="34" charset="0"/>
              </a:rPr>
              <a:t>pide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volver</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simular</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deep y shallow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función</a:t>
            </a:r>
            <a:r>
              <a:rPr lang="en-US" sz="1200" dirty="0">
                <a:latin typeface="Arial" panose="020B0604020202020204" pitchFamily="34" charset="0"/>
                <a:cs typeface="Arial" panose="020B0604020202020204" pitchFamily="34" charset="0"/>
              </a:rPr>
              <a:t> de sus longitudes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después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haber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realizado</a:t>
            </a:r>
            <a:r>
              <a:rPr lang="en-US" sz="1200" dirty="0">
                <a:latin typeface="Arial" panose="020B0604020202020204" pitchFamily="34" charset="0"/>
                <a:cs typeface="Arial" panose="020B0604020202020204" pitchFamily="34" charset="0"/>
              </a:rPr>
              <a:t> las </a:t>
            </a:r>
            <a:r>
              <a:rPr lang="en-US" sz="1200" dirty="0" err="1">
                <a:latin typeface="Arial" panose="020B0604020202020204" pitchFamily="34" charset="0"/>
                <a:cs typeface="Arial" panose="020B0604020202020204" pitchFamily="34" charset="0"/>
              </a:rPr>
              <a:t>modificaciones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mencionadas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diapositiva</a:t>
            </a:r>
            <a:r>
              <a:rPr lang="en-US" sz="1200" dirty="0">
                <a:latin typeface="Arial" panose="020B0604020202020204" pitchFamily="34" charset="0"/>
                <a:cs typeface="Arial" panose="020B0604020202020204" pitchFamily="34" charset="0"/>
              </a:rPr>
              <a:t> anterior. Como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observar</a:t>
            </a:r>
            <a:r>
              <a:rPr lang="en-US" sz="1200" dirty="0">
                <a:latin typeface="Arial" panose="020B0604020202020204" pitchFamily="34" charset="0"/>
                <a:cs typeface="Arial" panose="020B0604020202020204" pitchFamily="34" charset="0"/>
              </a:rPr>
              <a:t>, tanto para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deep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la shallow,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representados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De </a:t>
            </a:r>
            <a:r>
              <a:rPr lang="en-US" sz="1200" dirty="0" err="1">
                <a:latin typeface="Arial" panose="020B0604020202020204" pitchFamily="34" charset="0"/>
                <a:cs typeface="Arial" panose="020B0604020202020204" pitchFamily="34" charset="0"/>
              </a:rPr>
              <a:t>dichos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únicamente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están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primeros</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esto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tal</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explicó</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para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considere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un modo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guiado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ser </a:t>
            </a:r>
            <a:r>
              <a:rPr lang="en-US" sz="1200" dirty="0" err="1">
                <a:latin typeface="Arial" panose="020B0604020202020204" pitchFamily="34" charset="0"/>
                <a:cs typeface="Arial" panose="020B0604020202020204" pitchFamily="34" charset="0"/>
              </a:rPr>
              <a:t>menor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y mayor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Por </a:t>
            </a:r>
            <a:r>
              <a:rPr lang="en-US" sz="1200" dirty="0" err="1">
                <a:latin typeface="Arial" panose="020B0604020202020204" pitchFamily="34" charset="0"/>
                <a:cs typeface="Arial" panose="020B0604020202020204" pitchFamily="34" charset="0"/>
              </a:rPr>
              <a:t>otro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lado</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caso</a:t>
            </a:r>
            <a:r>
              <a:rPr lang="en-US" sz="1200" dirty="0">
                <a:latin typeface="Arial" panose="020B0604020202020204" pitchFamily="34" charset="0"/>
                <a:cs typeface="Arial" panose="020B0604020202020204" pitchFamily="34" charset="0"/>
              </a:rPr>
              <a:t> de la shallow,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observer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propagan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4 </a:t>
            </a:r>
            <a:r>
              <a:rPr lang="en-US" sz="1200" dirty="0" err="1">
                <a:latin typeface="Arial" panose="020B0604020202020204" pitchFamily="34" charset="0"/>
                <a:cs typeface="Arial" panose="020B0604020202020204" pitchFamily="34" charset="0"/>
              </a:rPr>
              <a:t>modos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lo </a:t>
            </a:r>
            <a:r>
              <a:rPr lang="en-US" sz="1200" dirty="0" err="1">
                <a:latin typeface="Arial" panose="020B0604020202020204" pitchFamily="34" charset="0"/>
                <a:cs typeface="Arial" panose="020B0604020202020204" pitchFamily="34" charset="0"/>
              </a:rPr>
              <a:t>mencionado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anteriormente</a:t>
            </a:r>
            <a:r>
              <a:rPr lang="en-US" sz="1200" dirty="0">
                <a:latin typeface="Arial" panose="020B0604020202020204" pitchFamily="34" charset="0"/>
                <a:cs typeface="Arial" panose="020B0604020202020204" pitchFamily="34" charset="0"/>
              </a:rPr>
              <a:t>. Si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de ambas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puede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concluir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shallow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mejor</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confinada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la deep, </a:t>
            </a:r>
            <a:r>
              <a:rPr lang="en-US" sz="1200" dirty="0" err="1">
                <a:latin typeface="Arial" panose="020B0604020202020204" pitchFamily="34" charset="0"/>
                <a:cs typeface="Arial" panose="020B0604020202020204" pitchFamily="34" charset="0"/>
              </a:rPr>
              <a:t>ya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índices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efectivos</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encuentran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de 2.5-2.7, lo </a:t>
            </a:r>
            <a:r>
              <a:rPr lang="en-US" sz="1200" dirty="0" err="1">
                <a:latin typeface="Arial" panose="020B0604020202020204" pitchFamily="34" charset="0"/>
                <a:cs typeface="Arial" panose="020B0604020202020204" pitchFamily="34" charset="0"/>
              </a:rPr>
              <a:t>cual</a:t>
            </a:r>
            <a:r>
              <a:rPr lang="en-US" sz="1200" dirty="0">
                <a:latin typeface="Arial" panose="020B0604020202020204" pitchFamily="34" charset="0"/>
                <a:cs typeface="Arial" panose="020B0604020202020204" pitchFamily="34" charset="0"/>
              </a:rPr>
              <a:t> es un </a:t>
            </a:r>
            <a:r>
              <a:rPr lang="en-US" sz="1200" dirty="0" err="1">
                <a:latin typeface="Arial" panose="020B0604020202020204" pitchFamily="34" charset="0"/>
                <a:cs typeface="Arial" panose="020B0604020202020204" pitchFamily="34" charset="0"/>
              </a:rPr>
              <a:t>rango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alto (</a:t>
            </a:r>
            <a:r>
              <a:rPr lang="en-US" sz="1200" dirty="0" err="1">
                <a:latin typeface="Arial" panose="020B0604020202020204" pitchFamily="34" charset="0"/>
                <a:cs typeface="Arial" panose="020B0604020202020204" pitchFamily="34" charset="0"/>
              </a:rPr>
              <a:t>si</a:t>
            </a:r>
            <a:r>
              <a:rPr lang="en-US" sz="1200" dirty="0">
                <a:latin typeface="Arial" panose="020B0604020202020204" pitchFamily="34" charset="0"/>
                <a:cs typeface="Arial" panose="020B0604020202020204" pitchFamily="34" charset="0"/>
              </a:rPr>
              <a:t> lo </a:t>
            </a:r>
            <a:r>
              <a:rPr lang="en-US" sz="1200" dirty="0" err="1">
                <a:latin typeface="Arial" panose="020B0604020202020204" pitchFamily="34" charset="0"/>
                <a:cs typeface="Arial" panose="020B0604020202020204" pitchFamily="34" charset="0"/>
              </a:rPr>
              <a:t>comparamos</a:t>
            </a:r>
            <a:r>
              <a:rPr lang="en-US" sz="1200" dirty="0">
                <a:latin typeface="Arial" panose="020B0604020202020204" pitchFamily="34" charset="0"/>
                <a:cs typeface="Arial" panose="020B0604020202020204" pitchFamily="34" charset="0"/>
              </a:rPr>
              <a:t> con la </a:t>
            </a:r>
            <a:r>
              <a:rPr lang="en-US" sz="1200" dirty="0" err="1">
                <a:latin typeface="Arial" panose="020B0604020202020204" pitchFamily="34" charset="0"/>
                <a:cs typeface="Arial" panose="020B0604020202020204" pitchFamily="34" charset="0"/>
              </a:rPr>
              <a:t>guía</a:t>
            </a:r>
            <a:r>
              <a:rPr lang="en-US" sz="1200" dirty="0">
                <a:latin typeface="Arial" panose="020B0604020202020204" pitchFamily="34" charset="0"/>
                <a:cs typeface="Arial" panose="020B0604020202020204" pitchFamily="34" charset="0"/>
              </a:rPr>
              <a:t> deep con </a:t>
            </a:r>
            <a:r>
              <a:rPr lang="en-US" sz="1200" dirty="0" err="1">
                <a:latin typeface="Arial" panose="020B0604020202020204" pitchFamily="34" charset="0"/>
                <a:cs typeface="Arial" panose="020B0604020202020204" pitchFamily="34" charset="0"/>
              </a:rPr>
              <a:t>núcleo</a:t>
            </a:r>
            <a:r>
              <a:rPr lang="en-US" sz="1200" dirty="0">
                <a:latin typeface="Arial" panose="020B0604020202020204" pitchFamily="34" charset="0"/>
                <a:cs typeface="Arial" panose="020B0604020202020204" pitchFamily="34" charset="0"/>
              </a:rPr>
              <a:t> de Si, y las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SiN</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ejercicio</a:t>
            </a:r>
            <a:r>
              <a:rPr lang="en-US" sz="1200" dirty="0">
                <a:latin typeface="Arial" panose="020B0604020202020204" pitchFamily="34" charset="0"/>
                <a:cs typeface="Arial" panose="020B0604020202020204" pitchFamily="34" charset="0"/>
              </a:rPr>
              <a:t> 2) y </a:t>
            </a:r>
            <a:r>
              <a:rPr lang="en-US" sz="1200" dirty="0" err="1">
                <a:latin typeface="Arial" panose="020B0604020202020204" pitchFamily="34" charset="0"/>
                <a:cs typeface="Arial" panose="020B0604020202020204" pitchFamily="34" charset="0"/>
              </a:rPr>
              <a:t>está</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muy</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alejado</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índice</a:t>
            </a:r>
            <a:r>
              <a:rPr lang="en-US" sz="1200" dirty="0">
                <a:latin typeface="Arial" panose="020B0604020202020204" pitchFamily="34" charset="0"/>
                <a:cs typeface="Arial" panose="020B0604020202020204" pitchFamily="34" charset="0"/>
              </a:rPr>
              <a:t> de la </a:t>
            </a:r>
            <a:r>
              <a:rPr lang="en-US" sz="1200" dirty="0" err="1">
                <a:latin typeface="Arial" panose="020B0604020202020204" pitchFamily="34" charset="0"/>
                <a:cs typeface="Arial" panose="020B0604020202020204" pitchFamily="34" charset="0"/>
              </a:rPr>
              <a:t>cubierta</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762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34364-F726-4E70-25B0-3E435D5C1DB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32125F2-72B1-EE46-EDCA-70E9C62023F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300nm-1um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A97B9840-8CE3-6CFE-01BD-3EC4C6D414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D79D43A-1D27-0D6C-E491-E20AB4A63AC0}"/>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B2F8AAA4-CF12-78FA-F205-48BC49E6578D}"/>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76910BF-B5E0-B625-B154-D2486D40F9AA}"/>
              </a:ext>
            </a:extLst>
          </p:cNvPr>
          <p:cNvSpPr/>
          <p:nvPr/>
        </p:nvSpPr>
        <p:spPr>
          <a:xfrm>
            <a:off x="1752600" y="1418372"/>
            <a:ext cx="8991600" cy="4525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294A1E6-3AE9-85A7-170D-05FDE54EDE5C}"/>
              </a:ext>
            </a:extLst>
          </p:cNvPr>
          <p:cNvPicPr>
            <a:picLocks noChangeAspect="1"/>
          </p:cNvPicPr>
          <p:nvPr/>
        </p:nvPicPr>
        <p:blipFill>
          <a:blip r:embed="rId5"/>
          <a:stretch>
            <a:fillRect/>
          </a:stretch>
        </p:blipFill>
        <p:spPr>
          <a:xfrm>
            <a:off x="2590800" y="1492414"/>
            <a:ext cx="7703820" cy="4298786"/>
          </a:xfrm>
          <a:prstGeom prst="rect">
            <a:avLst/>
          </a:prstGeom>
        </p:spPr>
      </p:pic>
    </p:spTree>
    <p:extLst>
      <p:ext uri="{BB962C8B-B14F-4D97-AF65-F5344CB8AC3E}">
        <p14:creationId xmlns:p14="http://schemas.microsoft.com/office/powerpoint/2010/main" val="1048823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0A34-D4A6-783C-E5C9-550B71E5B3B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67E14D4-BD77-7AEC-DAA7-97A0211426E2}"/>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spcBef>
                <a:spcPts val="100"/>
              </a:spcBef>
            </a:pPr>
            <a:r>
              <a:rPr lang="en-US" sz="2500" dirty="0"/>
              <a:t>EXTRA EJERCICIO 2: </a:t>
            </a:r>
            <a:br>
              <a:rPr lang="en-US" sz="2500" dirty="0"/>
            </a:br>
            <a:r>
              <a:rPr lang="en-US" b="0" dirty="0"/>
              <a:t>Repeat the LO.3. width dependence analysis, now sweeping in a 300 nm-1 </a:t>
            </a:r>
            <a:r>
              <a:rPr lang="es-ES" altLang="es-ES" b="0" dirty="0">
                <a:latin typeface="Arial" panose="020B0604020202020204" pitchFamily="34" charset="0"/>
                <a:cs typeface="Arial" panose="020B0604020202020204" pitchFamily="34" charset="0"/>
              </a:rPr>
              <a:t>µm</a:t>
            </a:r>
            <a:r>
              <a:rPr lang="en-US" b="0" dirty="0"/>
              <a:t> range.</a:t>
            </a:r>
            <a:endParaRPr lang="en-US" sz="2500" b="0" dirty="0">
              <a:latin typeface="+mj-lt"/>
              <a:cs typeface="Lucida Sans"/>
            </a:endParaRPr>
          </a:p>
        </p:txBody>
      </p:sp>
      <p:pic>
        <p:nvPicPr>
          <p:cNvPr id="83" name="Gráfico 82">
            <a:extLst>
              <a:ext uri="{FF2B5EF4-FFF2-40B4-BE49-F238E27FC236}">
                <a16:creationId xmlns:a16="http://schemas.microsoft.com/office/drawing/2014/main" id="{54AF4C12-805D-5103-5356-9242ED9DC9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A63A4406-85BA-CB34-7018-AA06F0F3BC73}"/>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9064D7DB-E23A-0105-0120-F19F2883C55A}"/>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Rectángulo 1">
            <a:extLst>
              <a:ext uri="{FF2B5EF4-FFF2-40B4-BE49-F238E27FC236}">
                <a16:creationId xmlns:a16="http://schemas.microsoft.com/office/drawing/2014/main" id="{410E4050-E671-8580-AE0E-B5B14B43A399}"/>
              </a:ext>
            </a:extLst>
          </p:cNvPr>
          <p:cNvSpPr/>
          <p:nvPr/>
        </p:nvSpPr>
        <p:spPr>
          <a:xfrm>
            <a:off x="685800" y="1831642"/>
            <a:ext cx="10591800" cy="325321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39222C7F-C85C-D61F-33C8-9EF41C843043}"/>
              </a:ext>
            </a:extLst>
          </p:cNvPr>
          <p:cNvSpPr txBox="1"/>
          <p:nvPr/>
        </p:nvSpPr>
        <p:spPr>
          <a:xfrm>
            <a:off x="685800" y="1905506"/>
            <a:ext cx="10591800" cy="3046988"/>
          </a:xfrm>
          <a:prstGeom prst="rect">
            <a:avLst/>
          </a:prstGeom>
          <a:noFill/>
        </p:spPr>
        <p:txBody>
          <a:bodyPr wrap="square">
            <a:spAutoFit/>
          </a:bodyPr>
          <a:lstStyle/>
          <a:p>
            <a:r>
              <a:rPr lang="es-ES" sz="1200" dirty="0">
                <a:latin typeface="Arial" panose="020B0604020202020204" pitchFamily="34" charset="0"/>
                <a:cs typeface="Arial" panose="020B0604020202020204" pitchFamily="34" charset="0"/>
              </a:rPr>
              <a:t>En esta gráfica se representa cómo varía el índice efectivo de los cuatro primeros modos guiados al cambiar el ancho de la guía de onda entre 0.3 µm y 1 µm. Se observa que, al aumentar el ancho de la guía, el índice efectivo de todos los modos aumenta progresivamente, y esto ocurre porque una guía más ancha permite que el modo se confine mejor dentro del núcleo de silicio.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Además, también se aprecia que al aumentar el ancho comienzan a aparecer más modos guiados, lo que indica que la guía pasa de ser casi monomodo para anchos pequeños hasta 0.4 </a:t>
            </a:r>
            <a:r>
              <a:rPr lang="es-ES" altLang="es-ES" sz="1200" dirty="0">
                <a:latin typeface="Arial" panose="020B0604020202020204" pitchFamily="34" charset="0"/>
                <a:cs typeface="Arial" panose="020B0604020202020204" pitchFamily="34" charset="0"/>
              </a:rPr>
              <a:t>µm</a:t>
            </a:r>
            <a:r>
              <a:rPr lang="es-ES" sz="1200" dirty="0">
                <a:latin typeface="Arial" panose="020B0604020202020204" pitchFamily="34" charset="0"/>
                <a:cs typeface="Arial" panose="020B0604020202020204" pitchFamily="34" charset="0"/>
              </a:rPr>
              <a:t>, a soportar varios modos cuando el ancho es mayor. Se observa que el modo 0 corresponde al modo TE0,  y mantiene su polarización TE en todo el barrido: esto se debe a que es el modo fundamental y el más confinado en la guía, por lo que su polarización apenas cambia al variar el ancho.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cambio, los modos superiores no son tan estables y su distribución de campo cambia más al modificar el ancho de la guía, por lo que pueden presentar un comportamiento más TE o más TM. Además, el </a:t>
            </a:r>
            <a:r>
              <a:rPr lang="es-ES" sz="1200" dirty="0" err="1">
                <a:latin typeface="Arial" panose="020B0604020202020204" pitchFamily="34" charset="0"/>
                <a:cs typeface="Arial" panose="020B0604020202020204" pitchFamily="34" charset="0"/>
              </a:rPr>
              <a:t>modesolver</a:t>
            </a:r>
            <a:r>
              <a:rPr lang="es-ES" sz="1200" dirty="0">
                <a:latin typeface="Arial" panose="020B0604020202020204" pitchFamily="34" charset="0"/>
                <a:cs typeface="Arial" panose="020B0604020202020204" pitchFamily="34" charset="0"/>
              </a:rPr>
              <a:t> ordena los modos según su índice efectivo en cada simulación, por lo que en los modos superiores la etiqueta puede cambiar cuando los valores de índice efectivo se acercan entre sí.</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Como conclusión, podemos decir que los modos guiados mantienen prácticamente el mismo comportamiento tanto cuando el material del núcleo es </a:t>
            </a:r>
            <a:r>
              <a:rPr lang="es-ES" sz="1200" dirty="0" err="1">
                <a:latin typeface="Arial" panose="020B0604020202020204" pitchFamily="34" charset="0"/>
                <a:cs typeface="Arial" panose="020B0604020202020204" pitchFamily="34" charset="0"/>
              </a:rPr>
              <a:t>SiN</a:t>
            </a:r>
            <a:r>
              <a:rPr lang="es-ES" sz="1200" dirty="0">
                <a:latin typeface="Arial" panose="020B0604020202020204" pitchFamily="34" charset="0"/>
                <a:cs typeface="Arial" panose="020B0604020202020204" pitchFamily="34" charset="0"/>
              </a:rPr>
              <a:t>, como cuando es Si: lo único que cambiaría es que en este último, cuando dos modos tienen un índice efectivo muy similar, se intercambian el tipo de polarización. </a:t>
            </a:r>
          </a:p>
        </p:txBody>
      </p:sp>
    </p:spTree>
    <p:extLst>
      <p:ext uri="{BB962C8B-B14F-4D97-AF65-F5344CB8AC3E}">
        <p14:creationId xmlns:p14="http://schemas.microsoft.com/office/powerpoint/2010/main" val="212277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6822-3A24-FB58-76CE-9324C16E45E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A8B6833-B776-2CE7-8E76-D65DBBF61FA2}"/>
              </a:ext>
            </a:extLst>
          </p:cNvPr>
          <p:cNvSpPr txBox="1">
            <a:spLocks noGrp="1"/>
          </p:cNvSpPr>
          <p:nvPr>
            <p:ph type="title"/>
          </p:nvPr>
        </p:nvSpPr>
        <p:spPr>
          <a:xfrm>
            <a:off x="685800" y="408883"/>
            <a:ext cx="10994410"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to 30</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F8CA8DF3-52A3-9289-8DE3-7B7BB0DB4A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811EF6B9-DF66-2F6E-E308-A01D0BE1C4E5}"/>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BA473A4B-4497-23A4-301A-204E9E70628F}"/>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7" name="Rectángulo 6">
            <a:extLst>
              <a:ext uri="{FF2B5EF4-FFF2-40B4-BE49-F238E27FC236}">
                <a16:creationId xmlns:a16="http://schemas.microsoft.com/office/drawing/2014/main" id="{E42F5523-C7A7-5575-059C-24A284198CE1}"/>
              </a:ext>
            </a:extLst>
          </p:cNvPr>
          <p:cNvSpPr/>
          <p:nvPr/>
        </p:nvSpPr>
        <p:spPr>
          <a:xfrm>
            <a:off x="609441" y="1418373"/>
            <a:ext cx="11199971" cy="402125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8DCAFA40-BCD7-345B-29CF-394AE5BE4A73}"/>
              </a:ext>
            </a:extLst>
          </p:cNvPr>
          <p:cNvSpPr txBox="1"/>
          <p:nvPr/>
        </p:nvSpPr>
        <p:spPr>
          <a:xfrm>
            <a:off x="6078894" y="1816202"/>
            <a:ext cx="6235717"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Total Loss (dB/90º) vs R &amp; neff_TE0 vs R</a:t>
            </a:r>
          </a:p>
        </p:txBody>
      </p:sp>
      <p:pic>
        <p:nvPicPr>
          <p:cNvPr id="5" name="Imagen 4">
            <a:extLst>
              <a:ext uri="{FF2B5EF4-FFF2-40B4-BE49-F238E27FC236}">
                <a16:creationId xmlns:a16="http://schemas.microsoft.com/office/drawing/2014/main" id="{D4EFAC10-DFCF-3A7B-C489-24213B4545D2}"/>
              </a:ext>
            </a:extLst>
          </p:cNvPr>
          <p:cNvPicPr>
            <a:picLocks noChangeAspect="1"/>
          </p:cNvPicPr>
          <p:nvPr/>
        </p:nvPicPr>
        <p:blipFill>
          <a:blip r:embed="rId5"/>
          <a:stretch>
            <a:fillRect/>
          </a:stretch>
        </p:blipFill>
        <p:spPr>
          <a:xfrm>
            <a:off x="685800" y="1442806"/>
            <a:ext cx="4887895" cy="3920691"/>
          </a:xfrm>
          <a:prstGeom prst="rect">
            <a:avLst/>
          </a:prstGeom>
        </p:spPr>
      </p:pic>
      <p:pic>
        <p:nvPicPr>
          <p:cNvPr id="9" name="Imagen 8">
            <a:extLst>
              <a:ext uri="{FF2B5EF4-FFF2-40B4-BE49-F238E27FC236}">
                <a16:creationId xmlns:a16="http://schemas.microsoft.com/office/drawing/2014/main" id="{374C1AFF-12D3-AEAD-1EC6-2DD02BE72CA0}"/>
              </a:ext>
            </a:extLst>
          </p:cNvPr>
          <p:cNvPicPr>
            <a:picLocks noChangeAspect="1"/>
          </p:cNvPicPr>
          <p:nvPr/>
        </p:nvPicPr>
        <p:blipFill>
          <a:blip r:embed="rId6"/>
          <a:stretch>
            <a:fillRect/>
          </a:stretch>
        </p:blipFill>
        <p:spPr>
          <a:xfrm>
            <a:off x="5750889" y="1480423"/>
            <a:ext cx="6032086" cy="3920691"/>
          </a:xfrm>
          <a:prstGeom prst="rect">
            <a:avLst/>
          </a:prstGeom>
        </p:spPr>
      </p:pic>
    </p:spTree>
    <p:extLst>
      <p:ext uri="{BB962C8B-B14F-4D97-AF65-F5344CB8AC3E}">
        <p14:creationId xmlns:p14="http://schemas.microsoft.com/office/powerpoint/2010/main" val="2252519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0346F-1C11-6CE4-0C56-1065A674B6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5AB3941-E729-8651-6AFB-3F9FB2BFBCF8}"/>
              </a:ext>
            </a:extLst>
          </p:cNvPr>
          <p:cNvSpPr txBox="1">
            <a:spLocks noGrp="1"/>
          </p:cNvSpPr>
          <p:nvPr>
            <p:ph type="title"/>
          </p:nvPr>
        </p:nvSpPr>
        <p:spPr>
          <a:xfrm>
            <a:off x="583019" y="408883"/>
            <a:ext cx="11199971" cy="1782539"/>
          </a:xfrm>
          <a:prstGeom prst="rect">
            <a:avLst/>
          </a:prstGeom>
        </p:spPr>
        <p:txBody>
          <a:bodyPr vert="horz" wrap="square" lIns="0" tIns="12700" rIns="0" bIns="0" rtlCol="0">
            <a:spAutoFit/>
          </a:bodyPr>
          <a:lstStyle/>
          <a:p>
            <a:pPr marL="12700">
              <a:spcBef>
                <a:spcPts val="100"/>
              </a:spcBef>
            </a:pPr>
            <a:r>
              <a:rPr lang="en-US" sz="2500" dirty="0"/>
              <a:t>EXTRA EJERCICIO 3: </a:t>
            </a:r>
            <a:br>
              <a:rPr lang="en-US" sz="2500" dirty="0"/>
            </a:br>
            <a:r>
              <a:rPr lang="en-US" b="0" dirty="0"/>
              <a:t>Find the safe radius for this technology using silicon as the core material. Consider sweeping the radius in a 5</a:t>
            </a:r>
            <a:r>
              <a:rPr lang="es-ES" altLang="es-ES" dirty="0">
                <a:latin typeface="Arial" panose="020B0604020202020204" pitchFamily="34" charset="0"/>
                <a:cs typeface="Arial" panose="020B0604020202020204" pitchFamily="34" charset="0"/>
              </a:rPr>
              <a:t> </a:t>
            </a:r>
            <a:r>
              <a:rPr lang="es-ES" altLang="es-ES" b="0" dirty="0">
                <a:latin typeface="Arial" panose="020B0604020202020204" pitchFamily="34" charset="0"/>
                <a:cs typeface="Arial" panose="020B0604020202020204" pitchFamily="34" charset="0"/>
              </a:rPr>
              <a:t>µm</a:t>
            </a:r>
            <a:r>
              <a:rPr lang="en-US" b="0" dirty="0"/>
              <a:t> to 30</a:t>
            </a:r>
            <a:r>
              <a:rPr lang="es-ES" altLang="es-ES" b="0" dirty="0">
                <a:latin typeface="Arial" panose="020B0604020202020204" pitchFamily="34" charset="0"/>
                <a:cs typeface="Arial" panose="020B0604020202020204" pitchFamily="34" charset="0"/>
              </a:rPr>
              <a:t> µm</a:t>
            </a:r>
            <a:r>
              <a:rPr lang="en-US" b="0" dirty="0"/>
              <a:t> range. </a:t>
            </a:r>
            <a:br>
              <a:rPr lang="en-US" b="0" dirty="0"/>
            </a:b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CC6507C-92BA-53C7-C456-8329F38B79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0E4FA01-F4C5-3E20-A4C9-EDA76A24D394}"/>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3683F575-02B7-209A-F54D-D143B334522B}"/>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2" name="CuadroTexto 1">
            <a:extLst>
              <a:ext uri="{FF2B5EF4-FFF2-40B4-BE49-F238E27FC236}">
                <a16:creationId xmlns:a16="http://schemas.microsoft.com/office/drawing/2014/main" id="{0B9C3132-D722-0D81-F5A5-5CA88DA6E9D0}"/>
              </a:ext>
            </a:extLst>
          </p:cNvPr>
          <p:cNvSpPr txBox="1"/>
          <p:nvPr/>
        </p:nvSpPr>
        <p:spPr>
          <a:xfrm>
            <a:off x="583019" y="1612918"/>
            <a:ext cx="11199971" cy="304698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which is the safe radius?, consider safe means less than 0.1 dB/90º.</a:t>
            </a:r>
          </a:p>
          <a:p>
            <a:pPr algn="just"/>
            <a:endParaRPr lang="en-US" sz="1200" u="sng"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este caso se ha considerado una pérdida de propagación mayor, de 3 dB/cm.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En la gráfica de pérdidas de la izquierda se observa un comportamiento similar al descrito previamente: las pérdidas de modo disminuyen al aumentar el radio de curvatura, mientras que las pérdidas de propagación aumentan debido al mayor recorrido del modo. Sin embargo, al considerar una pérdida de propagación mayor, la contribución de estas pérdidas es más significativa incluso siendo radios relativamente pequeños los simulados.</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otro lado, en la gráfica del índice efectivo en función del radio de curvatura, se observa que los valores son considerablemente mayores que en el caso del nitruro de silicio, situándose alrededor de 3. Esto se debe al mayor índice de refracción del silicio, que provoca un confinamiento más fuerte del modo dentro del núcleo. A medida que el radio de curvatura aumenta, el índice efectivo disminuye ligeramente y tiende a estabilizarse, ya que la guía se comporta cada vez más como una guía recta.</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Por último, podríamos decir que el rango de radios óptimos de 10-15 </a:t>
            </a:r>
            <a:r>
              <a:rPr lang="es-ES" altLang="es-ES" sz="1200" dirty="0">
                <a:latin typeface="Arial" panose="020B0604020202020204" pitchFamily="34" charset="0"/>
                <a:cs typeface="Arial" panose="020B0604020202020204" pitchFamily="34" charset="0"/>
              </a:rPr>
              <a:t>µm</a:t>
            </a:r>
            <a:r>
              <a:rPr lang="es-ES" sz="1200" dirty="0">
                <a:latin typeface="Arial" panose="020B0604020202020204" pitchFamily="34" charset="0"/>
                <a:cs typeface="Arial" panose="020B0604020202020204" pitchFamily="34" charset="0"/>
              </a:rPr>
              <a:t>, mientras que el rango de radios seguros va a ser de todos los valores simulados como mínimo, ya que para todos estos radios, su suma de pérdidas es menor a 0.1 dB.</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0442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413C18-69A6-5235-15E3-9C0CB71B3A36}"/>
              </a:ext>
            </a:extLst>
          </p:cNvPr>
          <p:cNvSpPr>
            <a:spLocks noGrp="1"/>
          </p:cNvSpPr>
          <p:nvPr>
            <p:ph type="title"/>
          </p:nvPr>
        </p:nvSpPr>
        <p:spPr>
          <a:xfrm>
            <a:off x="590550" y="206752"/>
            <a:ext cx="10991850" cy="384721"/>
          </a:xfrm>
        </p:spPr>
        <p:txBody>
          <a:bodyPr/>
          <a:lstStyle/>
          <a:p>
            <a:r>
              <a:rPr lang="es-ES" sz="2500" dirty="0"/>
              <a:t>EXTRA COMPARACIÓN DE TECNOLOGÍAS  </a:t>
            </a:r>
          </a:p>
        </p:txBody>
      </p:sp>
      <p:sp>
        <p:nvSpPr>
          <p:cNvPr id="4" name="Marcador de pie de página 3">
            <a:extLst>
              <a:ext uri="{FF2B5EF4-FFF2-40B4-BE49-F238E27FC236}">
                <a16:creationId xmlns:a16="http://schemas.microsoft.com/office/drawing/2014/main" id="{7029C5E8-446D-8695-F0B2-81F704298BC7}"/>
              </a:ext>
            </a:extLst>
          </p:cNvPr>
          <p:cNvSpPr>
            <a:spLocks noGrp="1"/>
          </p:cNvSpPr>
          <p:nvPr>
            <p:ph type="ftr" sz="quarter" idx="5"/>
          </p:nvPr>
        </p:nvSpPr>
        <p:spPr/>
        <p:txBody>
          <a:bodyPr/>
          <a:lstStyle/>
          <a:p>
            <a:pPr marL="12700">
              <a:spcBef>
                <a:spcPts val="15"/>
              </a:spcBef>
            </a:pPr>
            <a:r>
              <a:rPr lang="es-ES" spc="-5"/>
              <a:t>LAB 1.0 WAVEGUIDES</a:t>
            </a:r>
            <a:endParaRPr lang="es-ES" spc="-5" dirty="0"/>
          </a:p>
        </p:txBody>
      </p:sp>
      <p:sp>
        <p:nvSpPr>
          <p:cNvPr id="5" name="Marcador de número de diapositiva 4">
            <a:extLst>
              <a:ext uri="{FF2B5EF4-FFF2-40B4-BE49-F238E27FC236}">
                <a16:creationId xmlns:a16="http://schemas.microsoft.com/office/drawing/2014/main" id="{158BDCF7-B2DB-ECDC-77EC-73ED88285554}"/>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6" name="Título 1">
            <a:extLst>
              <a:ext uri="{FF2B5EF4-FFF2-40B4-BE49-F238E27FC236}">
                <a16:creationId xmlns:a16="http://schemas.microsoft.com/office/drawing/2014/main" id="{34FCCF26-CB2E-17A5-92B7-0500330FFE10}"/>
              </a:ext>
            </a:extLst>
          </p:cNvPr>
          <p:cNvSpPr txBox="1">
            <a:spLocks/>
          </p:cNvSpPr>
          <p:nvPr/>
        </p:nvSpPr>
        <p:spPr>
          <a:xfrm>
            <a:off x="586237" y="795110"/>
            <a:ext cx="1099185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b="0" kern="0" dirty="0"/>
              <a:t>Resumen de las diferencias entre la guía de nitruro de silicio y la guía de sílice</a:t>
            </a:r>
          </a:p>
        </p:txBody>
      </p:sp>
      <p:sp>
        <p:nvSpPr>
          <p:cNvPr id="7" name="CuadroTexto 6">
            <a:extLst>
              <a:ext uri="{FF2B5EF4-FFF2-40B4-BE49-F238E27FC236}">
                <a16:creationId xmlns:a16="http://schemas.microsoft.com/office/drawing/2014/main" id="{5A8E6D7A-D3D6-BEF2-15D4-17B7912C4A94}"/>
              </a:ext>
            </a:extLst>
          </p:cNvPr>
          <p:cNvSpPr txBox="1"/>
          <p:nvPr/>
        </p:nvSpPr>
        <p:spPr>
          <a:xfrm>
            <a:off x="482176" y="1443841"/>
            <a:ext cx="11199971" cy="452431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La elección entre el Silicio y el Nitruro de Silicio como materiales de núcleo define fundamentalmente las capacidades de un diseño fotónico. El Silicio, gracias a su elevado índice de refracción (3,47) , permite alcanzar un diseño más compacto al poder confinar mucho mejor los modos. Esta característica facilita la reducción del ancho de las guías, aunque introduce un compromiso crítico de diseño: la guía de Silicio se vuelve multimodo con gran rapidez. Para garantizar un funcionamiento puramente monomodo, el ancho debe mantenerse estrictamente por debajo de 0.4 µm, ya que superado este límite comienzan a surgir modos superiores que generan interferencias intermodales. Esto con la guía de nitruro de silicio no sucede, ya que debido a su índice de refracción (1.99) no están tan bien confinados los modos y se pueden diseñar guías más anchas de hasta 1,2 µm sin que lleguen a ser multimodo.</a:t>
            </a:r>
          </a:p>
          <a:p>
            <a:pPr lvl="0" eaLnBrk="0" fontAlgn="base" hangingPunct="0">
              <a:spcBef>
                <a:spcPct val="0"/>
              </a:spcBef>
              <a:spcAft>
                <a:spcPct val="0"/>
              </a:spcAft>
            </a:pPr>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En cuanto a la flexibilidad del diseño y la robustez, la tecnología de Silicio demuestra una tolerancia significativamente mayor a radios de curvatura reducidos. Mientras que el Nitruro de Silicio requiere radios superiores a los 30 µm para mantener las pérdidas totales por debajo del límite seguro de 0.1 dB/90</a:t>
            </a:r>
            <a:r>
              <a:rPr lang="es-ES" altLang="es-ES" sz="1200" b="1" dirty="0">
                <a:latin typeface="Arial" panose="020B0604020202020204" pitchFamily="34" charset="0"/>
                <a:cs typeface="Arial" panose="020B0604020202020204" pitchFamily="34" charset="0"/>
              </a:rPr>
              <a:t>°</a:t>
            </a:r>
            <a:r>
              <a:rPr lang="es-ES" altLang="es-ES" sz="1200" dirty="0">
                <a:latin typeface="Arial" panose="020B0604020202020204" pitchFamily="34" charset="0"/>
                <a:cs typeface="Arial" panose="020B0604020202020204" pitchFamily="34" charset="0"/>
              </a:rPr>
              <a:t>, el Silicio es capaz de operar con pérdidas mínimas incluso en radios tan extremos como 5 µm. Esto se debe a que el alto confinamiento del Silicio minimiza el desplazamiento del modo hacia el borde exterior de la guía durante la curva, un efecto que en el Nitruro se traduce en pérdidas de modo exponenciales cuando el radio es pequeño.</a:t>
            </a:r>
          </a:p>
          <a:p>
            <a:pPr lvl="0" eaLnBrk="0" fontAlgn="base" hangingPunct="0">
              <a:spcBef>
                <a:spcPct val="0"/>
              </a:spcBef>
              <a:spcAft>
                <a:spcPct val="0"/>
              </a:spcAft>
            </a:pPr>
            <a:endParaRPr lang="es-ES" altLang="es-ES" sz="12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s-ES" altLang="es-ES" sz="1200" dirty="0">
                <a:latin typeface="Arial" panose="020B0604020202020204" pitchFamily="34" charset="0"/>
                <a:cs typeface="Arial" panose="020B0604020202020204" pitchFamily="34" charset="0"/>
              </a:rPr>
              <a:t>Finalmente, existe una distinción notable en la estabilidad de la polarización. Debido al intenso confinamiento en las guías de Silicio, los modos superiores presentan una menor estabilidad y tienden a intercambiar su tipo de polarización (TE/TM) con mayor facilidad, especialmente cuando sus índices efectivos son similares. En contraste, aunque el Nitruro ofrece un índice de confinamiento menor, proporciona un entorno donde la propagación de modos superiores, aunque presente, puede ser más predecible bajo ciertas dimensiones, permitiendo un equilibrio distinto entre la facilidad de fabricación y el rendimiento óptico del dispositivo.</a:t>
            </a:r>
          </a:p>
          <a:p>
            <a:pPr algn="just"/>
            <a:endParaRPr lang="es-ES" altLang="es-ES" sz="1200" dirty="0">
              <a:latin typeface="Arial" panose="020B0604020202020204" pitchFamily="34" charset="0"/>
              <a:cs typeface="Arial" panose="020B0604020202020204" pitchFamily="34" charset="0"/>
            </a:endParaRPr>
          </a:p>
          <a:p>
            <a:pPr algn="just"/>
            <a:endParaRPr lang="es-ES" altLang="es-E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640294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7" y="265520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dirty="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1863</TotalTime>
  <Words>4120</Words>
  <Application>Microsoft Office PowerPoint</Application>
  <PresentationFormat>Panorámica</PresentationFormat>
  <Paragraphs>231</Paragraphs>
  <Slides>23</Slides>
  <Notes>19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 – Effective index of a waveguide </vt:lpstr>
      <vt:lpstr>Learning outcome #1 – Effective index of a waveguide </vt:lpstr>
      <vt:lpstr>Learning outcome #2 – Wavelength behavior Wavelength 1.5-1.6 µm (step 0.01 µm) – width 1.2 µm</vt:lpstr>
      <vt:lpstr>Learning outcome #2 – Wavelength behavior Wavelength 1.5-1.6 µm (step 0.01 µm) – width 1.2 µm</vt:lpstr>
      <vt:lpstr>Learning outcome #2 – Wavelength behavior Wavelength 1.5-1.6 µm (step 0.01 µm) – width 1.2 µm</vt:lpstr>
      <vt:lpstr>Learning outcome #2 – Wavelength behavior Wavelength 1.5-1.6 µm (step 0.01 µm) – width 1.2 µm</vt:lpstr>
      <vt:lpstr>Learning outcome #3 – Width dependence Width 0.6 - 1.6 µm (step 0.1 µm) – Wavelength 1.55 µm </vt:lpstr>
      <vt:lpstr>Learning outcome #3 – Width dependence Width 0.6 - 1.6 µm (step 0.1 µm) – Wavelength 1.55 µm </vt:lpstr>
      <vt:lpstr>Learning outcome #4 – Waveguide compact model - Find the compact models of the following waveguides:  Deep waveguide, h=300nm, w=1.2 µm   - Shallow waveguide, core h=300nm, slab h=150 nm, w = 1.2um  </vt:lpstr>
      <vt:lpstr>Learning outcome #4 – Waveguide compact model - Find the compact models of the following waveguides:  Deep waveguide, h=300nm, w=1.2 µm   - Shallow waveguide, core h=300nm, slab h=150 nm, w = 1.2um  </vt:lpstr>
      <vt:lpstr>Learning outcome #5 – Bend waveguide radius vs. loss – deep Find  neff_TE0 for wvl 1.55 µm, width 1.2 µm for R=25,50,75,100, 125,150 µm </vt:lpstr>
      <vt:lpstr>Learning outcome #5 – Bend waveguide radius vs. loss – deep Find  neff_TE0 for wvl 1.55 µm, width 1.2 µm for R=25,50,75,100, 125,150 µm </vt:lpstr>
      <vt:lpstr>EJERCICIOS EXTRA   </vt:lpstr>
      <vt:lpstr>EXTRA EJERCICIO 1:  Repeat the LO.2. wavelength behavior simulations, considering the updated materials and dimensions  </vt:lpstr>
      <vt:lpstr>EXTRA EJERCICIO 1:  Repeat the LO.2. wavelength behavior simulations, considering the updated materials and dimensions  </vt:lpstr>
      <vt:lpstr>EXTRA EJERCICIO 2:  Repeat the LO.3. width dependence analysis, now sweeping in a 300nm-1um range.</vt:lpstr>
      <vt:lpstr>EXTRA EJERCICIO 2:  Repeat the LO.3. width dependence analysis, now sweeping in a 300 nm-1 µm range.</vt:lpstr>
      <vt:lpstr>EXTRA EJERCICIO 3:  Find the safe radius for this technology using silicon as the core material. Consider sweeping the radius in a 5 µm to 30 µm range.   </vt:lpstr>
      <vt:lpstr>EXTRA EJERCICIO 3:  Find the safe radius for this technology using silicon as the core material. Consider sweeping the radius in a 5 µm to 30 µm range.   </vt:lpstr>
      <vt:lpstr>EXTRA COMPARACIÓN DE TECNOLOGÍAS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Raúl Salido Calatayud</cp:lastModifiedBy>
  <cp:revision>32</cp:revision>
  <dcterms:created xsi:type="dcterms:W3CDTF">2025-01-27T02:46:57Z</dcterms:created>
  <dcterms:modified xsi:type="dcterms:W3CDTF">2026-03-15T11:44:25Z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