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256" r:id="rId2"/>
    <p:sldId id="295" r:id="rId3"/>
    <p:sldId id="290" r:id="rId4"/>
    <p:sldId id="298" r:id="rId5"/>
    <p:sldId id="302" r:id="rId6"/>
    <p:sldId id="291" r:id="rId7"/>
    <p:sldId id="301" r:id="rId8"/>
    <p:sldId id="292" r:id="rId9"/>
    <p:sldId id="303" r:id="rId10"/>
    <p:sldId id="297" r:id="rId11"/>
    <p:sldId id="304" r:id="rId12"/>
    <p:sldId id="293" r:id="rId13"/>
    <p:sldId id="306" r:id="rId14"/>
    <p:sldId id="309" r:id="rId15"/>
    <p:sldId id="308" r:id="rId16"/>
    <p:sldId id="310" r:id="rId17"/>
    <p:sldId id="311" r:id="rId18"/>
    <p:sldId id="312" r:id="rId19"/>
    <p:sldId id="305" r:id="rId20"/>
    <p:sldId id="307" r:id="rId21"/>
    <p:sldId id="288" r:id="rId2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82" d="100"/>
          <a:sy n="82" d="100"/>
        </p:scale>
        <p:origin x="114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11/03/2026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11/03/2026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B99FA-97E9-FC7D-2B9A-BA72659331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028ACA-2CBF-8F75-32D0-881978CDFA9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DC834A5-D89E-6306-39BC-39F084B00FD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1E4BC98-71A5-DEF9-0FC1-EE9BE6B25C19}"/>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352620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7379-E8F7-0EEB-24B8-B37B4D10ED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99F7970-F455-DA80-F81B-AD9620714A0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1013AFA-2D76-E2A2-0A6B-B6931F9B271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898D18-FB82-D342-4D88-F5E6F4C4CBAF}"/>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285404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DEB1E-5176-F287-14B3-D6364A2089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24B29C-89F6-0631-BFB6-DEAC27C9516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80B46AA-E1A4-017C-CF86-9ED5E1E7E8C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745E78A-B74C-7E42-7D6E-923EF94C8AB2}"/>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4031572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3668B-1BDE-E588-A700-CF53A78517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69881F-BD8C-A12F-65E4-4D38868345F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8C4B1F-4A34-106B-FC71-A08E8F622B6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DC752FB-22D8-AE5E-A74D-882F59A7EE23}"/>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334058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49ECA-B518-50D2-8604-23126DCCD3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B53A5A-0048-C702-8F7E-8602245471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75348C2-C668-42AD-11C3-D9A2AAB49F1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E2FB511-3713-07BB-835C-A6009AC63F50}"/>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4056018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6408-1DE0-A656-A80B-1236EC1397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D7B021-1265-D78A-7F4F-E71E8E9E28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224371-A96C-7DD9-5725-A1ABAE701B1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E52CE88-5FEE-6A1A-9972-51BE52A267EA}"/>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602641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FE13D-3B4E-739F-356B-1ED6EACA317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17FAAF-7923-8437-91A7-199F79AB01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6093DF6-FD67-A5BB-E03C-1655C8630A6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61BD152-8B49-F521-00DA-4812CCF7624A}"/>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757885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0610B-BED1-5D98-B16F-3464706DCD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BE0DE1-8042-E014-B858-8CA1F6BE23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5C018B-F255-FD53-2F5B-3A2C6430401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C4E1FFA-B94C-4CDB-A485-79DF4A7A5B37}"/>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3235434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A68AC-C58A-846E-7F46-638880890E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0D757F-ED03-5507-C87C-1D4AE90643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9951EA6-7512-C325-406C-2DEFF3221B7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0378E57-4CF7-C85F-6E70-31D8A10988B4}"/>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321573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A2924-4DE5-DB9A-502C-CD2C5F87BC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CE5034-74D5-8549-84B9-24C49876E6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1E3FC3-B083-70D9-3AB0-53D58AE402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AD32042-FA4B-3BEE-66AC-A5B970A1239D}"/>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29433651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50DEA-1BDB-A16C-45B1-0AC88190C4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67B5BE-CD77-28ED-9AD6-E16A79DE425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CA1DCA-6470-56DA-C4DC-28B8BFD3F2B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4C01E22-D5AD-CE4C-3CED-5ACD260915D3}"/>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30143356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4C9DC-82CC-4670-22D4-5992593A56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74CF7F-E690-9508-0B5F-2BA0A5C0641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DAB5C4-3DE9-E2AC-1B13-49A58BDA598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90CFDBC-951D-3FB9-8D9B-0680D6DEAB33}"/>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1117091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BE712-D320-AEAC-AE88-1D20EF6D62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27AAAF-A4A4-0842-375C-2CCF552A567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CC4585-06EE-4A93-5FD9-1010BAE00E6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332B67C-6D68-F307-323F-B762197FFD2F}"/>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68104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70.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Lidia Tórtola Juan y Raúl Salido Calatayud</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
        <p:nvSpPr>
          <p:cNvPr id="2" name="CuadroTexto 1">
            <a:extLst>
              <a:ext uri="{FF2B5EF4-FFF2-40B4-BE49-F238E27FC236}">
                <a16:creationId xmlns:a16="http://schemas.microsoft.com/office/drawing/2014/main" id="{B0D34455-D259-6803-6157-D4D57EF20FC9}"/>
              </a:ext>
            </a:extLst>
          </p:cNvPr>
          <p:cNvSpPr txBox="1"/>
          <p:nvPr/>
        </p:nvSpPr>
        <p:spPr>
          <a:xfrm>
            <a:off x="2667000" y="5911435"/>
            <a:ext cx="8305800" cy="369332"/>
          </a:xfrm>
          <a:prstGeom prst="rect">
            <a:avLst/>
          </a:prstGeom>
          <a:noFill/>
        </p:spPr>
        <p:txBody>
          <a:bodyPr wrap="square">
            <a:spAutoFit/>
          </a:bodyPr>
          <a:lstStyle/>
          <a:p>
            <a:r>
              <a:rPr lang="es-ES" dirty="0"/>
              <a:t>URL </a:t>
            </a:r>
            <a:r>
              <a:rPr lang="es-ES" dirty="0" err="1"/>
              <a:t>direction</a:t>
            </a:r>
            <a:r>
              <a:rPr lang="es-ES" dirty="0"/>
              <a:t>: https://github.com/cccanvas-upv/cifoin-lab1/tree/Lab1_Lidia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materials, output, results.</a:t>
            </a:r>
          </a:p>
          <a:p>
            <a:pPr marL="342900" indent="-342900" algn="just">
              <a:buFont typeface="Arial" panose="020B0604020202020204" pitchFamily="34" charset="0"/>
              <a:buChar char="•"/>
            </a:pPr>
            <a:r>
              <a:rPr lang="en-US" sz="2000" dirty="0"/>
              <a:t>Explain how to run a simulation for a particular cross-section. </a:t>
            </a:r>
          </a:p>
          <a:p>
            <a:pPr marL="342900" indent="-342900" algn="just">
              <a:buFont typeface="Arial" panose="020B0604020202020204" pitchFamily="34" charset="0"/>
              <a:buChar char="•"/>
            </a:pPr>
            <a:r>
              <a:rPr lang="en-US" sz="2000" dirty="0"/>
              <a:t>Showcase how to change between shallow and deep waveguide.</a:t>
            </a:r>
          </a:p>
          <a:p>
            <a:pPr marL="342900" indent="-342900" algn="just">
              <a:buFont typeface="Arial" panose="020B0604020202020204" pitchFamily="34" charset="0"/>
              <a:buChar char="•"/>
            </a:pPr>
            <a:r>
              <a:rPr lang="en-US" sz="2000" dirty="0"/>
              <a:t>Describe how to change the wavelength and width for the waveguide analysis.</a:t>
            </a:r>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a:t>
            </a:r>
            <a:r>
              <a:rPr lang="en-US" sz="2000" dirty="0" err="1"/>
              <a:t>neff</a:t>
            </a:r>
            <a:r>
              <a:rPr lang="en-US" sz="2000" dirty="0"/>
              <a:t> …)</a:t>
            </a:r>
            <a:endParaRPr lang="en-US" sz="2000" b="1" i="1"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534989" y="4221458"/>
            <a:ext cx="11047570"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Para la </a:t>
            </a:r>
            <a:r>
              <a:rPr lang="en-US" sz="1200" dirty="0" err="1">
                <a:latin typeface="Arial" panose="020B0604020202020204" pitchFamily="34" charset="0"/>
                <a:cs typeface="Arial" panose="020B0604020202020204" pitchFamily="34" charset="0"/>
              </a:rPr>
              <a:t>realización</a:t>
            </a:r>
            <a:r>
              <a:rPr lang="en-US" sz="1200" dirty="0">
                <a:latin typeface="Arial" panose="020B0604020202020204" pitchFamily="34" charset="0"/>
                <a:cs typeface="Arial" panose="020B0604020202020204" pitchFamily="34" charset="0"/>
              </a:rPr>
              <a:t> del primer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usado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siguientes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materiales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nitruro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y dioxide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llevar</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cabo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simulación</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éxito</a:t>
            </a:r>
            <a:r>
              <a:rPr lang="en-US" sz="1200" dirty="0">
                <a:latin typeface="Arial" panose="020B0604020202020204" pitchFamily="34" charset="0"/>
                <a:cs typeface="Arial" panose="020B0604020202020204" pitchFamily="34" charset="0"/>
              </a:rPr>
              <a:t> de un corte transversal, se </a:t>
            </a:r>
            <a:r>
              <a:rPr lang="en-US" sz="1200" dirty="0" err="1">
                <a:latin typeface="Arial" panose="020B0604020202020204" pitchFamily="34" charset="0"/>
                <a:cs typeface="Arial" panose="020B0604020202020204" pitchFamily="34" charset="0"/>
              </a:rPr>
              <a:t>deben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definir</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dimensiones</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del material a </a:t>
            </a:r>
            <a:r>
              <a:rPr lang="en-US" sz="1200" dirty="0" err="1">
                <a:latin typeface="Arial" panose="020B0604020202020204" pitchFamily="34" charset="0"/>
                <a:cs typeface="Arial" panose="020B0604020202020204" pitchFamily="34" charset="0"/>
              </a:rPr>
              <a:t>utilizar</a:t>
            </a:r>
            <a:r>
              <a:rPr lang="en-US" sz="1200" dirty="0">
                <a:latin typeface="Arial" panose="020B0604020202020204" pitchFamily="34" charset="0"/>
                <a:cs typeface="Arial" panose="020B0604020202020204" pitchFamily="34" charset="0"/>
              </a:rPr>
              <a:t> tanto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y la longitude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cantidad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queramos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calcular</a:t>
            </a:r>
            <a:r>
              <a:rPr lang="en-US" sz="1200" dirty="0">
                <a:latin typeface="Arial" panose="020B0604020202020204" pitchFamily="34" charset="0"/>
                <a:cs typeface="Arial" panose="020B0604020202020204" pitchFamily="34" charset="0"/>
              </a:rPr>
              <a:t>, y la </a:t>
            </a:r>
            <a:r>
              <a:rPr lang="en-US" sz="1200" dirty="0" err="1">
                <a:latin typeface="Arial" panose="020B0604020202020204" pitchFamily="34" charset="0"/>
                <a:cs typeface="Arial" panose="020B0604020202020204" pitchFamily="34" charset="0"/>
              </a:rPr>
              <a:t>resolución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mallado</a:t>
            </a:r>
            <a:r>
              <a:rPr lang="en-US" sz="1200" dirty="0">
                <a:latin typeface="Arial" panose="020B0604020202020204" pitchFamily="34" charset="0"/>
                <a:cs typeface="Arial" panose="020B0604020202020204" pitchFamily="34" charset="0"/>
              </a:rPr>
              <a:t>.</a:t>
            </a:r>
          </a:p>
          <a:p>
            <a:pPr marL="171450"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y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shallow, es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shallow </a:t>
            </a:r>
            <a:r>
              <a:rPr lang="en-US" sz="1200" dirty="0" err="1">
                <a:latin typeface="Arial" panose="020B0604020202020204" pitchFamily="34" charset="0"/>
                <a:cs typeface="Arial" panose="020B0604020202020204" pitchFamily="34" charset="0"/>
              </a:rPr>
              <a:t>existe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altura</a:t>
            </a:r>
            <a:r>
              <a:rPr lang="en-US" sz="1200" dirty="0">
                <a:latin typeface="Arial" panose="020B0604020202020204" pitchFamily="34" charset="0"/>
                <a:cs typeface="Arial" panose="020B0604020202020204" pitchFamily="34" charset="0"/>
              </a:rPr>
              <a:t> slab, </a:t>
            </a:r>
            <a:r>
              <a:rPr lang="en-US" sz="1200" dirty="0" err="1">
                <a:latin typeface="Arial" panose="020B0604020202020204" pitchFamily="34" charset="0"/>
                <a:cs typeface="Arial" panose="020B0604020202020204" pitchFamily="34" charset="0"/>
              </a:rPr>
              <a:t>mientrsa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deep </a:t>
            </a:r>
            <a:r>
              <a:rPr lang="en-US" sz="1200" dirty="0" err="1">
                <a:latin typeface="Arial" panose="020B0604020202020204" pitchFamily="34" charset="0"/>
                <a:cs typeface="Arial" panose="020B0604020202020204" pitchFamily="34" charset="0"/>
              </a:rPr>
              <a:t>dicha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altura</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nula</a:t>
            </a:r>
            <a:r>
              <a:rPr lang="en-US" sz="1200" dirty="0">
                <a:latin typeface="Arial" panose="020B0604020202020204" pitchFamily="34" charset="0"/>
                <a:cs typeface="Arial" panose="020B0604020202020204" pitchFamily="34" charset="0"/>
              </a:rPr>
              <a:t>.</a:t>
            </a:r>
          </a:p>
          <a:p>
            <a:pPr marL="171450"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Las </a:t>
            </a:r>
            <a:r>
              <a:rPr lang="en-US" sz="1200" dirty="0" err="1">
                <a:latin typeface="Arial" panose="020B0604020202020204" pitchFamily="34" charset="0"/>
                <a:cs typeface="Arial" panose="020B0604020202020204" pitchFamily="34" charset="0"/>
              </a:rPr>
              <a:t>dimensiones</a:t>
            </a:r>
            <a:r>
              <a:rPr lang="en-US" sz="1200" dirty="0">
                <a:latin typeface="Arial" panose="020B0604020202020204" pitchFamily="34" charset="0"/>
                <a:cs typeface="Arial" panose="020B0604020202020204" pitchFamily="34" charset="0"/>
              </a:rPr>
              <a:t> del clad,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dejado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hay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defecto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presentan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buen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 Si la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fuera mas </a:t>
            </a:r>
            <a:r>
              <a:rPr lang="en-US" sz="1200" dirty="0" err="1">
                <a:latin typeface="Arial" panose="020B0604020202020204" pitchFamily="34" charset="0"/>
                <a:cs typeface="Arial" panose="020B0604020202020204" pitchFamily="34" charset="0"/>
              </a:rPr>
              <a:t>ancha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habria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modirficar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clad</a:t>
            </a:r>
          </a:p>
          <a:p>
            <a:pPr marL="171450" indent="-171450" algn="just">
              <a:buFont typeface="Arial" panose="020B0604020202020204" pitchFamily="34" charset="0"/>
              <a:buChar char="•"/>
            </a:pPr>
            <a:r>
              <a:rPr lang="en-US" sz="1200" dirty="0" err="1">
                <a:latin typeface="Arial" panose="020B0604020202020204" pitchFamily="34" charset="0"/>
                <a:cs typeface="Arial" panose="020B0604020202020204" pitchFamily="34" charset="0"/>
              </a:rPr>
              <a:t>Hemos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definido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calculase</a:t>
            </a:r>
            <a:r>
              <a:rPr lang="en-US" sz="1200" dirty="0">
                <a:latin typeface="Arial" panose="020B0604020202020204" pitchFamily="34" charset="0"/>
                <a:cs typeface="Arial" panose="020B0604020202020204" pitchFamily="34" charset="0"/>
              </a:rPr>
              <a:t> cuatro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esos</a:t>
            </a:r>
            <a:r>
              <a:rPr lang="en-US" sz="1200" dirty="0">
                <a:latin typeface="Arial" panose="020B0604020202020204" pitchFamily="34" charset="0"/>
                <a:cs typeface="Arial" panose="020B0604020202020204" pitchFamily="34" charset="0"/>
              </a:rPr>
              <a:t> cuatro solo </a:t>
            </a:r>
            <a:r>
              <a:rPr lang="en-US" sz="1200" dirty="0" err="1">
                <a:latin typeface="Arial" panose="020B0604020202020204" pitchFamily="34" charset="0"/>
                <a:cs typeface="Arial" panose="020B0604020202020204" pitchFamily="34" charset="0"/>
              </a:rPr>
              <a:t>estan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primeros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son TE0 y TM0. Los </a:t>
            </a:r>
            <a:r>
              <a:rPr lang="en-US" sz="1200" dirty="0" err="1">
                <a:latin typeface="Arial" panose="020B0604020202020204" pitchFamily="34" charset="0"/>
                <a:cs typeface="Arial" panose="020B0604020202020204" pitchFamily="34" charset="0"/>
              </a:rPr>
              <a:t>otros</a:t>
            </a:r>
            <a:r>
              <a:rPr lang="en-US" sz="1200" dirty="0">
                <a:latin typeface="Arial" panose="020B0604020202020204" pitchFamily="34" charset="0"/>
                <a:cs typeface="Arial" panose="020B0604020202020204" pitchFamily="34" charset="0"/>
              </a:rPr>
              <a:t> dos no </a:t>
            </a:r>
            <a:r>
              <a:rPr lang="en-US" sz="1200" dirty="0" err="1">
                <a:latin typeface="Arial" panose="020B0604020202020204" pitchFamily="34" charset="0"/>
                <a:cs typeface="Arial" panose="020B0604020202020204" pitchFamily="34" charset="0"/>
              </a:rPr>
              <a:t>estan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del modo es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tanto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estan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nucleo</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20A16-F2F4-9AF8-DF86-1F9986DB146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E661BFD-005B-617B-7E44-9EBDCA76A8D3}"/>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B8F9C000-EAE2-45D7-BAAE-08F90DCC2F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618349C-6186-B659-A1FB-DCB5D31E6447}"/>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63269ADA-2EAB-1916-57A2-82CCB1F3A5CC}"/>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8913B8E7-4B48-4485-0C30-71290D04EE4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dirty="0"/>
          </a:p>
          <a:p>
            <a:pPr algn="just"/>
            <a:endParaRPr lang="en-US" sz="2000" kern="0" dirty="0">
              <a:solidFill>
                <a:sysClr val="windowText" lastClr="000000"/>
              </a:solidFill>
            </a:endParaRPr>
          </a:p>
        </p:txBody>
      </p:sp>
      <p:pic>
        <p:nvPicPr>
          <p:cNvPr id="8" name="Imagen 7">
            <a:extLst>
              <a:ext uri="{FF2B5EF4-FFF2-40B4-BE49-F238E27FC236}">
                <a16:creationId xmlns:a16="http://schemas.microsoft.com/office/drawing/2014/main" id="{4290CEDA-BF0E-0765-1CCF-833DB85E2803}"/>
              </a:ext>
            </a:extLst>
          </p:cNvPr>
          <p:cNvPicPr>
            <a:picLocks noChangeAspect="1"/>
          </p:cNvPicPr>
          <p:nvPr/>
        </p:nvPicPr>
        <p:blipFill>
          <a:blip r:embed="rId5"/>
          <a:stretch>
            <a:fillRect/>
          </a:stretch>
        </p:blipFill>
        <p:spPr>
          <a:xfrm>
            <a:off x="637558" y="1407136"/>
            <a:ext cx="4800600" cy="3460360"/>
          </a:xfrm>
          <a:prstGeom prst="rect">
            <a:avLst/>
          </a:prstGeom>
        </p:spPr>
      </p:pic>
      <p:sp>
        <p:nvSpPr>
          <p:cNvPr id="9" name="Rectángulo 8">
            <a:extLst>
              <a:ext uri="{FF2B5EF4-FFF2-40B4-BE49-F238E27FC236}">
                <a16:creationId xmlns:a16="http://schemas.microsoft.com/office/drawing/2014/main" id="{8595B854-F9A4-AFC2-E7A6-8223608964F6}"/>
              </a:ext>
            </a:extLst>
          </p:cNvPr>
          <p:cNvSpPr/>
          <p:nvPr/>
        </p:nvSpPr>
        <p:spPr>
          <a:xfrm>
            <a:off x="604902" y="1320216"/>
            <a:ext cx="10422293" cy="36907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Imagen 11">
            <a:extLst>
              <a:ext uri="{FF2B5EF4-FFF2-40B4-BE49-F238E27FC236}">
                <a16:creationId xmlns:a16="http://schemas.microsoft.com/office/drawing/2014/main" id="{61874B49-0E19-2A68-B2AC-5618882D4A18}"/>
              </a:ext>
            </a:extLst>
          </p:cNvPr>
          <p:cNvPicPr>
            <a:picLocks noChangeAspect="1"/>
          </p:cNvPicPr>
          <p:nvPr/>
        </p:nvPicPr>
        <p:blipFill>
          <a:blip r:embed="rId6"/>
          <a:stretch>
            <a:fillRect/>
          </a:stretch>
        </p:blipFill>
        <p:spPr>
          <a:xfrm>
            <a:off x="5559490" y="1407136"/>
            <a:ext cx="5327781" cy="3460360"/>
          </a:xfrm>
          <a:prstGeom prst="rect">
            <a:avLst/>
          </a:prstGeom>
        </p:spPr>
      </p:pic>
    </p:spTree>
    <p:extLst>
      <p:ext uri="{BB962C8B-B14F-4D97-AF65-F5344CB8AC3E}">
        <p14:creationId xmlns:p14="http://schemas.microsoft.com/office/powerpoint/2010/main" val="989002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30471-E512-5565-2D88-AFBC3C1FEF4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5319B52-BE7A-5EDF-8847-CE583D00CA59}"/>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8B7A066D-CBDC-5798-F1F7-24E0CB1B0C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746A4DE-8EDB-DF1F-F14B-0A1D45EB6811}"/>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053B11AF-D881-E24A-11EA-EE0F800E3D08}"/>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ED4649C8-97D0-793B-D973-63B9588C8D57}"/>
                  </a:ext>
                </a:extLst>
              </p:cNvPr>
              <p:cNvSpPr txBox="1"/>
              <p:nvPr/>
            </p:nvSpPr>
            <p:spPr>
              <a:xfrm>
                <a:off x="583019" y="4819380"/>
                <a:ext cx="11199971" cy="161781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(neff changes this way with wavelength, comparison between different waveguide cross-sections …</a:t>
                </a:r>
                <a:r>
                  <a:rPr lang="en-US" sz="1200" dirty="0" err="1">
                    <a:latin typeface="Arial" panose="020B0604020202020204" pitchFamily="34" charset="0"/>
                    <a:cs typeface="Arial" panose="020B0604020202020204" pitchFamily="34" charset="0"/>
                  </a:rPr>
                  <a:t>etc</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estas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primeras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figuras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representadas</a:t>
                </a:r>
                <a:r>
                  <a:rPr lang="en-US" sz="1200" dirty="0">
                    <a:latin typeface="Arial" panose="020B0604020202020204" pitchFamily="34" charset="0"/>
                    <a:cs typeface="Arial" panose="020B0604020202020204" pitchFamily="34" charset="0"/>
                  </a:rPr>
                  <a:t> las cross sections de la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shallow y la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respectivamente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shallow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slab y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mismo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p>
              <a:p>
                <a:r>
                  <a:rPr lang="es-ES" sz="1200" dirty="0"/>
                  <a:t>La diferencia principal es que la </a:t>
                </a:r>
                <a:r>
                  <a:rPr lang="es-ES" sz="1200" i="1" dirty="0" err="1"/>
                  <a:t>shallow</a:t>
                </a:r>
                <a:r>
                  <a:rPr lang="es-ES" sz="1200" dirty="0"/>
                  <a:t> tiene una capa de </a:t>
                </a:r>
                <a:r>
                  <a:rPr lang="es-ES" sz="1200" i="1" dirty="0" err="1"/>
                  <a:t>slab</a:t>
                </a:r>
                <a:r>
                  <a:rPr lang="es-ES" sz="1200" dirty="0"/>
                  <a:t> (material de núcleo) fuera del </a:t>
                </a:r>
                <a:r>
                  <a:rPr lang="es-ES" sz="1200" dirty="0" err="1"/>
                  <a:t>rib</a:t>
                </a:r>
                <a:r>
                  <a:rPr lang="es-ES" sz="1200" dirty="0"/>
                  <a:t>, mientras que en la </a:t>
                </a:r>
                <a:r>
                  <a:rPr lang="es-ES" sz="1200" i="1" dirty="0" err="1"/>
                  <a:t>deep</a:t>
                </a:r>
                <a:r>
                  <a:rPr lang="es-ES" sz="1200" dirty="0"/>
                  <a:t> esa zona está completamente rodeada por la cubierta (</a:t>
                </a:r>
                <a:r>
                  <a:rPr lang="es-ES" sz="1200" dirty="0" err="1"/>
                  <a:t>SiO</a:t>
                </a:r>
                <a:r>
                  <a:rPr lang="es-ES" sz="1200" dirty="0"/>
                  <a:t>₂).</a:t>
                </a:r>
              </a:p>
              <a:p>
                <a:r>
                  <a:rPr lang="es-ES" sz="1200" dirty="0"/>
                  <a:t>Debido a esto, en la guía </a:t>
                </a:r>
                <a:r>
                  <a:rPr lang="es-ES" sz="1200" i="1" dirty="0" err="1"/>
                  <a:t>shallow</a:t>
                </a:r>
                <a:r>
                  <a:rPr lang="es-ES" sz="1200" dirty="0"/>
                  <a:t> el modo está más confinado en material de alto índice, ya que parte del campo también se propaga por el </a:t>
                </a:r>
                <a:r>
                  <a:rPr lang="es-ES" sz="1200" dirty="0" err="1"/>
                  <a:t>slab</a:t>
                </a:r>
                <a:r>
                  <a:rPr lang="es-ES" sz="1200" dirty="0"/>
                  <a:t>. Como el índice efectivo </a:t>
                </a:r>
                <a14:m>
                  <m:oMath xmlns:m="http://schemas.openxmlformats.org/officeDocument/2006/math">
                    <m:sSub>
                      <m:sSubPr>
                        <m:ctrlPr>
                          <a:rPr lang="ar-AE" sz="1200" i="1">
                            <a:latin typeface="Cambria Math" panose="02040503050406030204" pitchFamily="18" charset="0"/>
                          </a:rPr>
                        </m:ctrlPr>
                      </m:sSubPr>
                      <m:e>
                        <m:r>
                          <m:rPr>
                            <m:sty m:val="p"/>
                          </m:rPr>
                          <a:rPr lang="ar-AE" sz="1200" i="0">
                            <a:latin typeface="Cambria Math" panose="02040503050406030204" pitchFamily="18" charset="0"/>
                          </a:rPr>
                          <m:t>n</m:t>
                        </m:r>
                      </m:e>
                      <m:sub>
                        <m:r>
                          <m:rPr>
                            <m:nor/>
                          </m:rPr>
                          <a:rPr lang="es-ES" sz="1200">
                            <a:latin typeface="+mj-lt"/>
                          </a:rPr>
                          <m:t>eff</m:t>
                        </m:r>
                      </m:sub>
                    </m:sSub>
                  </m:oMath>
                </a14:m>
                <a:r>
                  <a:rPr lang="es-ES" sz="1200" dirty="0"/>
                  <a:t> depende del material que “ve” el modo, al haber mayor fracción de campo en el núcleo, su valor es más alto.</a:t>
                </a:r>
              </a:p>
              <a:p>
                <a:r>
                  <a:rPr lang="es-ES" sz="1200" dirty="0"/>
                  <a:t>En cambio, en la guía </a:t>
                </a:r>
                <a:r>
                  <a:rPr lang="es-ES" sz="1200" i="1" dirty="0" err="1"/>
                  <a:t>deep</a:t>
                </a:r>
                <a:r>
                  <a:rPr lang="es-ES" sz="1200" dirty="0"/>
                  <a:t> el campo se extiende más hacia la cubierta (índice menor), lo que reduce el confinamiento y hace que </a:t>
                </a:r>
                <a14:m>
                  <m:oMath xmlns:m="http://schemas.openxmlformats.org/officeDocument/2006/math">
                    <m:sSub>
                      <m:sSubPr>
                        <m:ctrlPr>
                          <a:rPr lang="ar-AE" sz="1200" i="1">
                            <a:latin typeface="Cambria Math" panose="02040503050406030204" pitchFamily="18" charset="0"/>
                          </a:rPr>
                        </m:ctrlPr>
                      </m:sSubPr>
                      <m:e>
                        <m:r>
                          <m:rPr>
                            <m:sty m:val="p"/>
                          </m:rPr>
                          <a:rPr lang="ar-AE" sz="1200" i="0">
                            <a:latin typeface="Cambria Math" panose="02040503050406030204" pitchFamily="18" charset="0"/>
                          </a:rPr>
                          <m:t>n</m:t>
                        </m:r>
                      </m:e>
                      <m:sub>
                        <m:r>
                          <m:rPr>
                            <m:nor/>
                          </m:rPr>
                          <a:rPr lang="es-ES" sz="1200">
                            <a:latin typeface="+mj-lt"/>
                          </a:rPr>
                          <m:t>eff</m:t>
                        </m:r>
                      </m:sub>
                    </m:sSub>
                  </m:oMath>
                </a14:m>
                <a:r>
                  <a:rPr lang="es-ES" sz="1200" dirty="0"/>
                  <a:t> sea más bajo.</a:t>
                </a:r>
              </a:p>
            </p:txBody>
          </p:sp>
        </mc:Choice>
        <mc:Fallback xmlns="">
          <p:sp>
            <p:nvSpPr>
              <p:cNvPr id="2" name="CuadroTexto 1">
                <a:extLst>
                  <a:ext uri="{FF2B5EF4-FFF2-40B4-BE49-F238E27FC236}">
                    <a16:creationId xmlns:a16="http://schemas.microsoft.com/office/drawing/2014/main" id="{ED4649C8-97D0-793B-D973-63B9588C8D57}"/>
                  </a:ext>
                </a:extLst>
              </p:cNvPr>
              <p:cNvSpPr txBox="1">
                <a:spLocks noRot="1" noChangeAspect="1" noMove="1" noResize="1" noEditPoints="1" noAdjustHandles="1" noChangeArrowheads="1" noChangeShapeType="1" noTextEdit="1"/>
              </p:cNvSpPr>
              <p:nvPr/>
            </p:nvSpPr>
            <p:spPr>
              <a:xfrm>
                <a:off x="583019" y="4819380"/>
                <a:ext cx="11199971" cy="1617815"/>
              </a:xfrm>
              <a:prstGeom prst="rect">
                <a:avLst/>
              </a:prstGeom>
              <a:blipFill>
                <a:blip r:embed="rId5"/>
                <a:stretch>
                  <a:fillRect/>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A0065779-FA07-79A3-959D-85192B0F35AB}"/>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DD143A1E-54DE-4E0B-C607-E875A8C41D19}"/>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DC9140D-3EAB-09C8-E28A-4AFA565F7F80}"/>
              </a:ext>
            </a:extLst>
          </p:cNvPr>
          <p:cNvSpPr txBox="1"/>
          <p:nvPr/>
        </p:nvSpPr>
        <p:spPr>
          <a:xfrm>
            <a:off x="609441" y="1069729"/>
            <a:ext cx="1447959" cy="369332"/>
          </a:xfrm>
          <a:prstGeom prst="rect">
            <a:avLst/>
          </a:prstGeom>
          <a:noFill/>
        </p:spPr>
        <p:txBody>
          <a:bodyPr wrap="square">
            <a:spAutoFit/>
          </a:bodyPr>
          <a:lstStyle/>
          <a:p>
            <a:r>
              <a:rPr lang="en-US" dirty="0"/>
              <a:t>slab = 150nm</a:t>
            </a:r>
            <a:endParaRPr lang="es-ES" dirty="0"/>
          </a:p>
        </p:txBody>
      </p:sp>
      <p:pic>
        <p:nvPicPr>
          <p:cNvPr id="6" name="Imagen 5" descr="Gráfico, Histograma&#10;&#10;El contenido generado por IA puede ser incorrecto.">
            <a:extLst>
              <a:ext uri="{FF2B5EF4-FFF2-40B4-BE49-F238E27FC236}">
                <a16:creationId xmlns:a16="http://schemas.microsoft.com/office/drawing/2014/main" id="{8CF22875-A714-89D0-83B7-0730E24CDFD7}"/>
              </a:ext>
            </a:extLst>
          </p:cNvPr>
          <p:cNvPicPr>
            <a:picLocks noChangeAspect="1"/>
          </p:cNvPicPr>
          <p:nvPr/>
        </p:nvPicPr>
        <p:blipFill>
          <a:blip r:embed="rId6"/>
          <a:stretch>
            <a:fillRect/>
          </a:stretch>
        </p:blipFill>
        <p:spPr>
          <a:xfrm>
            <a:off x="1159842" y="1558564"/>
            <a:ext cx="4231768" cy="3075628"/>
          </a:xfrm>
          <a:prstGeom prst="rect">
            <a:avLst/>
          </a:prstGeom>
        </p:spPr>
      </p:pic>
      <p:pic>
        <p:nvPicPr>
          <p:cNvPr id="11" name="Imagen 10" descr="Gráfico&#10;&#10;El contenido generado por IA puede ser incorrecto.">
            <a:extLst>
              <a:ext uri="{FF2B5EF4-FFF2-40B4-BE49-F238E27FC236}">
                <a16:creationId xmlns:a16="http://schemas.microsoft.com/office/drawing/2014/main" id="{D2D86B35-4FF6-F1E5-2DDC-A2A060CB8490}"/>
              </a:ext>
            </a:extLst>
          </p:cNvPr>
          <p:cNvPicPr>
            <a:picLocks noChangeAspect="1"/>
          </p:cNvPicPr>
          <p:nvPr/>
        </p:nvPicPr>
        <p:blipFill>
          <a:blip r:embed="rId7"/>
          <a:stretch>
            <a:fillRect/>
          </a:stretch>
        </p:blipFill>
        <p:spPr>
          <a:xfrm>
            <a:off x="6975997" y="1527005"/>
            <a:ext cx="4377803" cy="3172763"/>
          </a:xfrm>
          <a:prstGeom prst="rect">
            <a:avLst/>
          </a:prstGeom>
        </p:spPr>
      </p:pic>
    </p:spTree>
    <p:extLst>
      <p:ext uri="{BB962C8B-B14F-4D97-AF65-F5344CB8AC3E}">
        <p14:creationId xmlns:p14="http://schemas.microsoft.com/office/powerpoint/2010/main" val="652472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BD4C233-B5D9-B6AA-93A8-CF2F130CFF9C}"/>
              </a:ext>
            </a:extLst>
          </p:cNvPr>
          <p:cNvSpPr txBox="1"/>
          <p:nvPr/>
        </p:nvSpPr>
        <p:spPr>
          <a:xfrm>
            <a:off x="542887" y="5045798"/>
            <a:ext cx="3267113" cy="369332"/>
          </a:xfrm>
          <a:prstGeom prst="rect">
            <a:avLst/>
          </a:prstGeom>
          <a:noFill/>
        </p:spPr>
        <p:txBody>
          <a:bodyPr wrap="square">
            <a:spAutoFit/>
          </a:bodyPr>
          <a:lstStyle/>
          <a:p>
            <a:r>
              <a:rPr lang="en-US" dirty="0" err="1"/>
              <a:t>slab_thickness</a:t>
            </a:r>
            <a:r>
              <a:rPr lang="en-US" dirty="0"/>
              <a:t> = 150nm</a:t>
            </a:r>
            <a:endParaRPr lang="es-ES" dirty="0"/>
          </a:p>
        </p:txBody>
      </p:sp>
      <p:pic>
        <p:nvPicPr>
          <p:cNvPr id="10" name="Imagen 9" descr="Gráfico&#10;&#10;El contenido generado por IA puede ser incorrecto.">
            <a:extLst>
              <a:ext uri="{FF2B5EF4-FFF2-40B4-BE49-F238E27FC236}">
                <a16:creationId xmlns:a16="http://schemas.microsoft.com/office/drawing/2014/main" id="{0E2661E7-F8B1-FC85-20AA-858D01336D29}"/>
              </a:ext>
            </a:extLst>
          </p:cNvPr>
          <p:cNvPicPr>
            <a:picLocks noChangeAspect="1"/>
          </p:cNvPicPr>
          <p:nvPr/>
        </p:nvPicPr>
        <p:blipFill>
          <a:blip r:embed="rId5"/>
          <a:srcRect b="2187"/>
          <a:stretch>
            <a:fillRect/>
          </a:stretch>
        </p:blipFill>
        <p:spPr>
          <a:xfrm>
            <a:off x="6550910" y="1508141"/>
            <a:ext cx="5258502" cy="3010670"/>
          </a:xfrm>
          <a:prstGeom prst="rect">
            <a:avLst/>
          </a:prstGeom>
        </p:spPr>
      </p:pic>
      <p:pic>
        <p:nvPicPr>
          <p:cNvPr id="12" name="Imagen 11" descr="Gráfico&#10;&#10;El contenido generado por IA puede ser incorrecto.">
            <a:extLst>
              <a:ext uri="{FF2B5EF4-FFF2-40B4-BE49-F238E27FC236}">
                <a16:creationId xmlns:a16="http://schemas.microsoft.com/office/drawing/2014/main" id="{D207EA98-5B09-BC58-0A08-FC2F68FB5952}"/>
              </a:ext>
            </a:extLst>
          </p:cNvPr>
          <p:cNvPicPr>
            <a:picLocks noChangeAspect="1"/>
          </p:cNvPicPr>
          <p:nvPr/>
        </p:nvPicPr>
        <p:blipFill>
          <a:blip r:embed="rId6"/>
          <a:stretch>
            <a:fillRect/>
          </a:stretch>
        </p:blipFill>
        <p:spPr>
          <a:xfrm>
            <a:off x="664029" y="1573281"/>
            <a:ext cx="5143103" cy="2996211"/>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E487D-A41E-9467-90C4-9B4FFD31689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B639599-FD86-26FE-4494-F92E30A0B3A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6E7E29A8-0A3F-E680-4995-0B73838555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B2E448D-F90B-316C-9A22-37B89D747027}"/>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5F50A87A-25D7-AC78-2D3C-65977DD80EED}"/>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6D243C48-D0CB-2131-C493-8E5DFCAD1557}"/>
              </a:ext>
            </a:extLst>
          </p:cNvPr>
          <p:cNvSpPr txBox="1"/>
          <p:nvPr/>
        </p:nvSpPr>
        <p:spPr>
          <a:xfrm>
            <a:off x="685798" y="2183808"/>
            <a:ext cx="11199971" cy="267765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En primer </a:t>
            </a:r>
            <a:r>
              <a:rPr lang="en-US" sz="1200" dirty="0" err="1">
                <a:latin typeface="Arial" panose="020B0604020202020204" pitchFamily="34" charset="0"/>
                <a:cs typeface="Arial" panose="020B0604020202020204" pitchFamily="34" charset="0"/>
              </a:rPr>
              <a:t>lugar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para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solamente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0 y 1,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para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shallow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todas</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entender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necesario</a:t>
            </a:r>
            <a:r>
              <a:rPr lang="en-US" sz="1200" dirty="0">
                <a:latin typeface="Arial" panose="020B0604020202020204" pitchFamily="34" charset="0"/>
                <a:cs typeface="Arial" panose="020B0604020202020204" pitchFamily="34" charset="0"/>
              </a:rPr>
              <a:t> saber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considere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un modo se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propaganda,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ser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2), y mayor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1.55). </a:t>
            </a:r>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hemos</a:t>
            </a:r>
            <a:r>
              <a:rPr lang="en-US" sz="1200" dirty="0">
                <a:latin typeface="Arial" panose="020B0604020202020204" pitchFamily="34" charset="0"/>
                <a:cs typeface="Arial" panose="020B0604020202020204" pitchFamily="34" charset="0"/>
              </a:rPr>
              <a:t> visto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figuras</a:t>
            </a:r>
            <a:r>
              <a:rPr lang="en-US" sz="1200" dirty="0">
                <a:latin typeface="Arial" panose="020B0604020202020204" pitchFamily="34" charset="0"/>
                <a:cs typeface="Arial" panose="020B0604020202020204" pitchFamily="34" charset="0"/>
              </a:rPr>
              <a:t> de las cross sections,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shallow, al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un slab  </a:t>
            </a:r>
            <a:r>
              <a:rPr lang="en-US" sz="1200" dirty="0" err="1">
                <a:latin typeface="Arial" panose="020B0604020202020204" pitchFamily="34" charset="0"/>
                <a:cs typeface="Arial" panose="020B0604020202020204" pitchFamily="34" charset="0"/>
              </a:rPr>
              <a:t>hace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sea mayor para </a:t>
            </a:r>
            <a:r>
              <a:rPr lang="en-US" sz="1200" dirty="0" err="1">
                <a:latin typeface="Arial" panose="020B0604020202020204" pitchFamily="34" charset="0"/>
                <a:cs typeface="Arial" panose="020B0604020202020204" pitchFamily="34" charset="0"/>
              </a:rPr>
              <a:t>todos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estar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mejor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a:t>
            </a:r>
            <a:r>
              <a:rPr lang="en-US" sz="1200" dirty="0">
                <a:latin typeface="Arial" panose="020B0604020202020204" pitchFamily="34" charset="0"/>
                <a:cs typeface="Arial" panose="020B0604020202020204" pitchFamily="34" charset="0"/>
              </a:rPr>
              <a:t>. Por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deep al no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material,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hay </a:t>
            </a:r>
            <a:r>
              <a:rPr lang="en-US" sz="1200" dirty="0" err="1">
                <a:latin typeface="Arial" panose="020B0604020202020204" pitchFamily="34" charset="0"/>
                <a:cs typeface="Arial" panose="020B0604020202020204" pitchFamily="34" charset="0"/>
              </a:rPr>
              <a:t>despues</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nucleo</a:t>
            </a:r>
            <a:r>
              <a:rPr lang="en-US" sz="1200" dirty="0">
                <a:latin typeface="Arial" panose="020B0604020202020204" pitchFamily="34" charset="0"/>
                <a:cs typeface="Arial" panose="020B0604020202020204" pitchFamily="34" charset="0"/>
              </a:rPr>
              <a:t> es material de Si02,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disminuye</a:t>
            </a:r>
            <a:r>
              <a:rPr lang="en-US" sz="1200" dirty="0">
                <a:latin typeface="Arial" panose="020B0604020202020204" pitchFamily="34" charset="0"/>
                <a:cs typeface="Arial" panose="020B0604020202020204" pitchFamily="34" charset="0"/>
              </a:rPr>
              <a:t> mas </a:t>
            </a:r>
            <a:r>
              <a:rPr lang="en-US" sz="1200" dirty="0" err="1">
                <a:latin typeface="Arial" panose="020B0604020202020204" pitchFamily="34" charset="0"/>
                <a:cs typeface="Arial" panose="020B0604020202020204" pitchFamily="34" charset="0"/>
              </a:rPr>
              <a:t>rapidamente</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consiguiente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hace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esté</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Además, en las gráficas se observa que el índice efectivo disminuye ligeramente al aumentar la longitud de onda para todos los modos y en ambas guías. Esto se debe a que, a mayores longitudes de onda, el modo se desconfina más y parte del campo se extiende hacia la cubierta, reduciendo su valor.</a:t>
            </a:r>
          </a:p>
          <a:p>
            <a:pPr algn="just"/>
            <a:endParaRPr lang="es-E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Cabe </a:t>
            </a:r>
            <a:r>
              <a:rPr lang="en-US" sz="1200" dirty="0" err="1">
                <a:latin typeface="Arial" panose="020B0604020202020204" pitchFamily="34" charset="0"/>
                <a:cs typeface="Arial" panose="020B0604020202020204" pitchFamily="34" charset="0"/>
              </a:rPr>
              <a:t>mencionar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tambien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propaguen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no es </a:t>
            </a:r>
            <a:r>
              <a:rPr lang="en-US" sz="1200" dirty="0" err="1">
                <a:latin typeface="Arial" panose="020B0604020202020204" pitchFamily="34" charset="0"/>
                <a:cs typeface="Arial" panose="020B0604020202020204" pitchFamily="34" charset="0"/>
              </a:rPr>
              <a:t>tampoco</a:t>
            </a:r>
            <a:r>
              <a:rPr lang="en-US" sz="1200" dirty="0">
                <a:latin typeface="Arial" panose="020B0604020202020204" pitchFamily="34" charset="0"/>
                <a:cs typeface="Arial" panose="020B0604020202020204" pitchFamily="34" charset="0"/>
              </a:rPr>
              <a:t> bueno,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normalmente</a:t>
            </a:r>
            <a:r>
              <a:rPr lang="en-US" sz="1200" dirty="0">
                <a:latin typeface="Arial" panose="020B0604020202020204" pitchFamily="34" charset="0"/>
                <a:cs typeface="Arial" panose="020B0604020202020204" pitchFamily="34" charset="0"/>
              </a:rPr>
              <a:t> solo </a:t>
            </a:r>
            <a:r>
              <a:rPr lang="en-US" sz="1200" dirty="0" err="1">
                <a:latin typeface="Arial" panose="020B0604020202020204" pitchFamily="34" charset="0"/>
                <a:cs typeface="Arial" panose="020B0604020202020204" pitchFamily="34" charset="0"/>
              </a:rPr>
              <a:t>deseamos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propague</a:t>
            </a:r>
            <a:r>
              <a:rPr lang="en-US" sz="1200" dirty="0">
                <a:latin typeface="Arial" panose="020B0604020202020204" pitchFamily="34" charset="0"/>
                <a:cs typeface="Arial" panose="020B0604020202020204" pitchFamily="34" charset="0"/>
              </a:rPr>
              <a:t> uno,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hecho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propaguen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vez</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conllevar</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veces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interferencias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intermodales</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3CA6113-EDE4-221A-895C-6660C9379186}"/>
              </a:ext>
            </a:extLst>
          </p:cNvPr>
          <p:cNvSpPr txBox="1"/>
          <p:nvPr/>
        </p:nvSpPr>
        <p:spPr>
          <a:xfrm>
            <a:off x="583019" y="1325840"/>
            <a:ext cx="11199971" cy="646331"/>
          </a:xfrm>
          <a:prstGeom prst="rect">
            <a:avLst/>
          </a:prstGeom>
          <a:noFill/>
        </p:spPr>
        <p:txBody>
          <a:bodyPr wrap="square">
            <a:spAutoFit/>
          </a:bodyPr>
          <a:lstStyle/>
          <a:p>
            <a:pPr algn="just"/>
            <a:r>
              <a:rPr lang="en-US" sz="1800" i="1" dirty="0">
                <a:latin typeface="Arial" panose="020B0604020202020204" pitchFamily="34" charset="0"/>
                <a:cs typeface="Arial" panose="020B0604020202020204" pitchFamily="34" charset="0"/>
              </a:rPr>
              <a:t>Comment results (</a:t>
            </a:r>
            <a:r>
              <a:rPr lang="en-US" sz="1800" i="1" dirty="0" err="1">
                <a:latin typeface="Arial" panose="020B0604020202020204" pitchFamily="34" charset="0"/>
                <a:cs typeface="Arial" panose="020B0604020202020204" pitchFamily="34" charset="0"/>
              </a:rPr>
              <a:t>neff</a:t>
            </a:r>
            <a:r>
              <a:rPr lang="en-US" sz="1800" i="1" dirty="0">
                <a:latin typeface="Arial" panose="020B0604020202020204" pitchFamily="34" charset="0"/>
                <a:cs typeface="Arial" panose="020B0604020202020204" pitchFamily="34" charset="0"/>
              </a:rPr>
              <a:t> changes this way with wavelength, comparison between different waveguide </a:t>
            </a:r>
          </a:p>
          <a:p>
            <a:pPr algn="just"/>
            <a:r>
              <a:rPr lang="en-US" sz="1800" i="1" dirty="0">
                <a:latin typeface="Arial" panose="020B0604020202020204" pitchFamily="34" charset="0"/>
                <a:cs typeface="Arial" panose="020B0604020202020204" pitchFamily="34" charset="0"/>
              </a:rPr>
              <a:t>cross-sections …</a:t>
            </a:r>
            <a:r>
              <a:rPr lang="en-US" sz="1800" i="1" dirty="0" err="1">
                <a:latin typeface="Arial" panose="020B0604020202020204" pitchFamily="34" charset="0"/>
                <a:cs typeface="Arial" panose="020B0604020202020204" pitchFamily="34" charset="0"/>
              </a:rPr>
              <a:t>etc</a:t>
            </a:r>
            <a:r>
              <a:rPr lang="en-US" sz="1800" i="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4128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2"/>
            <a:ext cx="11199971" cy="46776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10;&#10;El contenido generado por IA puede ser incorrecto.">
            <a:extLst>
              <a:ext uri="{FF2B5EF4-FFF2-40B4-BE49-F238E27FC236}">
                <a16:creationId xmlns:a16="http://schemas.microsoft.com/office/drawing/2014/main" id="{7FE8EEDD-8993-BCEA-0B41-201B4F53E4FF}"/>
              </a:ext>
            </a:extLst>
          </p:cNvPr>
          <p:cNvPicPr>
            <a:picLocks noChangeAspect="1"/>
          </p:cNvPicPr>
          <p:nvPr/>
        </p:nvPicPr>
        <p:blipFill>
          <a:blip r:embed="rId5"/>
          <a:stretch>
            <a:fillRect/>
          </a:stretch>
        </p:blipFill>
        <p:spPr>
          <a:xfrm>
            <a:off x="2247900" y="1517970"/>
            <a:ext cx="7696200" cy="4478429"/>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7E4B9-ABBB-87A8-4B17-C171028A99D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9C23C97-D7CF-497D-A5D2-21CC05D1013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522F4EF9-AE55-C48A-8B2E-3848EC3518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001561-763B-091A-D701-C675075E0AB0}"/>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9C443C3E-55F8-F709-A423-226B9F3EFED6}"/>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9" name="CuadroTexto 8">
            <a:extLst>
              <a:ext uri="{FF2B5EF4-FFF2-40B4-BE49-F238E27FC236}">
                <a16:creationId xmlns:a16="http://schemas.microsoft.com/office/drawing/2014/main" id="{71F9A7E5-D46C-0453-20FD-6B7360905609}"/>
              </a:ext>
            </a:extLst>
          </p:cNvPr>
          <p:cNvSpPr txBox="1"/>
          <p:nvPr/>
        </p:nvSpPr>
        <p:spPr>
          <a:xfrm>
            <a:off x="583019" y="1371600"/>
            <a:ext cx="11199971" cy="341632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(neff changes this way with width, polarization behavior, </a:t>
            </a:r>
            <a:r>
              <a:rPr lang="en-US" sz="1200" dirty="0" err="1">
                <a:latin typeface="Arial" panose="020B0604020202020204" pitchFamily="34" charset="0"/>
                <a:cs typeface="Arial" panose="020B0604020202020204" pitchFamily="34" charset="0"/>
              </a:rPr>
              <a:t>etc</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figura</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comportamiento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del ancho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Primeramente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cabe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destacar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tal</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figura</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líneas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rojas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corresponden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TE,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azules</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TM. Esto se ha </a:t>
            </a:r>
            <a:r>
              <a:rPr lang="en-US" sz="1200" dirty="0" err="1">
                <a:latin typeface="Arial" panose="020B0604020202020204" pitchFamily="34" charset="0"/>
                <a:cs typeface="Arial" panose="020B0604020202020204" pitchFamily="34" charset="0"/>
              </a:rPr>
              <a:t>deducido</a:t>
            </a:r>
            <a:r>
              <a:rPr lang="en-US" sz="1200" dirty="0">
                <a:latin typeface="Arial" panose="020B0604020202020204" pitchFamily="34" charset="0"/>
                <a:cs typeface="Arial" panose="020B0604020202020204" pitchFamily="34" charset="0"/>
              </a:rPr>
              <a:t> gracias a la </a:t>
            </a:r>
            <a:r>
              <a:rPr lang="en-US" sz="1200" dirty="0" err="1">
                <a:latin typeface="Arial" panose="020B0604020202020204" pitchFamily="34" charset="0"/>
                <a:cs typeface="Arial" panose="020B0604020202020204" pitchFamily="34" charset="0"/>
              </a:rPr>
              <a:t>representación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porcentaje</a:t>
            </a:r>
            <a:r>
              <a:rPr lang="en-US" sz="1200" dirty="0">
                <a:latin typeface="Arial" panose="020B0604020202020204" pitchFamily="34" charset="0"/>
                <a:cs typeface="Arial" panose="020B0604020202020204" pitchFamily="34" charset="0"/>
              </a:rPr>
              <a:t> de modo TE y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correspondencia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colores</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un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temenos tanto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0 TE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0 TM,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cuales</a:t>
            </a:r>
            <a:r>
              <a:rPr lang="en-US" sz="1200" dirty="0">
                <a:latin typeface="Arial" panose="020B0604020202020204" pitchFamily="34" charset="0"/>
                <a:cs typeface="Arial" panose="020B0604020202020204" pitchFamily="34" charset="0"/>
              </a:rPr>
              <a:t> se van a </a:t>
            </a:r>
            <a:r>
              <a:rPr lang="en-US" sz="1200" dirty="0" err="1">
                <a:latin typeface="Arial" panose="020B0604020202020204" pitchFamily="34" charset="0"/>
                <a:cs typeface="Arial" panose="020B0604020202020204" pitchFamily="34" charset="0"/>
              </a:rPr>
              <a:t>propagar</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todos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anchos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representados</a:t>
            </a:r>
            <a:r>
              <a:rPr lang="en-US" sz="1200" dirty="0">
                <a:latin typeface="Arial" panose="020B0604020202020204" pitchFamily="34" charset="0"/>
                <a:cs typeface="Arial" panose="020B0604020202020204" pitchFamily="34" charset="0"/>
              </a:rPr>
              <a:t>. Sin embargo,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conforme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ancho de la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mantener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misma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mas </a:t>
            </a:r>
            <a:r>
              <a:rPr lang="en-US" sz="1200" dirty="0" err="1">
                <a:latin typeface="Arial" panose="020B0604020202020204" pitchFamily="34" charset="0"/>
                <a:cs typeface="Arial" panose="020B0604020202020204" pitchFamily="34" charset="0"/>
              </a:rPr>
              <a:t>espacio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poder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un major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1 TE,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al modo 2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hasta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consigue</a:t>
            </a:r>
            <a:r>
              <a:rPr lang="en-US" sz="1200" dirty="0">
                <a:latin typeface="Arial" panose="020B0604020202020204" pitchFamily="34" charset="0"/>
                <a:cs typeface="Arial" panose="020B0604020202020204" pitchFamily="34" charset="0"/>
              </a:rPr>
              <a:t> un ancho de 1.25um </a:t>
            </a:r>
            <a:r>
              <a:rPr lang="en-US" sz="1200" dirty="0" err="1">
                <a:latin typeface="Arial" panose="020B0604020202020204" pitchFamily="34" charset="0"/>
                <a:cs typeface="Arial" panose="020B0604020202020204" pitchFamily="34" charset="0"/>
              </a:rPr>
              <a:t>aproximadamente</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empieza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En </a:t>
            </a:r>
            <a:r>
              <a:rPr lang="en-US" sz="1200" dirty="0" err="1">
                <a:latin typeface="Arial" panose="020B0604020202020204" pitchFamily="34" charset="0"/>
                <a:cs typeface="Arial" panose="020B0604020202020204" pitchFamily="34" charset="0"/>
              </a:rPr>
              <a:t>dicho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momento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pasa</a:t>
            </a:r>
            <a:r>
              <a:rPr lang="en-US" sz="1200" dirty="0">
                <a:latin typeface="Arial" panose="020B0604020202020204" pitchFamily="34" charset="0"/>
                <a:cs typeface="Arial" panose="020B0604020202020204" pitchFamily="34" charset="0"/>
              </a:rPr>
              <a:t> a ser </a:t>
            </a:r>
            <a:r>
              <a:rPr lang="en-US" sz="1200" dirty="0" err="1">
                <a:latin typeface="Arial" panose="020B0604020202020204" pitchFamily="34" charset="0"/>
                <a:cs typeface="Arial" panose="020B0604020202020204" pitchFamily="34" charset="0"/>
              </a:rPr>
              <a:t>multimodo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estarían</a:t>
            </a:r>
            <a:r>
              <a:rPr lang="en-US" sz="1200" dirty="0">
                <a:latin typeface="Arial" panose="020B0604020202020204" pitchFamily="34" charset="0"/>
                <a:cs typeface="Arial" panose="020B0604020202020204" pitchFamily="34" charset="0"/>
              </a:rPr>
              <a:t> propaganda dos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TE. Por </a:t>
            </a:r>
            <a:r>
              <a:rPr lang="en-US" sz="1200" dirty="0" err="1">
                <a:latin typeface="Arial" panose="020B0604020202020204" pitchFamily="34" charset="0"/>
                <a:cs typeface="Arial" panose="020B0604020202020204" pitchFamily="34" charset="0"/>
              </a:rPr>
              <a:t>último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encontramos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3,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al modo TM 1,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anchos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elegido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nunca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Si </a:t>
            </a:r>
            <a:r>
              <a:rPr lang="en-US" sz="1200" dirty="0" err="1">
                <a:latin typeface="Arial" panose="020B0604020202020204" pitchFamily="34" charset="0"/>
                <a:cs typeface="Arial" panose="020B0604020202020204" pitchFamily="34" charset="0"/>
              </a:rPr>
              <a:t>comparamos</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guias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nunca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llegaban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estos</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últimos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(modo TM1 y TE1),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estabamos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variando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Sin embargo,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actual </a:t>
            </a:r>
            <a:r>
              <a:rPr lang="en-US" sz="1200" dirty="0" err="1">
                <a:latin typeface="Arial" panose="020B0604020202020204" pitchFamily="34" charset="0"/>
                <a:cs typeface="Arial" panose="020B0604020202020204" pitchFamily="34" charset="0"/>
              </a:rPr>
              <a:t>donde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variando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anchos</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llegados</a:t>
            </a:r>
            <a:r>
              <a:rPr lang="en-US" sz="1200" dirty="0">
                <a:latin typeface="Arial" panose="020B0604020202020204" pitchFamily="34" charset="0"/>
                <a:cs typeface="Arial" panose="020B0604020202020204" pitchFamily="34" charset="0"/>
              </a:rPr>
              <a:t> a un </a:t>
            </a:r>
            <a:r>
              <a:rPr lang="en-US" sz="1200" dirty="0" err="1">
                <a:latin typeface="Arial" panose="020B0604020202020204" pitchFamily="34" charset="0"/>
                <a:cs typeface="Arial" panose="020B0604020202020204" pitchFamily="34" charset="0"/>
              </a:rPr>
              <a:t>determinado</a:t>
            </a:r>
            <a:r>
              <a:rPr lang="en-US" sz="1200" dirty="0">
                <a:latin typeface="Arial" panose="020B0604020202020204" pitchFamily="34" charset="0"/>
                <a:cs typeface="Arial" panose="020B0604020202020204" pitchFamily="34" charset="0"/>
              </a:rPr>
              <a:t> valor, </a:t>
            </a:r>
            <a:r>
              <a:rPr lang="en-US" sz="1200" dirty="0" err="1">
                <a:latin typeface="Arial" panose="020B0604020202020204" pitchFamily="34" charset="0"/>
                <a:cs typeface="Arial" panose="020B0604020202020204" pitchFamily="34" charset="0"/>
              </a:rPr>
              <a:t>si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comenzarian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4425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pic>
        <p:nvPicPr>
          <p:cNvPr id="7" name="Imagen 6" descr="Gráfico&#10;&#10;El contenido generado por IA puede ser incorrecto.">
            <a:extLst>
              <a:ext uri="{FF2B5EF4-FFF2-40B4-BE49-F238E27FC236}">
                <a16:creationId xmlns:a16="http://schemas.microsoft.com/office/drawing/2014/main" id="{6EE6A301-802F-71A8-D45A-719DDCE2374F}"/>
              </a:ext>
            </a:extLst>
          </p:cNvPr>
          <p:cNvPicPr>
            <a:picLocks noChangeAspect="1"/>
          </p:cNvPicPr>
          <p:nvPr/>
        </p:nvPicPr>
        <p:blipFill>
          <a:blip r:embed="rId5"/>
          <a:stretch>
            <a:fillRect/>
          </a:stretch>
        </p:blipFill>
        <p:spPr>
          <a:xfrm>
            <a:off x="609440" y="1462655"/>
            <a:ext cx="5486560" cy="3291174"/>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53B7AF3B-D6BB-A7C0-88D3-336824D54616}"/>
              </a:ext>
            </a:extLst>
          </p:cNvPr>
          <p:cNvPicPr>
            <a:picLocks noChangeAspect="1"/>
          </p:cNvPicPr>
          <p:nvPr/>
        </p:nvPicPr>
        <p:blipFill>
          <a:blip r:embed="rId6"/>
          <a:stretch>
            <a:fillRect/>
          </a:stretch>
        </p:blipFill>
        <p:spPr>
          <a:xfrm>
            <a:off x="6321423" y="1462655"/>
            <a:ext cx="5486560" cy="3291173"/>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EFB58-B666-0C41-4C72-3ABC0EC4388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3DF2B24-AC21-643D-B8C0-62993AB27B88}"/>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37813654-26E9-7238-D73E-68BA1316A3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E2D0D11-BF34-FF92-6520-B37F368C0D94}"/>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FB835810-53AB-5DA6-6898-CDFC21E038D3}"/>
              </a:ext>
            </a:extLst>
          </p:cNvPr>
          <p:cNvSpPr>
            <a:spLocks noGrp="1"/>
          </p:cNvSpPr>
          <p:nvPr>
            <p:ph type="ftr" sz="quarter" idx="5"/>
          </p:nvPr>
        </p:nvSpPr>
        <p:spPr/>
        <p:txBody>
          <a:bodyPr/>
          <a:lstStyle/>
          <a:p>
            <a:pPr marL="12700">
              <a:spcBef>
                <a:spcPts val="15"/>
              </a:spcBef>
            </a:pPr>
            <a:r>
              <a:rPr lang="es-ES" spc="-5" dirty="0"/>
              <a:t>LAB 1.0 WAVEGUIDES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11E2B217-7A2F-7F84-8CFC-E023D5FB8F3B}"/>
                  </a:ext>
                </a:extLst>
              </p:cNvPr>
              <p:cNvSpPr txBox="1"/>
              <p:nvPr/>
            </p:nvSpPr>
            <p:spPr>
              <a:xfrm>
                <a:off x="481668" y="1690095"/>
                <a:ext cx="11198542" cy="3849324"/>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s-ES" sz="1200" b="0" dirty="0">
                  <a:cs typeface="Arial" panose="020B0604020202020204" pitchFamily="34" charset="0"/>
                </a:endParaRPr>
              </a:p>
              <a:p>
                <a:pPr algn="just"/>
                <a:r>
                  <a:rPr lang="en-US" sz="1200" dirty="0">
                    <a:cs typeface="Arial" panose="020B0604020202020204" pitchFamily="34" charset="0"/>
                  </a:rPr>
                  <a:t>Comment on the results found for the TE0 and TM0 for both deep and shallow waveguides. </a:t>
                </a:r>
              </a:p>
              <a:p>
                <a:pPr algn="just"/>
                <a:endParaRPr lang="en-US" sz="1200" dirty="0">
                  <a:cs typeface="Arial" panose="020B0604020202020204" pitchFamily="34" charset="0"/>
                </a:endParaRPr>
              </a:p>
              <a:p>
                <a:pPr algn="just"/>
                <a:r>
                  <a:rPr lang="en-US" sz="1200" dirty="0">
                    <a:cs typeface="Arial" panose="020B0604020202020204" pitchFamily="34" charset="0"/>
                  </a:rPr>
                  <a:t>A </a:t>
                </a:r>
                <a:r>
                  <a:rPr lang="en-US" sz="1200" dirty="0" err="1">
                    <a:cs typeface="Arial" panose="020B0604020202020204" pitchFamily="34" charset="0"/>
                  </a:rPr>
                  <a:t>continuación</a:t>
                </a:r>
                <a:r>
                  <a:rPr lang="en-US" sz="1200" dirty="0">
                    <a:cs typeface="Arial" panose="020B0604020202020204" pitchFamily="34" charset="0"/>
                  </a:rPr>
                  <a:t> se </a:t>
                </a:r>
                <a:r>
                  <a:rPr lang="en-US" sz="1200" dirty="0" err="1">
                    <a:cs typeface="Arial" panose="020B0604020202020204" pitchFamily="34" charset="0"/>
                  </a:rPr>
                  <a:t>presenta</a:t>
                </a:r>
                <a:r>
                  <a:rPr lang="en-US" sz="1200" dirty="0">
                    <a:cs typeface="Arial" panose="020B0604020202020204" pitchFamily="34" charset="0"/>
                  </a:rPr>
                  <a:t> la </a:t>
                </a:r>
                <a:r>
                  <a:rPr lang="en-US" sz="1200" dirty="0" err="1">
                    <a:cs typeface="Arial" panose="020B0604020202020204" pitchFamily="34" charset="0"/>
                  </a:rPr>
                  <a:t>ecuacion</a:t>
                </a:r>
                <a:r>
                  <a:rPr lang="en-US" sz="1200" dirty="0">
                    <a:cs typeface="Arial" panose="020B0604020202020204" pitchFamily="34" charset="0"/>
                  </a:rPr>
                  <a:t> de </a:t>
                </a:r>
                <a:r>
                  <a:rPr lang="en-US" sz="1200" dirty="0" err="1">
                    <a:cs typeface="Arial" panose="020B0604020202020204" pitchFamily="34" charset="0"/>
                  </a:rPr>
                  <a:t>segundo</a:t>
                </a:r>
                <a:r>
                  <a:rPr lang="en-US" sz="1200" dirty="0">
                    <a:cs typeface="Arial" panose="020B0604020202020204" pitchFamily="34" charset="0"/>
                  </a:rPr>
                  <a:t> </a:t>
                </a:r>
                <a:r>
                  <a:rPr lang="en-US" sz="1200" dirty="0" err="1">
                    <a:cs typeface="Arial" panose="020B0604020202020204" pitchFamily="34" charset="0"/>
                  </a:rPr>
                  <a:t>grado</a:t>
                </a:r>
                <a:r>
                  <a:rPr lang="en-US" sz="1200" dirty="0">
                    <a:cs typeface="Arial" panose="020B0604020202020204" pitchFamily="34" charset="0"/>
                  </a:rPr>
                  <a:t> con </a:t>
                </a:r>
                <a:r>
                  <a:rPr lang="en-US" sz="1200" dirty="0" err="1">
                    <a:cs typeface="Arial" panose="020B0604020202020204" pitchFamily="34" charset="0"/>
                  </a:rPr>
                  <a:t>los</a:t>
                </a:r>
                <a:r>
                  <a:rPr lang="en-US" sz="1200" dirty="0">
                    <a:cs typeface="Arial" panose="020B0604020202020204" pitchFamily="34" charset="0"/>
                  </a:rPr>
                  <a:t> </a:t>
                </a:r>
                <a:r>
                  <a:rPr lang="en-US" sz="1200" dirty="0" err="1">
                    <a:cs typeface="Arial" panose="020B0604020202020204" pitchFamily="34" charset="0"/>
                  </a:rPr>
                  <a:t>coeficientes</a:t>
                </a:r>
                <a:r>
                  <a:rPr lang="en-US" sz="1200" dirty="0">
                    <a:cs typeface="Arial" panose="020B0604020202020204" pitchFamily="34" charset="0"/>
                  </a:rPr>
                  <a:t> </a:t>
                </a:r>
                <a:r>
                  <a:rPr lang="en-US" sz="1200" dirty="0" err="1">
                    <a:cs typeface="Arial" panose="020B0604020202020204" pitchFamily="34" charset="0"/>
                  </a:rPr>
                  <a:t>polinomicos</a:t>
                </a:r>
                <a:r>
                  <a:rPr lang="en-US" sz="1200" dirty="0">
                    <a:cs typeface="Arial" panose="020B0604020202020204" pitchFamily="34" charset="0"/>
                  </a:rPr>
                  <a:t>. Su </a:t>
                </a:r>
                <a:r>
                  <a:rPr lang="en-US" sz="1200" dirty="0" err="1">
                    <a:cs typeface="Arial" panose="020B0604020202020204" pitchFamily="34" charset="0"/>
                  </a:rPr>
                  <a:t>objetivo</a:t>
                </a:r>
                <a:r>
                  <a:rPr lang="en-US" sz="1200" dirty="0">
                    <a:cs typeface="Arial" panose="020B0604020202020204" pitchFamily="34" charset="0"/>
                  </a:rPr>
                  <a:t> es </a:t>
                </a:r>
                <a:r>
                  <a:rPr lang="en-US" sz="1200" dirty="0" err="1">
                    <a:cs typeface="Arial" panose="020B0604020202020204" pitchFamily="34" charset="0"/>
                  </a:rPr>
                  <a:t>disminuir</a:t>
                </a:r>
                <a:r>
                  <a:rPr lang="en-US" sz="1200" dirty="0">
                    <a:cs typeface="Arial" panose="020B0604020202020204" pitchFamily="34" charset="0"/>
                  </a:rPr>
                  <a:t> la </a:t>
                </a:r>
                <a:r>
                  <a:rPr lang="en-US" sz="1200" dirty="0" err="1">
                    <a:cs typeface="Arial" panose="020B0604020202020204" pitchFamily="34" charset="0"/>
                  </a:rPr>
                  <a:t>complejidad</a:t>
                </a:r>
                <a:r>
                  <a:rPr lang="en-US" sz="1200" dirty="0">
                    <a:cs typeface="Arial" panose="020B0604020202020204" pitchFamily="34" charset="0"/>
                  </a:rPr>
                  <a:t> de la </a:t>
                </a:r>
                <a:r>
                  <a:rPr lang="en-US" sz="1200" dirty="0" err="1">
                    <a:cs typeface="Arial" panose="020B0604020202020204" pitchFamily="34" charset="0"/>
                  </a:rPr>
                  <a:t>representacion</a:t>
                </a:r>
                <a:r>
                  <a:rPr lang="en-US" sz="1200" dirty="0">
                    <a:cs typeface="Arial" panose="020B0604020202020204" pitchFamily="34" charset="0"/>
                  </a:rPr>
                  <a:t> y del </a:t>
                </a:r>
                <a:r>
                  <a:rPr lang="en-US" sz="1200" dirty="0" err="1">
                    <a:cs typeface="Arial" panose="020B0604020202020204" pitchFamily="34" charset="0"/>
                  </a:rPr>
                  <a:t>calculo</a:t>
                </a:r>
                <a:r>
                  <a:rPr lang="en-US" sz="1200" dirty="0">
                    <a:cs typeface="Arial" panose="020B0604020202020204" pitchFamily="34" charset="0"/>
                  </a:rPr>
                  <a:t> de las </a:t>
                </a:r>
                <a:r>
                  <a:rPr lang="en-US" sz="1200" dirty="0" err="1">
                    <a:cs typeface="Arial" panose="020B0604020202020204" pitchFamily="34" charset="0"/>
                  </a:rPr>
                  <a:t>guias</a:t>
                </a:r>
                <a:r>
                  <a:rPr lang="en-US" sz="1200" dirty="0">
                    <a:cs typeface="Arial" panose="020B0604020202020204" pitchFamily="34" charset="0"/>
                  </a:rPr>
                  <a:t> de </a:t>
                </a:r>
                <a:r>
                  <a:rPr lang="en-US" sz="1200" dirty="0" err="1">
                    <a:cs typeface="Arial" panose="020B0604020202020204" pitchFamily="34" charset="0"/>
                  </a:rPr>
                  <a:t>onda</a:t>
                </a:r>
                <a:r>
                  <a:rPr lang="en-US" sz="1200" dirty="0">
                    <a:cs typeface="Arial" panose="020B0604020202020204" pitchFamily="34" charset="0"/>
                  </a:rPr>
                  <a:t>, </a:t>
                </a:r>
                <a:r>
                  <a:rPr lang="en-US" sz="1200" dirty="0" err="1">
                    <a:cs typeface="Arial" panose="020B0604020202020204" pitchFamily="34" charset="0"/>
                  </a:rPr>
                  <a:t>llevando</a:t>
                </a:r>
                <a:r>
                  <a:rPr lang="en-US" sz="1200" dirty="0">
                    <a:cs typeface="Arial" panose="020B0604020202020204" pitchFamily="34" charset="0"/>
                  </a:rPr>
                  <a:t> a </a:t>
                </a:r>
                <a:r>
                  <a:rPr lang="en-US" sz="1200" dirty="0" err="1">
                    <a:cs typeface="Arial" panose="020B0604020202020204" pitchFamily="34" charset="0"/>
                  </a:rPr>
                  <a:t>cabo</a:t>
                </a:r>
                <a:r>
                  <a:rPr lang="en-US" sz="1200" dirty="0">
                    <a:cs typeface="Arial" panose="020B0604020202020204" pitchFamily="34" charset="0"/>
                  </a:rPr>
                  <a:t> </a:t>
                </a:r>
                <a:r>
                  <a:rPr lang="en-US" sz="1200" dirty="0" err="1">
                    <a:cs typeface="Arial" panose="020B0604020202020204" pitchFamily="34" charset="0"/>
                  </a:rPr>
                  <a:t>una</a:t>
                </a:r>
                <a:r>
                  <a:rPr lang="en-US" sz="1200" dirty="0">
                    <a:cs typeface="Arial" panose="020B0604020202020204" pitchFamily="34" charset="0"/>
                  </a:rPr>
                  <a:t> </a:t>
                </a:r>
                <a:r>
                  <a:rPr lang="en-US" sz="1200" dirty="0" err="1">
                    <a:cs typeface="Arial" panose="020B0604020202020204" pitchFamily="34" charset="0"/>
                  </a:rPr>
                  <a:t>aproximacion</a:t>
                </a:r>
                <a:r>
                  <a:rPr lang="en-US" sz="1200" dirty="0">
                    <a:cs typeface="Arial" panose="020B0604020202020204" pitchFamily="34" charset="0"/>
                  </a:rPr>
                  <a:t> de sus indices </a:t>
                </a:r>
                <a:r>
                  <a:rPr lang="en-US" sz="1200" dirty="0" err="1">
                    <a:cs typeface="Arial" panose="020B0604020202020204" pitchFamily="34" charset="0"/>
                  </a:rPr>
                  <a:t>efectivos</a:t>
                </a:r>
                <a:r>
                  <a:rPr lang="en-US" sz="1200" dirty="0">
                    <a:cs typeface="Arial" panose="020B0604020202020204" pitchFamily="34" charset="0"/>
                  </a:rPr>
                  <a:t> </a:t>
                </a:r>
                <a:r>
                  <a:rPr lang="en-US" sz="1200" dirty="0" err="1">
                    <a:cs typeface="Arial" panose="020B0604020202020204" pitchFamily="34" charset="0"/>
                  </a:rPr>
                  <a:t>en</a:t>
                </a:r>
                <a:r>
                  <a:rPr lang="en-US" sz="1200" dirty="0">
                    <a:cs typeface="Arial" panose="020B0604020202020204" pitchFamily="34" charset="0"/>
                  </a:rPr>
                  <a:t> </a:t>
                </a:r>
                <a:r>
                  <a:rPr lang="en-US" sz="1200" dirty="0" err="1">
                    <a:cs typeface="Arial" panose="020B0604020202020204" pitchFamily="34" charset="0"/>
                  </a:rPr>
                  <a:t>el</a:t>
                </a:r>
                <a:r>
                  <a:rPr lang="en-US" sz="1200" dirty="0">
                    <a:cs typeface="Arial" panose="020B0604020202020204" pitchFamily="34" charset="0"/>
                  </a:rPr>
                  <a:t> </a:t>
                </a:r>
                <a:r>
                  <a:rPr lang="en-US" sz="1200" dirty="0" err="1">
                    <a:cs typeface="Arial" panose="020B0604020202020204" pitchFamily="34" charset="0"/>
                  </a:rPr>
                  <a:t>rango</a:t>
                </a:r>
                <a:r>
                  <a:rPr lang="en-US" sz="1200" dirty="0">
                    <a:cs typeface="Arial" panose="020B0604020202020204" pitchFamily="34" charset="0"/>
                  </a:rPr>
                  <a:t> de longitudes de </a:t>
                </a:r>
                <a:r>
                  <a:rPr lang="en-US" sz="1200" dirty="0" err="1">
                    <a:cs typeface="Arial" panose="020B0604020202020204" pitchFamily="34" charset="0"/>
                  </a:rPr>
                  <a:t>onda</a:t>
                </a:r>
                <a:r>
                  <a:rPr lang="en-US" sz="1200" dirty="0">
                    <a:cs typeface="Arial" panose="020B0604020202020204" pitchFamily="34" charset="0"/>
                  </a:rPr>
                  <a:t> de 1.50 a 1.6, </a:t>
                </a:r>
                <a:r>
                  <a:rPr lang="en-US" sz="1200" dirty="0" err="1">
                    <a:cs typeface="Arial" panose="020B0604020202020204" pitchFamily="34" charset="0"/>
                  </a:rPr>
                  <a:t>tomando</a:t>
                </a:r>
                <a:r>
                  <a:rPr lang="en-US" sz="1200" dirty="0">
                    <a:cs typeface="Arial" panose="020B0604020202020204" pitchFamily="34" charset="0"/>
                  </a:rPr>
                  <a:t> </a:t>
                </a:r>
                <a:r>
                  <a:rPr lang="en-US" sz="1200" dirty="0" err="1">
                    <a:cs typeface="Arial" panose="020B0604020202020204" pitchFamily="34" charset="0"/>
                  </a:rPr>
                  <a:t>como</a:t>
                </a:r>
                <a:r>
                  <a:rPr lang="en-US" sz="1200" dirty="0">
                    <a:cs typeface="Arial" panose="020B0604020202020204" pitchFamily="34" charset="0"/>
                  </a:rPr>
                  <a:t> </a:t>
                </a:r>
                <a:r>
                  <a:rPr lang="en-US" sz="1200" dirty="0" err="1">
                    <a:cs typeface="Arial" panose="020B0604020202020204" pitchFamily="34" charset="0"/>
                  </a:rPr>
                  <a:t>referencia</a:t>
                </a:r>
                <a:r>
                  <a:rPr lang="en-US" sz="1200" dirty="0">
                    <a:cs typeface="Arial" panose="020B0604020202020204" pitchFamily="34" charset="0"/>
                  </a:rPr>
                  <a:t> 1.55.</a:t>
                </a:r>
              </a:p>
              <a:p>
                <a:pPr algn="just"/>
                <a:endParaRPr lang="en-US" sz="1200" dirty="0">
                  <a:cs typeface="Arial" panose="020B0604020202020204" pitchFamily="34" charset="0"/>
                </a:endParaRPr>
              </a:p>
              <a:p>
                <a:pPr algn="just"/>
                <a:r>
                  <a:rPr lang="en-US" sz="1200" dirty="0">
                    <a:cs typeface="Arial" panose="020B0604020202020204" pitchFamily="34" charset="0"/>
                  </a:rPr>
                  <a:t>Para </a:t>
                </a:r>
                <a:r>
                  <a:rPr lang="en-US" sz="1200" dirty="0" err="1">
                    <a:cs typeface="Arial" panose="020B0604020202020204" pitchFamily="34" charset="0"/>
                  </a:rPr>
                  <a:t>ello</a:t>
                </a:r>
                <a:r>
                  <a:rPr lang="en-US" sz="1200" dirty="0">
                    <a:cs typeface="Arial" panose="020B0604020202020204" pitchFamily="34" charset="0"/>
                  </a:rPr>
                  <a:t>, se </a:t>
                </a:r>
                <a:r>
                  <a:rPr lang="en-US" sz="1200" dirty="0" err="1">
                    <a:cs typeface="Arial" panose="020B0604020202020204" pitchFamily="34" charset="0"/>
                  </a:rPr>
                  <a:t>han</a:t>
                </a:r>
                <a:r>
                  <a:rPr lang="en-US" sz="1200" dirty="0">
                    <a:cs typeface="Arial" panose="020B0604020202020204" pitchFamily="34" charset="0"/>
                  </a:rPr>
                  <a:t> </a:t>
                </a:r>
                <a:r>
                  <a:rPr lang="en-US" sz="1200" dirty="0" err="1">
                    <a:cs typeface="Arial" panose="020B0604020202020204" pitchFamily="34" charset="0"/>
                  </a:rPr>
                  <a:t>tomado</a:t>
                </a:r>
                <a:r>
                  <a:rPr lang="en-US" sz="1200" dirty="0">
                    <a:cs typeface="Arial" panose="020B0604020202020204" pitchFamily="34" charset="0"/>
                  </a:rPr>
                  <a:t> las dos </a:t>
                </a:r>
                <a:r>
                  <a:rPr lang="en-US" sz="1200" dirty="0" err="1">
                    <a:cs typeface="Arial" panose="020B0604020202020204" pitchFamily="34" charset="0"/>
                  </a:rPr>
                  <a:t>funciones</a:t>
                </a:r>
                <a:r>
                  <a:rPr lang="en-US" sz="1200" dirty="0">
                    <a:cs typeface="Arial" panose="020B0604020202020204" pitchFamily="34" charset="0"/>
                  </a:rPr>
                  <a:t> </a:t>
                </a:r>
                <a:r>
                  <a:rPr lang="en-US" sz="1200" dirty="0" err="1">
                    <a:cs typeface="Arial" panose="020B0604020202020204" pitchFamily="34" charset="0"/>
                  </a:rPr>
                  <a:t>creadas</a:t>
                </a:r>
                <a:r>
                  <a:rPr lang="en-US" sz="1200" dirty="0">
                    <a:cs typeface="Arial" panose="020B0604020202020204" pitchFamily="34" charset="0"/>
                  </a:rPr>
                  <a:t> </a:t>
                </a:r>
                <a:r>
                  <a:rPr lang="en-US" sz="1200" dirty="0" err="1">
                    <a:cs typeface="Arial" panose="020B0604020202020204" pitchFamily="34" charset="0"/>
                  </a:rPr>
                  <a:t>en</a:t>
                </a:r>
                <a:r>
                  <a:rPr lang="en-US" sz="1200" dirty="0">
                    <a:cs typeface="Arial" panose="020B0604020202020204" pitchFamily="34" charset="0"/>
                  </a:rPr>
                  <a:t> </a:t>
                </a:r>
                <a:r>
                  <a:rPr lang="en-US" sz="1200" dirty="0" err="1">
                    <a:cs typeface="Arial" panose="020B0604020202020204" pitchFamily="34" charset="0"/>
                  </a:rPr>
                  <a:t>el</a:t>
                </a:r>
                <a:r>
                  <a:rPr lang="en-US" sz="1200" dirty="0">
                    <a:cs typeface="Arial" panose="020B0604020202020204" pitchFamily="34" charset="0"/>
                  </a:rPr>
                  <a:t> LO.2, tanto para la deep </a:t>
                </a:r>
                <a:r>
                  <a:rPr lang="en-US" sz="1200" dirty="0" err="1">
                    <a:cs typeface="Arial" panose="020B0604020202020204" pitchFamily="34" charset="0"/>
                  </a:rPr>
                  <a:t>como</a:t>
                </a:r>
                <a:r>
                  <a:rPr lang="en-US" sz="1200" dirty="0">
                    <a:cs typeface="Arial" panose="020B0604020202020204" pitchFamily="34" charset="0"/>
                  </a:rPr>
                  <a:t> para la shallow. A </a:t>
                </a:r>
                <a:r>
                  <a:rPr lang="en-US" sz="1200" dirty="0" err="1">
                    <a:cs typeface="Arial" panose="020B0604020202020204" pitchFamily="34" charset="0"/>
                  </a:rPr>
                  <a:t>partir</a:t>
                </a:r>
                <a:r>
                  <a:rPr lang="en-US" sz="1200" dirty="0">
                    <a:cs typeface="Arial" panose="020B0604020202020204" pitchFamily="34" charset="0"/>
                  </a:rPr>
                  <a:t> </a:t>
                </a:r>
                <a:r>
                  <a:rPr lang="es-ES" sz="1200" dirty="0"/>
                  <a:t>de los resultados obtenidos con el </a:t>
                </a:r>
                <a:r>
                  <a:rPr lang="es-ES" sz="1200" dirty="0" err="1"/>
                  <a:t>ModeSolver</a:t>
                </a:r>
                <a:r>
                  <a:rPr lang="en-US" sz="1200" dirty="0">
                    <a:cs typeface="Arial" panose="020B0604020202020204" pitchFamily="34" charset="0"/>
                  </a:rPr>
                  <a:t>, </a:t>
                </a:r>
                <a:r>
                  <a:rPr lang="es-ES" sz="1200" dirty="0"/>
                  <a:t>se ha realizado un ajuste polinómico de segundo orden en torno a </a:t>
                </a:r>
                <a:r>
                  <a:rPr lang="el-GR" sz="1200" dirty="0"/>
                  <a:t>λ₀, </a:t>
                </a:r>
                <a:r>
                  <a:rPr lang="es-ES" sz="1200" dirty="0"/>
                  <a:t>obteniendo los coeficientes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1</m:t>
                        </m:r>
                      </m:sub>
                    </m:sSub>
                  </m:oMath>
                </a14:m>
                <a:r>
                  <a:rPr lang="ar-AE" sz="1200" dirty="0"/>
                  <a:t>,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2</m:t>
                        </m:r>
                      </m:sub>
                    </m:sSub>
                  </m:oMath>
                </a14:m>
                <a:r>
                  <a:rPr lang="es-ES" sz="1200" dirty="0"/>
                  <a:t>y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3</m:t>
                        </m:r>
                      </m:sub>
                    </m:sSub>
                  </m:oMath>
                </a14:m>
                <a:r>
                  <a:rPr lang="ar-AE" sz="1200" dirty="0"/>
                  <a:t>, </a:t>
                </a:r>
                <a:r>
                  <a:rPr lang="es-ES" sz="1200" dirty="0"/>
                  <a:t>así como el índice de grupo y el parámetro de dispersión.</a:t>
                </a:r>
                <a:r>
                  <a:rPr lang="en-US" sz="1200" dirty="0">
                    <a:cs typeface="Arial" panose="020B0604020202020204" pitchFamily="34" charset="0"/>
                  </a:rPr>
                  <a:t>. </a:t>
                </a:r>
              </a:p>
              <a:p>
                <a:pPr algn="just"/>
                <a:endParaRPr lang="en-US" sz="1200" dirty="0">
                  <a:cs typeface="Arial" panose="020B0604020202020204" pitchFamily="34" charset="0"/>
                </a:endParaRPr>
              </a:p>
              <a:p>
                <a:pPr algn="just"/>
                <a:r>
                  <a:rPr lang="en-US" sz="1200" dirty="0" err="1">
                    <a:cs typeface="Arial" panose="020B0604020202020204" pitchFamily="34" charset="0"/>
                  </a:rPr>
                  <a:t>Posteriormente</a:t>
                </a:r>
                <a:r>
                  <a:rPr lang="en-US" sz="1200" dirty="0">
                    <a:cs typeface="Arial" panose="020B0604020202020204" pitchFamily="34" charset="0"/>
                  </a:rPr>
                  <a:t>, se </a:t>
                </a:r>
                <a:r>
                  <a:rPr lang="en-US" sz="1200" dirty="0" err="1">
                    <a:cs typeface="Arial" panose="020B0604020202020204" pitchFamily="34" charset="0"/>
                  </a:rPr>
                  <a:t>han</a:t>
                </a:r>
                <a:r>
                  <a:rPr lang="en-US" sz="1200" dirty="0">
                    <a:cs typeface="Arial" panose="020B0604020202020204" pitchFamily="34" charset="0"/>
                  </a:rPr>
                  <a:t> </a:t>
                </a:r>
                <a:r>
                  <a:rPr lang="en-US" sz="1200" dirty="0" err="1">
                    <a:cs typeface="Arial" panose="020B0604020202020204" pitchFamily="34" charset="0"/>
                  </a:rPr>
                  <a:t>analizado</a:t>
                </a:r>
                <a:r>
                  <a:rPr lang="en-US" sz="1200" dirty="0">
                    <a:cs typeface="Arial" panose="020B0604020202020204" pitchFamily="34" charset="0"/>
                  </a:rPr>
                  <a:t> </a:t>
                </a:r>
                <a:r>
                  <a:rPr lang="en-US" sz="1200" dirty="0" err="1">
                    <a:cs typeface="Arial" panose="020B0604020202020204" pitchFamily="34" charset="0"/>
                  </a:rPr>
                  <a:t>los</a:t>
                </a:r>
                <a:r>
                  <a:rPr lang="en-US" sz="1200" dirty="0">
                    <a:cs typeface="Arial" panose="020B0604020202020204" pitchFamily="34" charset="0"/>
                  </a:rPr>
                  <a:t> </a:t>
                </a:r>
                <a:r>
                  <a:rPr lang="en-US" sz="1200" dirty="0" err="1">
                    <a:cs typeface="Arial" panose="020B0604020202020204" pitchFamily="34" charset="0"/>
                  </a:rPr>
                  <a:t>resultados</a:t>
                </a:r>
                <a:r>
                  <a:rPr lang="en-US" sz="1200" dirty="0">
                    <a:cs typeface="Arial" panose="020B0604020202020204" pitchFamily="34" charset="0"/>
                  </a:rPr>
                  <a:t> y se ha </a:t>
                </a:r>
                <a:r>
                  <a:rPr lang="en-US" sz="1200" dirty="0" err="1">
                    <a:cs typeface="Arial" panose="020B0604020202020204" pitchFamily="34" charset="0"/>
                  </a:rPr>
                  <a:t>llegado</a:t>
                </a:r>
                <a:r>
                  <a:rPr lang="en-US" sz="1200" dirty="0">
                    <a:cs typeface="Arial" panose="020B0604020202020204" pitchFamily="34" charset="0"/>
                  </a:rPr>
                  <a:t> a la conclusion de </a:t>
                </a:r>
                <a:r>
                  <a:rPr lang="en-US" sz="1200" dirty="0" err="1">
                    <a:cs typeface="Arial" panose="020B0604020202020204" pitchFamily="34" charset="0"/>
                  </a:rPr>
                  <a:t>que</a:t>
                </a:r>
                <a:r>
                  <a:rPr lang="en-US" sz="1200" dirty="0">
                    <a:cs typeface="Arial" panose="020B0604020202020204" pitchFamily="34" charset="0"/>
                  </a:rPr>
                  <a:t> son </a:t>
                </a:r>
                <a:r>
                  <a:rPr lang="en-US" sz="1200" dirty="0" err="1">
                    <a:cs typeface="Arial" panose="020B0604020202020204" pitchFamily="34" charset="0"/>
                  </a:rPr>
                  <a:t>correctos</a:t>
                </a:r>
                <a:r>
                  <a:rPr lang="en-US" sz="1200" dirty="0">
                    <a:cs typeface="Arial" panose="020B0604020202020204" pitchFamily="34" charset="0"/>
                  </a:rPr>
                  <a:t>, </a:t>
                </a:r>
                <a:r>
                  <a:rPr lang="en-US" sz="1200" dirty="0" err="1">
                    <a:cs typeface="Arial" panose="020B0604020202020204" pitchFamily="34" charset="0"/>
                  </a:rPr>
                  <a:t>ya</a:t>
                </a:r>
                <a:r>
                  <a:rPr lang="en-US" sz="1200" dirty="0">
                    <a:cs typeface="Arial" panose="020B0604020202020204" pitchFamily="34" charset="0"/>
                  </a:rPr>
                  <a:t> </a:t>
                </a:r>
                <a:r>
                  <a:rPr lang="en-US" sz="1200" dirty="0" err="1">
                    <a:cs typeface="Arial" panose="020B0604020202020204" pitchFamily="34" charset="0"/>
                  </a:rPr>
                  <a:t>que</a:t>
                </a:r>
                <a:r>
                  <a:rPr lang="en-US" sz="1200" dirty="0">
                    <a:cs typeface="Arial" panose="020B0604020202020204" pitchFamily="34" charset="0"/>
                  </a:rPr>
                  <a:t> </a:t>
                </a:r>
                <a:r>
                  <a:rPr lang="en-US" sz="1200" dirty="0" err="1">
                    <a:cs typeface="Arial" panose="020B0604020202020204" pitchFamily="34" charset="0"/>
                  </a:rPr>
                  <a:t>el</a:t>
                </a:r>
                <a:r>
                  <a:rPr lang="en-US" sz="1200" dirty="0">
                    <a:cs typeface="Arial" panose="020B0604020202020204" pitchFamily="34" charset="0"/>
                  </a:rPr>
                  <a:t> </a:t>
                </a:r>
                <a:r>
                  <a:rPr lang="en-US" sz="1200" dirty="0" err="1">
                    <a:cs typeface="Arial" panose="020B0604020202020204" pitchFamily="34" charset="0"/>
                  </a:rPr>
                  <a:t>coeficiente</a:t>
                </a:r>
                <a:r>
                  <a:rPr lang="en-US" sz="1200" dirty="0">
                    <a:cs typeface="Arial" panose="020B0604020202020204" pitchFamily="34" charset="0"/>
                  </a:rPr>
                  <a:t> n1 </a:t>
                </a:r>
                <a:r>
                  <a:rPr lang="en-US" sz="1200" dirty="0" err="1">
                    <a:cs typeface="Arial" panose="020B0604020202020204" pitchFamily="34" charset="0"/>
                  </a:rPr>
                  <a:t>corresponde</a:t>
                </a:r>
                <a:r>
                  <a:rPr lang="en-US" sz="1200" dirty="0">
                    <a:cs typeface="Arial" panose="020B0604020202020204" pitchFamily="34" charset="0"/>
                  </a:rPr>
                  <a:t> al </a:t>
                </a:r>
                <a:r>
                  <a:rPr lang="en-US" sz="1200" dirty="0" err="1">
                    <a:cs typeface="Arial" panose="020B0604020202020204" pitchFamily="34" charset="0"/>
                  </a:rPr>
                  <a:t>indice</a:t>
                </a:r>
                <a:r>
                  <a:rPr lang="en-US" sz="1200" dirty="0">
                    <a:cs typeface="Arial" panose="020B0604020202020204" pitchFamily="34" charset="0"/>
                  </a:rPr>
                  <a:t> </a:t>
                </a:r>
                <a:r>
                  <a:rPr lang="en-US" sz="1200" dirty="0" err="1">
                    <a:cs typeface="Arial" panose="020B0604020202020204" pitchFamily="34" charset="0"/>
                  </a:rPr>
                  <a:t>efectivo</a:t>
                </a:r>
                <a:r>
                  <a:rPr lang="en-US" sz="1200" dirty="0">
                    <a:cs typeface="Arial" panose="020B0604020202020204" pitchFamily="34" charset="0"/>
                  </a:rPr>
                  <a:t> </a:t>
                </a:r>
                <a:r>
                  <a:rPr lang="en-US" sz="1200" dirty="0" err="1">
                    <a:cs typeface="Arial" panose="020B0604020202020204" pitchFamily="34" charset="0"/>
                  </a:rPr>
                  <a:t>en</a:t>
                </a:r>
                <a:r>
                  <a:rPr lang="en-US" sz="1200" dirty="0">
                    <a:cs typeface="Arial" panose="020B0604020202020204" pitchFamily="34" charset="0"/>
                  </a:rPr>
                  <a:t> </a:t>
                </a:r>
                <a:r>
                  <a:rPr lang="en-US" sz="1200" dirty="0" err="1">
                    <a:cs typeface="Arial" panose="020B0604020202020204" pitchFamily="34" charset="0"/>
                  </a:rPr>
                  <a:t>cada</a:t>
                </a:r>
                <a:r>
                  <a:rPr lang="en-US" sz="1200" dirty="0">
                    <a:cs typeface="Arial" panose="020B0604020202020204" pitchFamily="34" charset="0"/>
                  </a:rPr>
                  <a:t> modo </a:t>
                </a:r>
                <a:r>
                  <a:rPr lang="en-US" sz="1200" dirty="0" err="1">
                    <a:cs typeface="Arial" panose="020B0604020202020204" pitchFamily="34" charset="0"/>
                  </a:rPr>
                  <a:t>en</a:t>
                </a:r>
                <a:r>
                  <a:rPr lang="en-US" sz="1200" dirty="0">
                    <a:cs typeface="Arial" panose="020B0604020202020204" pitchFamily="34" charset="0"/>
                  </a:rPr>
                  <a:t> la </a:t>
                </a:r>
                <a:r>
                  <a:rPr lang="en-US" sz="1200" dirty="0" err="1">
                    <a:cs typeface="Arial" panose="020B0604020202020204" pitchFamily="34" charset="0"/>
                  </a:rPr>
                  <a:t>longitud</a:t>
                </a:r>
                <a:r>
                  <a:rPr lang="en-US" sz="1200" dirty="0">
                    <a:cs typeface="Arial" panose="020B0604020202020204" pitchFamily="34" charset="0"/>
                  </a:rPr>
                  <a:t> de de </a:t>
                </a:r>
                <a:r>
                  <a:rPr lang="en-US" sz="1200" dirty="0" err="1">
                    <a:cs typeface="Arial" panose="020B0604020202020204" pitchFamily="34" charset="0"/>
                  </a:rPr>
                  <a:t>onda</a:t>
                </a:r>
                <a:r>
                  <a:rPr lang="en-US" sz="1200" dirty="0">
                    <a:cs typeface="Arial" panose="020B0604020202020204" pitchFamily="34" charset="0"/>
                  </a:rPr>
                  <a:t> de </a:t>
                </a:r>
                <a:r>
                  <a:rPr lang="en-US" sz="1200" dirty="0" err="1">
                    <a:cs typeface="Arial" panose="020B0604020202020204" pitchFamily="34" charset="0"/>
                  </a:rPr>
                  <a:t>referencia</a:t>
                </a:r>
                <a:r>
                  <a:rPr lang="en-US" sz="1200" dirty="0">
                    <a:cs typeface="Arial" panose="020B0604020202020204" pitchFamily="34" charset="0"/>
                  </a:rPr>
                  <a:t>. </a:t>
                </a:r>
                <a:r>
                  <a:rPr lang="es-ES" sz="1200" dirty="0"/>
                  <a:t>Además,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2</m:t>
                        </m:r>
                      </m:sub>
                    </m:sSub>
                  </m:oMath>
                </a14:m>
                <a:r>
                  <a:rPr lang="es-ES" sz="1200" dirty="0"/>
                  <a:t>es menor que cero, lo que indica que el índice efectivo disminuye al aumentar la longitud de onda debido al </a:t>
                </a:r>
                <a:r>
                  <a:rPr lang="es-ES" sz="1200" dirty="0" err="1"/>
                  <a:t>desconfiamiento</a:t>
                </a:r>
                <a:r>
                  <a:rPr lang="es-ES" sz="1200" dirty="0"/>
                  <a:t> modal. Por otro lado, la dispersión resulta negativa porque el coeficiente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3</m:t>
                        </m:r>
                      </m:sub>
                    </m:sSub>
                  </m:oMath>
                </a14:m>
                <a:r>
                  <a:rPr lang="es-ES" sz="1200" dirty="0"/>
                  <a:t>es positivo, según la relación </a:t>
                </a:r>
                <a14:m>
                  <m:oMath xmlns:m="http://schemas.openxmlformats.org/officeDocument/2006/math">
                    <m:r>
                      <a:rPr lang="es-ES" sz="1200" i="1">
                        <a:latin typeface="Cambria Math" panose="02040503050406030204" pitchFamily="18" charset="0"/>
                      </a:rPr>
                      <m:t>𝐷</m:t>
                    </m:r>
                    <m:r>
                      <a:rPr lang="es-ES" sz="1200">
                        <a:latin typeface="Cambria Math" panose="02040503050406030204" pitchFamily="18" charset="0"/>
                      </a:rPr>
                      <m:t>=−</m:t>
                    </m:r>
                    <m:f>
                      <m:fPr>
                        <m:ctrlPr>
                          <a:rPr lang="ar-AE" sz="1200" i="1">
                            <a:latin typeface="Cambria Math" panose="02040503050406030204" pitchFamily="18" charset="0"/>
                          </a:rPr>
                        </m:ctrlPr>
                      </m:fPr>
                      <m:num>
                        <m:r>
                          <a:rPr lang="ar-AE" sz="1200">
                            <a:latin typeface="Cambria Math" panose="02040503050406030204" pitchFamily="18" charset="0"/>
                          </a:rPr>
                          <m:t>2</m:t>
                        </m:r>
                        <m:sSub>
                          <m:sSubPr>
                            <m:ctrlPr>
                              <a:rPr lang="ar-AE" sz="1200" i="1">
                                <a:latin typeface="Cambria Math" panose="02040503050406030204" pitchFamily="18" charset="0"/>
                              </a:rPr>
                            </m:ctrlPr>
                          </m:sSubPr>
                          <m:e>
                            <m:r>
                              <a:rPr lang="ar-AE" sz="1200" i="1">
                                <a:latin typeface="Cambria Math" panose="02040503050406030204" pitchFamily="18" charset="0"/>
                              </a:rPr>
                              <m:t>𝜆</m:t>
                            </m:r>
                          </m:e>
                          <m:sub>
                            <m:r>
                              <a:rPr lang="ar-AE" sz="1200">
                                <a:latin typeface="Cambria Math" panose="02040503050406030204" pitchFamily="18" charset="0"/>
                              </a:rPr>
                              <m:t>0</m:t>
                            </m:r>
                          </m:sub>
                        </m:sSub>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3</m:t>
                            </m:r>
                          </m:sub>
                        </m:sSub>
                      </m:num>
                      <m:den>
                        <m:r>
                          <a:rPr lang="ar-AE" sz="1200" i="1">
                            <a:latin typeface="Cambria Math" panose="02040503050406030204" pitchFamily="18" charset="0"/>
                          </a:rPr>
                          <m:t>𝑐</m:t>
                        </m:r>
                      </m:den>
                    </m:f>
                  </m:oMath>
                </a14:m>
                <a:r>
                  <a:rPr lang="ar-AE" sz="1200" dirty="0"/>
                  <a:t>, </a:t>
                </a:r>
                <a:r>
                  <a:rPr lang="es-ES" sz="1200" dirty="0"/>
                  <a:t>lo que implica una curvatura cóncava hacia arriba del índice efectivo en el rango analizado.</a:t>
                </a:r>
              </a:p>
              <a:p>
                <a:pPr algn="just"/>
                <a:endParaRPr lang="en-US" sz="1200" dirty="0">
                  <a:cs typeface="Arial" panose="020B0604020202020204" pitchFamily="34" charset="0"/>
                </a:endParaRPr>
              </a:p>
              <a:p>
                <a:pPr algn="just"/>
                <a:r>
                  <a:rPr lang="es-ES" sz="1200" dirty="0"/>
                  <a:t>Asimismo, se observa que la guía </a:t>
                </a:r>
                <a:r>
                  <a:rPr lang="es-ES" sz="1200" dirty="0" err="1"/>
                  <a:t>shallow</a:t>
                </a:r>
                <a:r>
                  <a:rPr lang="es-ES" sz="1200" dirty="0"/>
                  <a:t> presenta valores ligeramente mayores de índice efectivo que la </a:t>
                </a:r>
                <a:r>
                  <a:rPr lang="es-ES" sz="1200" dirty="0" err="1"/>
                  <a:t>deep</a:t>
                </a:r>
                <a:r>
                  <a:rPr lang="es-ES" sz="1200" dirty="0"/>
                  <a:t>, lo que indica un mayor confinamiento modal debido a la presencia del </a:t>
                </a:r>
                <a:r>
                  <a:rPr lang="es-ES" sz="1200" dirty="0" err="1"/>
                  <a:t>slab</a:t>
                </a:r>
                <a:r>
                  <a:rPr lang="es-ES" sz="1200" dirty="0"/>
                  <a:t>.</a:t>
                </a:r>
                <a:endParaRPr lang="en-US" sz="1200" dirty="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11E2B217-7A2F-7F84-8CFC-E023D5FB8F3B}"/>
                  </a:ext>
                </a:extLst>
              </p:cNvPr>
              <p:cNvSpPr txBox="1">
                <a:spLocks noRot="1" noChangeAspect="1" noMove="1" noResize="1" noEditPoints="1" noAdjustHandles="1" noChangeArrowheads="1" noChangeShapeType="1" noTextEdit="1"/>
              </p:cNvSpPr>
              <p:nvPr/>
            </p:nvSpPr>
            <p:spPr>
              <a:xfrm>
                <a:off x="481668" y="1690095"/>
                <a:ext cx="11198542" cy="3849324"/>
              </a:xfrm>
              <a:prstGeom prst="rect">
                <a:avLst/>
              </a:prstGeom>
              <a:blipFill>
                <a:blip r:embed="rId5"/>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3463398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6078894" y="1816202"/>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5" name="Imagen 4" descr="Gráfico, Gráfico de dispersión&#10;&#10;El contenido generado por IA puede ser incorrecto.">
            <a:extLst>
              <a:ext uri="{FF2B5EF4-FFF2-40B4-BE49-F238E27FC236}">
                <a16:creationId xmlns:a16="http://schemas.microsoft.com/office/drawing/2014/main" id="{70A89036-EB7E-9A46-D116-F1BAD743101C}"/>
              </a:ext>
            </a:extLst>
          </p:cNvPr>
          <p:cNvPicPr>
            <a:picLocks noChangeAspect="1"/>
          </p:cNvPicPr>
          <p:nvPr/>
        </p:nvPicPr>
        <p:blipFill>
          <a:blip r:embed="rId5"/>
          <a:srcRect l="1995" t="902" r="1855" b="2727"/>
          <a:stretch>
            <a:fillRect/>
          </a:stretch>
        </p:blipFill>
        <p:spPr>
          <a:xfrm>
            <a:off x="609441" y="1418373"/>
            <a:ext cx="5118270" cy="3306028"/>
          </a:xfrm>
          <a:prstGeom prst="rect">
            <a:avLst/>
          </a:prstGeom>
        </p:spPr>
      </p:pic>
      <p:pic>
        <p:nvPicPr>
          <p:cNvPr id="9" name="Imagen 8" descr="Gráfico, Gráfico de líneas&#10;&#10;El contenido generado por IA puede ser incorrecto.">
            <a:extLst>
              <a:ext uri="{FF2B5EF4-FFF2-40B4-BE49-F238E27FC236}">
                <a16:creationId xmlns:a16="http://schemas.microsoft.com/office/drawing/2014/main" id="{9A312882-DF5D-CE26-F7E3-9D817AD22C22}"/>
              </a:ext>
            </a:extLst>
          </p:cNvPr>
          <p:cNvPicPr>
            <a:picLocks noChangeAspect="1"/>
          </p:cNvPicPr>
          <p:nvPr/>
        </p:nvPicPr>
        <p:blipFill>
          <a:blip r:embed="rId6"/>
          <a:srcRect t="2021" b="733"/>
          <a:stretch>
            <a:fillRect/>
          </a:stretch>
        </p:blipFill>
        <p:spPr>
          <a:xfrm>
            <a:off x="5867400" y="1453282"/>
            <a:ext cx="5942011" cy="3270101"/>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D025F-7C56-CF6A-394E-203CB01B0E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811E270-6497-C24F-31EF-DFFBAE5521EA}"/>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BBE2C89A-E812-F179-8A96-5A335CB2A3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4571273-BA80-70DE-5420-91DCEDAF3C4C}"/>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01FB8752-4AC3-FBE5-E695-D52471548915}"/>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C1DBD8C0-0238-565F-ED3C-EDDA517BD7D2}"/>
              </a:ext>
            </a:extLst>
          </p:cNvPr>
          <p:cNvSpPr txBox="1"/>
          <p:nvPr/>
        </p:nvSpPr>
        <p:spPr>
          <a:xfrm>
            <a:off x="228600" y="1219200"/>
            <a:ext cx="11734800" cy="507831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la </a:t>
            </a:r>
            <a:r>
              <a:rPr lang="en-US" sz="1200" dirty="0" err="1">
                <a:latin typeface="Arial" panose="020B0604020202020204" pitchFamily="34" charset="0"/>
                <a:cs typeface="Arial" panose="020B0604020202020204" pitchFamily="34" charset="0"/>
              </a:rPr>
              <a:t>ejecución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simulado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del radio de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se ha </a:t>
            </a:r>
            <a:r>
              <a:rPr lang="en-US" sz="1200" dirty="0" err="1">
                <a:latin typeface="Arial" panose="020B0604020202020204" pitchFamily="34" charset="0"/>
                <a:cs typeface="Arial" panose="020B0604020202020204" pitchFamily="34" charset="0"/>
              </a:rPr>
              <a:t>simulado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de 25 a 150 um. Cabe </a:t>
            </a:r>
            <a:r>
              <a:rPr lang="en-US" sz="1200" dirty="0" err="1">
                <a:latin typeface="Arial" panose="020B0604020202020204" pitchFamily="34" charset="0"/>
                <a:cs typeface="Arial" panose="020B0604020202020204" pitchFamily="34" charset="0"/>
              </a:rPr>
              <a:t>mencionar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dichas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resultan</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suma</a:t>
            </a:r>
            <a:r>
              <a:rPr lang="en-US" sz="1200" dirty="0">
                <a:latin typeface="Arial" panose="020B0604020202020204" pitchFamily="34" charset="0"/>
                <a:cs typeface="Arial" panose="020B0604020202020204" pitchFamily="34" charset="0"/>
              </a:rPr>
              <a:t> de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y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propagacion</a:t>
            </a:r>
            <a:r>
              <a:rPr lang="en-US" sz="1200" dirty="0">
                <a:latin typeface="Arial" panose="020B0604020202020204" pitchFamily="34" charset="0"/>
                <a:cs typeface="Arial" panose="020B0604020202020204" pitchFamily="34" charset="0"/>
              </a:rPr>
              <a:t>. Las de </a:t>
            </a:r>
            <a:r>
              <a:rPr lang="en-US" sz="1200" dirty="0" err="1">
                <a:latin typeface="Arial" panose="020B0604020202020204" pitchFamily="34" charset="0"/>
                <a:cs typeface="Arial" panose="020B0604020202020204" pitchFamily="34" charset="0"/>
              </a:rPr>
              <a:t>radiación</a:t>
            </a:r>
            <a:r>
              <a:rPr lang="en-US" sz="1200" dirty="0">
                <a:latin typeface="Arial" panose="020B0604020202020204" pitchFamily="34" charset="0"/>
                <a:cs typeface="Arial" panose="020B0604020202020204" pitchFamily="34" charset="0"/>
              </a:rPr>
              <a:t> no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nitruro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dichas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radiación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resultan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pequeñas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tanto no es </a:t>
            </a:r>
            <a:r>
              <a:rPr lang="en-US" sz="1200" dirty="0" err="1">
                <a:latin typeface="Arial" panose="020B0604020202020204" pitchFamily="34" charset="0"/>
                <a:cs typeface="Arial" panose="020B0604020202020204" pitchFamily="34" charset="0"/>
              </a:rPr>
              <a:t>necesario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estudio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la </a:t>
            </a:r>
            <a:r>
              <a:rPr lang="en-US" sz="1200" dirty="0" err="1">
                <a:latin typeface="Arial" panose="020B0604020202020204" pitchFamily="34" charset="0"/>
                <a:cs typeface="Arial" panose="020B0604020202020204" pitchFamily="34" charset="0"/>
              </a:rPr>
              <a:t>primera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modo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simulación</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elegido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de 1.5 dB/cm.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concluir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radios de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menores</a:t>
            </a:r>
            <a:r>
              <a:rPr lang="en-US" sz="1200" dirty="0">
                <a:latin typeface="Arial" panose="020B0604020202020204" pitchFamily="34" charset="0"/>
                <a:cs typeface="Arial" panose="020B0604020202020204" pitchFamily="34" charset="0"/>
              </a:rPr>
              <a:t> de 75 um,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modo son </a:t>
            </a:r>
            <a:r>
              <a:rPr lang="en-US" sz="1200" dirty="0" err="1">
                <a:latin typeface="Arial" panose="020B0604020202020204" pitchFamily="34" charset="0"/>
                <a:cs typeface="Arial" panose="020B0604020202020204" pitchFamily="34" charset="0"/>
              </a:rPr>
              <a:t>mucho</a:t>
            </a:r>
            <a:r>
              <a:rPr lang="en-US" sz="1200" dirty="0">
                <a:latin typeface="Arial" panose="020B0604020202020204" pitchFamily="34" charset="0"/>
                <a:cs typeface="Arial" panose="020B0604020202020204" pitchFamily="34" charset="0"/>
              </a:rPr>
              <a:t> mas </a:t>
            </a:r>
            <a:r>
              <a:rPr lang="en-US" sz="1200" dirty="0" err="1">
                <a:latin typeface="Arial" panose="020B0604020202020204" pitchFamily="34" charset="0"/>
                <a:cs typeface="Arial" panose="020B0604020202020204" pitchFamily="34" charset="0"/>
              </a:rPr>
              <a:t>significativas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las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Por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 radios </a:t>
            </a:r>
            <a:r>
              <a:rPr lang="en-US" sz="1200" dirty="0" err="1">
                <a:latin typeface="Arial" panose="020B0604020202020204" pitchFamily="34" charset="0"/>
                <a:cs typeface="Arial" panose="020B0604020202020204" pitchFamily="34" charset="0"/>
              </a:rPr>
              <a:t>mayores</a:t>
            </a:r>
            <a:r>
              <a:rPr lang="en-US" sz="1200" dirty="0">
                <a:latin typeface="Arial" panose="020B0604020202020204" pitchFamily="34" charset="0"/>
                <a:cs typeface="Arial" panose="020B0604020202020204" pitchFamily="34" charset="0"/>
              </a:rPr>
              <a:t> de 75 um </a:t>
            </a:r>
            <a:r>
              <a:rPr lang="en-US" sz="1200" dirty="0" err="1">
                <a:latin typeface="Arial" panose="020B0604020202020204" pitchFamily="34" charset="0"/>
                <a:cs typeface="Arial" panose="020B0604020202020204" pitchFamily="34" charset="0"/>
              </a:rPr>
              <a:t>empiezan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predominar</a:t>
            </a:r>
            <a:r>
              <a:rPr lang="en-US" sz="1200" dirty="0">
                <a:latin typeface="Arial" panose="020B0604020202020204" pitchFamily="34" charset="0"/>
                <a:cs typeface="Arial" panose="020B0604020202020204" pitchFamily="34" charset="0"/>
              </a:rPr>
              <a:t> las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se también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observer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modo </a:t>
            </a:r>
            <a:r>
              <a:rPr lang="en-US" sz="1200" dirty="0" err="1">
                <a:latin typeface="Arial" panose="020B0604020202020204" pitchFamily="34" charset="0"/>
                <a:cs typeface="Arial" panose="020B0604020202020204" pitchFamily="34" charset="0"/>
              </a:rPr>
              <a:t>disminuyen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aproximadamente</a:t>
            </a:r>
            <a:r>
              <a:rPr lang="en-US" sz="1200" dirty="0">
                <a:latin typeface="Arial" panose="020B0604020202020204" pitchFamily="34" charset="0"/>
                <a:cs typeface="Arial" panose="020B0604020202020204" pitchFamily="34" charset="0"/>
              </a:rPr>
              <a:t> de forma </a:t>
            </a:r>
            <a:r>
              <a:rPr lang="en-US" sz="1200" dirty="0" err="1">
                <a:latin typeface="Arial" panose="020B0604020202020204" pitchFamily="34" charset="0"/>
                <a:cs typeface="Arial" panose="020B0604020202020204" pitchFamily="34" charset="0"/>
              </a:rPr>
              <a:t>exponencial</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aumentar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radio de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aproximadamente</a:t>
            </a:r>
            <a:r>
              <a:rPr lang="en-US" sz="1200" dirty="0">
                <a:latin typeface="Arial" panose="020B0604020202020204" pitchFamily="34" charset="0"/>
                <a:cs typeface="Arial" panose="020B0604020202020204" pitchFamily="34" charset="0"/>
              </a:rPr>
              <a:t> de forma lineal.</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Para radios de curvatura pequeños, la fuerte curvatura provoca un desplazamiento del modo óptico hacia el borde exterior de la guía de onda, reduciendo su confinamiento y dando lugar a pérdidas significativas de modo, ya que parte del modo deja de estar guiado. A medida que el radio de curvatura aumenta, la curvatura se suaviza y las pérdidas de modo disminuyen. En este régimen, las pérdidas de propagación pasan a dominar debido al aumento de la longitud del recorrido del modo en la sección curvada.</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 partir de la gráfica de pérdidas totales también es posible determinar el radio seguro y el radio óptimo de curvatura. El radio seguro se define como aquel para el cual las pérdidas totales son menores de 0.1 dB. En este caso, dicha condición se cumple a partir de aproximadamente 30 µm. Por otro lado, el radio óptimo corresponde al valor del radio para el cual las pérdidas totales son mínimas. Observando la gráfica, este mínimo se encuentra aproximadamente en el rango de 80 a 85 µm.</a:t>
            </a:r>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a:t>
            </a:r>
          </a:p>
          <a:p>
            <a:pPr algn="just"/>
            <a:r>
              <a:rPr lang="es-ES" sz="1200" dirty="0">
                <a:latin typeface="Arial" panose="020B0604020202020204" pitchFamily="34" charset="0"/>
                <a:cs typeface="Arial" panose="020B0604020202020204" pitchFamily="34" charset="0"/>
              </a:rPr>
              <a:t>Además de las pérdidas, también se ha analizado cómo varía el índice efectivo del modo fundamental TE con el radio de curvatura. En la segunda gráfica se observa que, para radios pequeños, el índice efectivo es ligeramente mayor debido a que la fuerte curvatura altera la distribución del modo dentro de la guía. A medida que el radio de curvatura aumenta, la guía se comporta de forma más similar a una guía recta, por lo que el índice efectivo disminuye ligeramente y tiende a estabilizarse. Para radios grandes, las variaciones del índice efectivo son muy pequeñas, lo que indica que la influencia de la curvatura sobre la propagación del modo es prácticamente despreciable. El ligero aumento observado a partir de aproximadamente 125 µm se debe a que el modo vuelve a concentrarse más en el núcleo de la guía, acercándose así al valor de índice efectivo correspondiente a una guía recta.</a:t>
            </a:r>
            <a:endParaRPr lang="en-US" sz="1200"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677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550AF-7EAA-8177-5F2B-4FAF9EC9E93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3AB4E06-78AA-34FE-920A-700390F13354}"/>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spcBef>
                <a:spcPts val="100"/>
              </a:spcBef>
            </a:pPr>
            <a:r>
              <a:rPr lang="en-US" sz="2500" dirty="0"/>
              <a:t>EJERCICIOS EXTRA</a:t>
            </a:r>
            <a:br>
              <a:rPr lang="en-US" sz="2500" dirty="0"/>
            </a:b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0C62A384-9894-F4AB-7152-DDD1B519DE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7F7A888-9AFD-46FE-5D0B-9A1149CAA8AF}"/>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3F8F78A0-2405-D366-9165-4CB016A56926}"/>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14" name="CuadroTexto 13">
            <a:extLst>
              <a:ext uri="{FF2B5EF4-FFF2-40B4-BE49-F238E27FC236}">
                <a16:creationId xmlns:a16="http://schemas.microsoft.com/office/drawing/2014/main" id="{D10220D1-AE1F-A176-41E7-4E5B9E0A66FB}"/>
              </a:ext>
            </a:extLst>
          </p:cNvPr>
          <p:cNvSpPr txBox="1"/>
          <p:nvPr/>
        </p:nvSpPr>
        <p:spPr>
          <a:xfrm>
            <a:off x="496014" y="2133600"/>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En </a:t>
            </a:r>
            <a:r>
              <a:rPr lang="en-US" sz="1200" b="1" i="1" dirty="0" err="1">
                <a:latin typeface="Arial" panose="020B0604020202020204" pitchFamily="34" charset="0"/>
                <a:cs typeface="Arial" panose="020B0604020202020204" pitchFamily="34" charset="0"/>
              </a:rPr>
              <a:t>este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ejercicio</a:t>
            </a:r>
            <a:r>
              <a:rPr lang="en-US" sz="1200" b="1" i="1" dirty="0">
                <a:latin typeface="Arial" panose="020B0604020202020204" pitchFamily="34" charset="0"/>
                <a:cs typeface="Arial" panose="020B0604020202020204" pitchFamily="34" charset="0"/>
              </a:rPr>
              <a:t> y </a:t>
            </a:r>
            <a:r>
              <a:rPr lang="en-US" sz="1200" b="1" i="1" dirty="0" err="1">
                <a:latin typeface="Arial" panose="020B0604020202020204" pitchFamily="34" charset="0"/>
                <a:cs typeface="Arial" panose="020B0604020202020204" pitchFamily="34" charset="0"/>
              </a:rPr>
              <a:t>en</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los</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próximos</a:t>
            </a:r>
            <a:r>
              <a:rPr lang="en-US" sz="1200" b="1" i="1" dirty="0">
                <a:latin typeface="Arial" panose="020B0604020202020204" pitchFamily="34" charset="0"/>
                <a:cs typeface="Arial" panose="020B0604020202020204" pitchFamily="34" charset="0"/>
              </a:rPr>
              <a:t>, se ha </a:t>
            </a:r>
            <a:r>
              <a:rPr lang="en-US" sz="1200" b="1" i="1" dirty="0" err="1">
                <a:latin typeface="Arial" panose="020B0604020202020204" pitchFamily="34" charset="0"/>
                <a:cs typeface="Arial" panose="020B0604020202020204" pitchFamily="34" charset="0"/>
              </a:rPr>
              <a:t>sustituido</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material del </a:t>
            </a:r>
            <a:r>
              <a:rPr lang="en-US" sz="1200" b="1" i="1" dirty="0" err="1">
                <a:latin typeface="Arial" panose="020B0604020202020204" pitchFamily="34" charset="0"/>
                <a:cs typeface="Arial" panose="020B0604020202020204" pitchFamily="34" charset="0"/>
              </a:rPr>
              <a:t>núcleo</a:t>
            </a:r>
            <a:r>
              <a:rPr lang="en-US" sz="1200" b="1" i="1" dirty="0">
                <a:latin typeface="Arial" panose="020B0604020202020204" pitchFamily="34" charset="0"/>
                <a:cs typeface="Arial" panose="020B0604020202020204" pitchFamily="34" charset="0"/>
              </a:rPr>
              <a:t> de la </a:t>
            </a:r>
            <a:r>
              <a:rPr lang="en-US" sz="1200" b="1" i="1" dirty="0" err="1">
                <a:latin typeface="Arial" panose="020B0604020202020204" pitchFamily="34" charset="0"/>
                <a:cs typeface="Arial" panose="020B0604020202020204" pitchFamily="34" charset="0"/>
              </a:rPr>
              <a:t>guía</a:t>
            </a:r>
            <a:r>
              <a:rPr lang="en-US" sz="1200" b="1" i="1" dirty="0">
                <a:latin typeface="Arial" panose="020B0604020202020204" pitchFamily="34" charset="0"/>
                <a:cs typeface="Arial" panose="020B0604020202020204" pitchFamily="34" charset="0"/>
              </a:rPr>
              <a:t> de </a:t>
            </a:r>
            <a:r>
              <a:rPr lang="en-US" sz="1200" b="1" i="1" dirty="0" err="1">
                <a:latin typeface="Arial" panose="020B0604020202020204" pitchFamily="34" charset="0"/>
                <a:cs typeface="Arial" panose="020B0604020202020204" pitchFamily="34" charset="0"/>
              </a:rPr>
              <a:t>onda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por</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silicio</a:t>
            </a:r>
            <a:r>
              <a:rPr lang="en-US" sz="1200" b="1" i="1" dirty="0">
                <a:latin typeface="Arial" panose="020B0604020202020204" pitchFamily="34" charset="0"/>
                <a:cs typeface="Arial" panose="020B0604020202020204" pitchFamily="34" charset="0"/>
              </a:rPr>
              <a:t> (Si), </a:t>
            </a:r>
            <a:r>
              <a:rPr lang="en-US" sz="1200" b="1" i="1" dirty="0" err="1">
                <a:latin typeface="Arial" panose="020B0604020202020204" pitchFamily="34" charset="0"/>
                <a:cs typeface="Arial" panose="020B0604020202020204" pitchFamily="34" charset="0"/>
              </a:rPr>
              <a:t>mientras</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que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de la </a:t>
            </a:r>
            <a:r>
              <a:rPr lang="en-US" sz="1200" b="1" i="1" dirty="0" err="1">
                <a:latin typeface="Arial" panose="020B0604020202020204" pitchFamily="34" charset="0"/>
                <a:cs typeface="Arial" panose="020B0604020202020204" pitchFamily="34" charset="0"/>
              </a:rPr>
              <a:t>cubierta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va</a:t>
            </a:r>
            <a:r>
              <a:rPr lang="en-US" sz="1200" b="1" i="1" dirty="0">
                <a:latin typeface="Arial" panose="020B0604020202020204" pitchFamily="34" charset="0"/>
                <a:cs typeface="Arial" panose="020B0604020202020204" pitchFamily="34" charset="0"/>
              </a:rPr>
              <a:t> a ser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mismo</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que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anteriormente</a:t>
            </a:r>
            <a:r>
              <a:rPr lang="en-US" sz="1200" b="1" i="1" dirty="0">
                <a:latin typeface="Arial" panose="020B0604020202020204" pitchFamily="34" charset="0"/>
                <a:cs typeface="Arial" panose="020B0604020202020204" pitchFamily="34" charset="0"/>
              </a:rPr>
              <a:t> (Si02). El </a:t>
            </a:r>
            <a:r>
              <a:rPr lang="en-US" sz="1200" b="1" i="1" dirty="0" err="1">
                <a:latin typeface="Arial" panose="020B0604020202020204" pitchFamily="34" charset="0"/>
                <a:cs typeface="Arial" panose="020B0604020202020204" pitchFamily="34" charset="0"/>
              </a:rPr>
              <a:t>silicio</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presenta</a:t>
            </a:r>
            <a:r>
              <a:rPr lang="en-US" sz="1200" b="1" i="1" dirty="0">
                <a:latin typeface="Arial" panose="020B0604020202020204" pitchFamily="34" charset="0"/>
                <a:cs typeface="Arial" panose="020B0604020202020204" pitchFamily="34" charset="0"/>
              </a:rPr>
              <a:t> un </a:t>
            </a:r>
            <a:r>
              <a:rPr lang="en-US" sz="1200" b="1" i="1" dirty="0" err="1">
                <a:latin typeface="Arial" panose="020B0604020202020204" pitchFamily="34" charset="0"/>
                <a:cs typeface="Arial" panose="020B0604020202020204" pitchFamily="34" charset="0"/>
              </a:rPr>
              <a:t>índice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efectivo</a:t>
            </a:r>
            <a:r>
              <a:rPr lang="en-US" sz="1200" b="1" i="1" dirty="0">
                <a:latin typeface="Arial" panose="020B0604020202020204" pitchFamily="34" charset="0"/>
                <a:cs typeface="Arial" panose="020B0604020202020204" pitchFamily="34" charset="0"/>
              </a:rPr>
              <a:t> de </a:t>
            </a:r>
            <a:r>
              <a:rPr lang="en-US" sz="1200" b="1" i="1" dirty="0" err="1">
                <a:latin typeface="Arial" panose="020B0604020202020204" pitchFamily="34" charset="0"/>
                <a:cs typeface="Arial" panose="020B0604020202020204" pitchFamily="34" charset="0"/>
              </a:rPr>
              <a:t>alrededor</a:t>
            </a:r>
            <a:r>
              <a:rPr lang="en-US" sz="1200" b="1" i="1" dirty="0">
                <a:latin typeface="Arial" panose="020B0604020202020204" pitchFamily="34" charset="0"/>
                <a:cs typeface="Arial" panose="020B0604020202020204" pitchFamily="34" charset="0"/>
              </a:rPr>
              <a:t> de 3.47 </a:t>
            </a:r>
            <a:r>
              <a:rPr lang="en-US" sz="1200" b="1" i="1" dirty="0" err="1">
                <a:latin typeface="Arial" panose="020B0604020202020204" pitchFamily="34" charset="0"/>
                <a:cs typeface="Arial" panose="020B0604020202020204" pitchFamily="34" charset="0"/>
              </a:rPr>
              <a:t>en</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rango</a:t>
            </a:r>
            <a:r>
              <a:rPr lang="en-US" sz="1200" b="1" i="1" dirty="0">
                <a:latin typeface="Arial" panose="020B0604020202020204" pitchFamily="34" charset="0"/>
                <a:cs typeface="Arial" panose="020B0604020202020204" pitchFamily="34" charset="0"/>
              </a:rPr>
              <a:t> de longitudes de </a:t>
            </a:r>
            <a:r>
              <a:rPr lang="en-US" sz="1200" b="1" i="1" dirty="0" err="1">
                <a:latin typeface="Arial" panose="020B0604020202020204" pitchFamily="34" charset="0"/>
                <a:cs typeface="Arial" panose="020B0604020202020204" pitchFamily="34" charset="0"/>
              </a:rPr>
              <a:t>onda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estudiados</a:t>
            </a:r>
            <a:r>
              <a:rPr lang="en-US" sz="1200" b="1" i="1" dirty="0">
                <a:latin typeface="Arial" panose="020B0604020202020204" pitchFamily="34" charset="0"/>
                <a:cs typeface="Arial" panose="020B0604020202020204" pitchFamily="34" charset="0"/>
              </a:rPr>
              <a:t>. </a:t>
            </a:r>
          </a:p>
          <a:p>
            <a:pPr algn="just"/>
            <a:endParaRPr lang="en-US" sz="1200" b="1" i="1" dirty="0">
              <a:latin typeface="Arial" panose="020B0604020202020204" pitchFamily="34" charset="0"/>
              <a:cs typeface="Arial" panose="020B0604020202020204" pitchFamily="34" charset="0"/>
            </a:endParaRPr>
          </a:p>
          <a:p>
            <a:pPr algn="just"/>
            <a:r>
              <a:rPr lang="en-US" sz="1200" b="1" i="1" dirty="0" err="1">
                <a:latin typeface="Arial" panose="020B0604020202020204" pitchFamily="34" charset="0"/>
                <a:cs typeface="Arial" panose="020B0604020202020204" pitchFamily="34" charset="0"/>
              </a:rPr>
              <a:t>Además</a:t>
            </a:r>
            <a:r>
              <a:rPr lang="en-US" sz="1200" b="1" i="1" dirty="0">
                <a:latin typeface="Arial" panose="020B0604020202020204" pitchFamily="34" charset="0"/>
                <a:cs typeface="Arial" panose="020B0604020202020204" pitchFamily="34" charset="0"/>
              </a:rPr>
              <a:t> de </a:t>
            </a:r>
            <a:r>
              <a:rPr lang="en-US" sz="1200" b="1" i="1" dirty="0" err="1">
                <a:latin typeface="Arial" panose="020B0604020202020204" pitchFamily="34" charset="0"/>
                <a:cs typeface="Arial" panose="020B0604020202020204" pitchFamily="34" charset="0"/>
              </a:rPr>
              <a:t>cambiar</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material del </a:t>
            </a:r>
            <a:r>
              <a:rPr lang="en-US" sz="1200" b="1" i="1" dirty="0" err="1">
                <a:latin typeface="Arial" panose="020B0604020202020204" pitchFamily="34" charset="0"/>
                <a:cs typeface="Arial" panose="020B0604020202020204" pitchFamily="34" charset="0"/>
              </a:rPr>
              <a:t>núcleo</a:t>
            </a:r>
            <a:r>
              <a:rPr lang="en-US" sz="1200" b="1" i="1" dirty="0">
                <a:latin typeface="Arial" panose="020B0604020202020204" pitchFamily="34" charset="0"/>
                <a:cs typeface="Arial" panose="020B0604020202020204" pitchFamily="34" charset="0"/>
              </a:rPr>
              <a:t>, También se </a:t>
            </a:r>
            <a:r>
              <a:rPr lang="en-US" sz="1200" b="1" i="1" dirty="0" err="1">
                <a:latin typeface="Arial" panose="020B0604020202020204" pitchFamily="34" charset="0"/>
                <a:cs typeface="Arial" panose="020B0604020202020204" pitchFamily="34" charset="0"/>
              </a:rPr>
              <a:t>han</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hecho</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unas</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modificaciones</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en</a:t>
            </a:r>
            <a:r>
              <a:rPr lang="en-US" sz="1200" b="1" i="1" dirty="0">
                <a:latin typeface="Arial" panose="020B0604020202020204" pitchFamily="34" charset="0"/>
                <a:cs typeface="Arial" panose="020B0604020202020204" pitchFamily="34" charset="0"/>
              </a:rPr>
              <a:t> las </a:t>
            </a:r>
            <a:r>
              <a:rPr lang="en-US" sz="1200" b="1" i="1" dirty="0" err="1">
                <a:latin typeface="Arial" panose="020B0604020202020204" pitchFamily="34" charset="0"/>
                <a:cs typeface="Arial" panose="020B0604020202020204" pitchFamily="34" charset="0"/>
              </a:rPr>
              <a:t>dimensiones</a:t>
            </a:r>
            <a:r>
              <a:rPr lang="en-US" sz="1200" b="1" i="1" dirty="0">
                <a:latin typeface="Arial" panose="020B0604020202020204" pitchFamily="34" charset="0"/>
                <a:cs typeface="Arial" panose="020B0604020202020204" pitchFamily="34" charset="0"/>
              </a:rPr>
              <a:t> de la </a:t>
            </a:r>
            <a:r>
              <a:rPr lang="en-US" sz="1200" b="1" i="1" dirty="0" err="1">
                <a:latin typeface="Arial" panose="020B0604020202020204" pitchFamily="34" charset="0"/>
                <a:cs typeface="Arial" panose="020B0604020202020204" pitchFamily="34" charset="0"/>
              </a:rPr>
              <a:t>guía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en</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concreto</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ancho,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cual</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ahora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va</a:t>
            </a:r>
            <a:r>
              <a:rPr lang="en-US" sz="1200" b="1" i="1" dirty="0">
                <a:latin typeface="Arial" panose="020B0604020202020204" pitchFamily="34" charset="0"/>
                <a:cs typeface="Arial" panose="020B0604020202020204" pitchFamily="34" charset="0"/>
              </a:rPr>
              <a:t> a ser de 0.5 um, y la </a:t>
            </a:r>
            <a:r>
              <a:rPr lang="en-US" sz="1200" b="1" i="1" dirty="0" err="1">
                <a:latin typeface="Arial" panose="020B0604020202020204" pitchFamily="34" charset="0"/>
                <a:cs typeface="Arial" panose="020B0604020202020204" pitchFamily="34" charset="0"/>
              </a:rPr>
              <a:t>altura</a:t>
            </a:r>
            <a:r>
              <a:rPr lang="en-US" sz="1200" b="1" i="1" dirty="0">
                <a:latin typeface="Arial" panose="020B0604020202020204" pitchFamily="34" charset="0"/>
                <a:cs typeface="Arial" panose="020B0604020202020204" pitchFamily="34" charset="0"/>
              </a:rPr>
              <a:t>, de 0.22 um. </a:t>
            </a:r>
          </a:p>
          <a:p>
            <a:pPr algn="just"/>
            <a:endParaRPr lang="en-US" sz="1200" dirty="0">
              <a:latin typeface="Arial" panose="020B0604020202020204" pitchFamily="34" charset="0"/>
              <a:cs typeface="Arial" panose="020B0604020202020204" pitchFamily="34" charset="0"/>
            </a:endParaRPr>
          </a:p>
          <a:p>
            <a:pPr algn="just"/>
            <a:endParaRPr lang="en-US" sz="12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9930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22E24-29DB-E2F3-9307-23DB7AB34ED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14FF14D-9463-1CC1-8B86-92479A35EA8B}"/>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spcBef>
                <a:spcPts val="100"/>
              </a:spcBef>
            </a:pPr>
            <a:r>
              <a:rPr lang="en-US" sz="2500" dirty="0"/>
              <a:t>EXTRA EJERCICIO 1: </a:t>
            </a:r>
            <a:br>
              <a:rPr lang="en-US" sz="2500" dirty="0"/>
            </a:br>
            <a:r>
              <a:rPr lang="en-US" b="0" dirty="0"/>
              <a:t>Repeat the LO.2. wavelength behavior simulations, considering the updated materials and dimensions</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80F73181-ED8C-350B-EA9D-FDBDC57238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61864EF-26CB-788F-DAFF-2B3187D5EE91}"/>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29936319-2C10-BCFC-21AA-A36400AD75F8}"/>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0A82FF6F-244E-0422-0BBA-FD5BC8913A02}"/>
              </a:ext>
            </a:extLst>
          </p:cNvPr>
          <p:cNvSpPr/>
          <p:nvPr/>
        </p:nvSpPr>
        <p:spPr>
          <a:xfrm>
            <a:off x="381000" y="1418372"/>
            <a:ext cx="11429999" cy="3839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a:extLst>
              <a:ext uri="{FF2B5EF4-FFF2-40B4-BE49-F238E27FC236}">
                <a16:creationId xmlns:a16="http://schemas.microsoft.com/office/drawing/2014/main" id="{7AA86609-8BC2-1A5A-00DF-AA354E7D022E}"/>
              </a:ext>
            </a:extLst>
          </p:cNvPr>
          <p:cNvPicPr>
            <a:picLocks noChangeAspect="1"/>
          </p:cNvPicPr>
          <p:nvPr/>
        </p:nvPicPr>
        <p:blipFill>
          <a:blip r:embed="rId5"/>
          <a:srcRect r="1102"/>
          <a:stretch>
            <a:fillRect/>
          </a:stretch>
        </p:blipFill>
        <p:spPr>
          <a:xfrm>
            <a:off x="532006" y="1554870"/>
            <a:ext cx="5473098" cy="3486839"/>
          </a:xfrm>
          <a:prstGeom prst="rect">
            <a:avLst/>
          </a:prstGeom>
        </p:spPr>
      </p:pic>
      <p:sp>
        <p:nvSpPr>
          <p:cNvPr id="11" name="CuadroTexto 10">
            <a:extLst>
              <a:ext uri="{FF2B5EF4-FFF2-40B4-BE49-F238E27FC236}">
                <a16:creationId xmlns:a16="http://schemas.microsoft.com/office/drawing/2014/main" id="{45E43CA7-9210-5968-B78B-45925C329253}"/>
              </a:ext>
            </a:extLst>
          </p:cNvPr>
          <p:cNvSpPr txBox="1"/>
          <p:nvPr/>
        </p:nvSpPr>
        <p:spPr>
          <a:xfrm>
            <a:off x="685800" y="5439628"/>
            <a:ext cx="3267113" cy="369332"/>
          </a:xfrm>
          <a:prstGeom prst="rect">
            <a:avLst/>
          </a:prstGeom>
          <a:noFill/>
        </p:spPr>
        <p:txBody>
          <a:bodyPr wrap="square">
            <a:spAutoFit/>
          </a:bodyPr>
          <a:lstStyle/>
          <a:p>
            <a:r>
              <a:rPr lang="en-US" dirty="0" err="1"/>
              <a:t>slab_thickness</a:t>
            </a:r>
            <a:r>
              <a:rPr lang="en-US" dirty="0"/>
              <a:t> = 150nm</a:t>
            </a:r>
            <a:endParaRPr lang="es-ES" dirty="0"/>
          </a:p>
        </p:txBody>
      </p:sp>
      <p:pic>
        <p:nvPicPr>
          <p:cNvPr id="13" name="Imagen 12">
            <a:extLst>
              <a:ext uri="{FF2B5EF4-FFF2-40B4-BE49-F238E27FC236}">
                <a16:creationId xmlns:a16="http://schemas.microsoft.com/office/drawing/2014/main" id="{85FDF6E3-3F61-832C-4589-FF828B653121}"/>
              </a:ext>
            </a:extLst>
          </p:cNvPr>
          <p:cNvPicPr>
            <a:picLocks noChangeAspect="1"/>
          </p:cNvPicPr>
          <p:nvPr/>
        </p:nvPicPr>
        <p:blipFill>
          <a:blip r:embed="rId6"/>
          <a:stretch>
            <a:fillRect/>
          </a:stretch>
        </p:blipFill>
        <p:spPr>
          <a:xfrm>
            <a:off x="6036963" y="1554870"/>
            <a:ext cx="5588819" cy="3486839"/>
          </a:xfrm>
          <a:prstGeom prst="rect">
            <a:avLst/>
          </a:prstGeom>
        </p:spPr>
      </p:pic>
    </p:spTree>
    <p:extLst>
      <p:ext uri="{BB962C8B-B14F-4D97-AF65-F5344CB8AC3E}">
        <p14:creationId xmlns:p14="http://schemas.microsoft.com/office/powerpoint/2010/main" val="1468151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90A31-EA4D-95A6-2C5E-7D0C46CA702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0744EA-A8E0-D40D-B1FD-4C37A7BFECC8}"/>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spcBef>
                <a:spcPts val="100"/>
              </a:spcBef>
            </a:pPr>
            <a:r>
              <a:rPr lang="en-US" sz="2500" dirty="0"/>
              <a:t>EXTRA EJERCICIO 1: </a:t>
            </a:r>
            <a:br>
              <a:rPr lang="en-US" sz="2500" dirty="0"/>
            </a:br>
            <a:r>
              <a:rPr lang="en-US" b="0" dirty="0"/>
              <a:t>Repeat the LO.2. wavelength behavior simulations, considering the updated materials and dimensions</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C5AEDF8F-1E47-638E-B7AD-DE8F9D9EB3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A571BAA-9282-B084-D18F-F8176D48F2F8}"/>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4A75EB05-3E07-1AA7-934E-29710A8F45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14" name="CuadroTexto 13">
            <a:extLst>
              <a:ext uri="{FF2B5EF4-FFF2-40B4-BE49-F238E27FC236}">
                <a16:creationId xmlns:a16="http://schemas.microsoft.com/office/drawing/2014/main" id="{013B78EF-DAB1-0BE3-963D-9C7ACF01DE8E}"/>
              </a:ext>
            </a:extLst>
          </p:cNvPr>
          <p:cNvSpPr txBox="1"/>
          <p:nvPr/>
        </p:nvSpPr>
        <p:spPr>
          <a:xfrm>
            <a:off x="576943" y="1945986"/>
            <a:ext cx="11199971" cy="249299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primer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extra, se </a:t>
            </a:r>
            <a:r>
              <a:rPr lang="en-US" sz="1200" dirty="0" err="1">
                <a:latin typeface="Arial" panose="020B0604020202020204" pitchFamily="34" charset="0"/>
                <a:cs typeface="Arial" panose="020B0604020202020204" pitchFamily="34" charset="0"/>
              </a:rPr>
              <a:t>pide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volver</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simular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y shallow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sus longitudes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después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haber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realizado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modificaciones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mencionadas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diapositiva</a:t>
            </a:r>
            <a:r>
              <a:rPr lang="en-US" sz="1200" dirty="0">
                <a:latin typeface="Arial" panose="020B0604020202020204" pitchFamily="34" charset="0"/>
                <a:cs typeface="Arial" panose="020B0604020202020204" pitchFamily="34" charset="0"/>
              </a:rPr>
              <a:t> anterior. Como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tanto para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la shallow,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4 </a:t>
            </a:r>
            <a:r>
              <a:rPr lang="en-US" sz="1200" dirty="0" err="1">
                <a:latin typeface="Arial" panose="020B0604020202020204" pitchFamily="34" charset="0"/>
                <a:cs typeface="Arial" panose="020B0604020202020204" pitchFamily="34" charset="0"/>
              </a:rPr>
              <a:t>primeros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De </a:t>
            </a:r>
            <a:r>
              <a:rPr lang="en-US" sz="1200" dirty="0" err="1">
                <a:latin typeface="Arial" panose="020B0604020202020204" pitchFamily="34" charset="0"/>
                <a:cs typeface="Arial" panose="020B0604020202020204" pitchFamily="34" charset="0"/>
              </a:rPr>
              <a:t>dichos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deep </a:t>
            </a:r>
            <a:r>
              <a:rPr lang="en-US" sz="1200" dirty="0" err="1">
                <a:latin typeface="Arial" panose="020B0604020202020204" pitchFamily="34" charset="0"/>
                <a:cs typeface="Arial" panose="020B0604020202020204" pitchFamily="34" charset="0"/>
              </a:rPr>
              <a:t>únicamente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guiados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primeros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tal</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explicó</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2, para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considere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un modo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guiado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ser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y mayor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de la shallow,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observer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4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lo </a:t>
            </a:r>
            <a:r>
              <a:rPr lang="en-US" sz="1200" dirty="0" err="1">
                <a:latin typeface="Arial" panose="020B0604020202020204" pitchFamily="34" charset="0"/>
                <a:cs typeface="Arial" panose="020B0604020202020204" pitchFamily="34" charset="0"/>
              </a:rPr>
              <a:t>mencionado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anteriormente</a:t>
            </a:r>
            <a:r>
              <a:rPr lang="en-US" sz="1200" dirty="0">
                <a:latin typeface="Arial" panose="020B0604020202020204" pitchFamily="34" charset="0"/>
                <a:cs typeface="Arial" panose="020B0604020202020204" pitchFamily="34" charset="0"/>
              </a:rPr>
              <a:t>. Si </a:t>
            </a:r>
            <a:r>
              <a:rPr lang="en-US" sz="1200" dirty="0" err="1">
                <a:latin typeface="Arial" panose="020B0604020202020204" pitchFamily="34" charset="0"/>
                <a:cs typeface="Arial" panose="020B0604020202020204" pitchFamily="34" charset="0"/>
              </a:rPr>
              <a:t>comparamos</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respuesta</a:t>
            </a:r>
            <a:r>
              <a:rPr lang="en-US" sz="1200" dirty="0">
                <a:latin typeface="Arial" panose="020B0604020202020204" pitchFamily="34" charset="0"/>
                <a:cs typeface="Arial" panose="020B0604020202020204" pitchFamily="34" charset="0"/>
              </a:rPr>
              <a:t> de ambas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concluir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shallow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mejor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deep,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encuentran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de 2.5-2.7, lo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es un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alto (</a:t>
            </a:r>
            <a:r>
              <a:rPr lang="en-US" sz="1200" dirty="0" err="1">
                <a:latin typeface="Arial" panose="020B0604020202020204" pitchFamily="34" charset="0"/>
                <a:cs typeface="Arial" panose="020B0604020202020204" pitchFamily="34" charset="0"/>
              </a:rPr>
              <a:t>si</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comparamos</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deep con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de Si, y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2) y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alejado</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7762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34364-F726-4E70-25B0-3E435D5C1DB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32125F2-72B1-EE46-EDCA-70E9C62023F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sz="2500" dirty="0"/>
              <a:t>EXTRA EJERCICIO 2: </a:t>
            </a:r>
            <a:br>
              <a:rPr lang="en-US" sz="2500" dirty="0"/>
            </a:br>
            <a:r>
              <a:rPr lang="en-US" b="0" dirty="0"/>
              <a:t>Repeat the LO.3. width dependence analysis, now sweeping in a 300nm-1um range.</a:t>
            </a:r>
            <a:endParaRPr lang="en-US" sz="2500" b="0" dirty="0">
              <a:latin typeface="+mj-lt"/>
              <a:cs typeface="Lucida Sans"/>
            </a:endParaRPr>
          </a:p>
        </p:txBody>
      </p:sp>
      <p:pic>
        <p:nvPicPr>
          <p:cNvPr id="83" name="Gráfico 82">
            <a:extLst>
              <a:ext uri="{FF2B5EF4-FFF2-40B4-BE49-F238E27FC236}">
                <a16:creationId xmlns:a16="http://schemas.microsoft.com/office/drawing/2014/main" id="{A97B9840-8CE3-6CFE-01BD-3EC4C6D414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D79D43A-1D27-0D6C-E491-E20AB4A63AC0}"/>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B2F8AAA4-CF12-78FA-F205-48BC49E6578D}"/>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Rectángulo 1">
            <a:extLst>
              <a:ext uri="{FF2B5EF4-FFF2-40B4-BE49-F238E27FC236}">
                <a16:creationId xmlns:a16="http://schemas.microsoft.com/office/drawing/2014/main" id="{476910BF-B5E0-B625-B154-D2486D40F9AA}"/>
              </a:ext>
            </a:extLst>
          </p:cNvPr>
          <p:cNvSpPr/>
          <p:nvPr/>
        </p:nvSpPr>
        <p:spPr>
          <a:xfrm>
            <a:off x="1752600" y="1418372"/>
            <a:ext cx="8991600" cy="45252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A294A1E6-3AE9-85A7-170D-05FDE54EDE5C}"/>
              </a:ext>
            </a:extLst>
          </p:cNvPr>
          <p:cNvPicPr>
            <a:picLocks noChangeAspect="1"/>
          </p:cNvPicPr>
          <p:nvPr/>
        </p:nvPicPr>
        <p:blipFill>
          <a:blip r:embed="rId5"/>
          <a:stretch>
            <a:fillRect/>
          </a:stretch>
        </p:blipFill>
        <p:spPr>
          <a:xfrm>
            <a:off x="2590800" y="1492414"/>
            <a:ext cx="7703820" cy="4298786"/>
          </a:xfrm>
          <a:prstGeom prst="rect">
            <a:avLst/>
          </a:prstGeom>
        </p:spPr>
      </p:pic>
    </p:spTree>
    <p:extLst>
      <p:ext uri="{BB962C8B-B14F-4D97-AF65-F5344CB8AC3E}">
        <p14:creationId xmlns:p14="http://schemas.microsoft.com/office/powerpoint/2010/main" val="1048823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70A34-D4A6-783C-E5C9-550B71E5B3B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67E14D4-BD77-7AEC-DAA7-97A0211426E2}"/>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sz="2500" dirty="0"/>
              <a:t>EXTRA EJERCICIO 2: </a:t>
            </a:r>
            <a:br>
              <a:rPr lang="en-US" sz="2500" dirty="0"/>
            </a:br>
            <a:r>
              <a:rPr lang="en-US" b="0" dirty="0"/>
              <a:t>Repeat the LO.3. width dependence analysis, now sweeping in a 300 nm-1 um range.</a:t>
            </a:r>
            <a:endParaRPr lang="en-US" sz="2500" b="0" dirty="0">
              <a:latin typeface="+mj-lt"/>
              <a:cs typeface="Lucida Sans"/>
            </a:endParaRPr>
          </a:p>
        </p:txBody>
      </p:sp>
      <p:pic>
        <p:nvPicPr>
          <p:cNvPr id="83" name="Gráfico 82">
            <a:extLst>
              <a:ext uri="{FF2B5EF4-FFF2-40B4-BE49-F238E27FC236}">
                <a16:creationId xmlns:a16="http://schemas.microsoft.com/office/drawing/2014/main" id="{54AF4C12-805D-5103-5356-9242ED9DC9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63A4406-85BA-CB34-7018-AA06F0F3BC73}"/>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9064D7DB-E23A-0105-0120-F19F2883C55A}"/>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Rectángulo 1">
            <a:extLst>
              <a:ext uri="{FF2B5EF4-FFF2-40B4-BE49-F238E27FC236}">
                <a16:creationId xmlns:a16="http://schemas.microsoft.com/office/drawing/2014/main" id="{410E4050-E671-8580-AE0E-B5B14B43A399}"/>
              </a:ext>
            </a:extLst>
          </p:cNvPr>
          <p:cNvSpPr/>
          <p:nvPr/>
        </p:nvSpPr>
        <p:spPr>
          <a:xfrm>
            <a:off x="685800" y="1831642"/>
            <a:ext cx="10591800" cy="325321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9222C7F-C85C-D61F-33C8-9EF41C843043}"/>
              </a:ext>
            </a:extLst>
          </p:cNvPr>
          <p:cNvSpPr txBox="1"/>
          <p:nvPr/>
        </p:nvSpPr>
        <p:spPr>
          <a:xfrm>
            <a:off x="685800" y="1905506"/>
            <a:ext cx="10591800" cy="3046988"/>
          </a:xfrm>
          <a:prstGeom prst="rect">
            <a:avLst/>
          </a:prstGeom>
          <a:noFill/>
        </p:spPr>
        <p:txBody>
          <a:bodyPr wrap="square">
            <a:spAutoFit/>
          </a:bodyPr>
          <a:lstStyle/>
          <a:p>
            <a:r>
              <a:rPr lang="es-ES" sz="1200" dirty="0">
                <a:latin typeface="Arial" panose="020B0604020202020204" pitchFamily="34" charset="0"/>
                <a:cs typeface="Arial" panose="020B0604020202020204" pitchFamily="34" charset="0"/>
              </a:rPr>
              <a:t>En esta gráfica se representa cómo varía el índice efectivo de los cuatro primeros modos guiados al cambiar el ancho de la guía de onda entre 0.3 µm y 1 µm. Se observa que, al aumentar el ancho de la guía, el índice efectivo de todos los modos aumenta progresivamente, y esto ocurre porque una guía más ancha permite que el modo se confine mejor dentro del núcleo de silicio. </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Además, también se aprecia que al aumentar el ancho comienzan a aparecer más modos guiados, lo que indica que la guía pasa de ser casi monomodo para anchos pequeños hasta 0.4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a soportar varios modos cuando el ancho es mayor. Se observa que el modo 0 corresponde al modo TE0,  y mantiene su polarización TE en todo el barrido: esto se debe a que es el modo fundamental y el más confinado en la guía, por lo que su polarización apenas cambia al variar el ancho. </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cambio, los modos superiores no son tan estables y su distribución de campo cambia más al modificar el ancho de la guía, por lo que pueden presentar un comportamiento más TE o más TM. Además, el </a:t>
            </a:r>
            <a:r>
              <a:rPr lang="es-ES" sz="1200" dirty="0" err="1">
                <a:latin typeface="Arial" panose="020B0604020202020204" pitchFamily="34" charset="0"/>
                <a:cs typeface="Arial" panose="020B0604020202020204" pitchFamily="34" charset="0"/>
              </a:rPr>
              <a:t>modesolver</a:t>
            </a:r>
            <a:r>
              <a:rPr lang="es-ES" sz="1200" dirty="0">
                <a:latin typeface="Arial" panose="020B0604020202020204" pitchFamily="34" charset="0"/>
                <a:cs typeface="Arial" panose="020B0604020202020204" pitchFamily="34" charset="0"/>
              </a:rPr>
              <a:t> ordena los modos según su índice efectivo en cada simulación, por lo que en los modos superiores la etiqueta puede cambiar cuando los valores de índice efectivo se acercan entre sí.</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Como conclusión, podemos decir que los modos guiados mantienen prácticamente el mismo comportamiento tanto cuando el material del núcleo es </a:t>
            </a:r>
            <a:r>
              <a:rPr lang="es-ES" sz="1200" dirty="0" err="1">
                <a:latin typeface="Arial" panose="020B0604020202020204" pitchFamily="34" charset="0"/>
                <a:cs typeface="Arial" panose="020B0604020202020204" pitchFamily="34" charset="0"/>
              </a:rPr>
              <a:t>SiN</a:t>
            </a:r>
            <a:r>
              <a:rPr lang="es-ES" sz="1200" dirty="0">
                <a:latin typeface="Arial" panose="020B0604020202020204" pitchFamily="34" charset="0"/>
                <a:cs typeface="Arial" panose="020B0604020202020204" pitchFamily="34" charset="0"/>
              </a:rPr>
              <a:t>, como cuando es Si: lo único que cambiaría es que en este último, cuando dos modos tienen un índice efectivo muy similar, se intercambian el tipo de polarización. </a:t>
            </a:r>
          </a:p>
        </p:txBody>
      </p:sp>
    </p:spTree>
    <p:extLst>
      <p:ext uri="{BB962C8B-B14F-4D97-AF65-F5344CB8AC3E}">
        <p14:creationId xmlns:p14="http://schemas.microsoft.com/office/powerpoint/2010/main" val="2122776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06822-3A24-FB58-76CE-9324C16E45E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A8B6833-B776-2CE7-8E76-D65DBBF61FA2}"/>
              </a:ext>
            </a:extLst>
          </p:cNvPr>
          <p:cNvSpPr txBox="1">
            <a:spLocks noGrp="1"/>
          </p:cNvSpPr>
          <p:nvPr>
            <p:ph type="title"/>
          </p:nvPr>
        </p:nvSpPr>
        <p:spPr>
          <a:xfrm>
            <a:off x="685800" y="408883"/>
            <a:ext cx="10994410" cy="1782539"/>
          </a:xfrm>
          <a:prstGeom prst="rect">
            <a:avLst/>
          </a:prstGeom>
        </p:spPr>
        <p:txBody>
          <a:bodyPr vert="horz" wrap="square" lIns="0" tIns="12700" rIns="0" bIns="0" rtlCol="0">
            <a:spAutoFit/>
          </a:bodyPr>
          <a:lstStyle/>
          <a:p>
            <a:pPr marL="12700">
              <a:spcBef>
                <a:spcPts val="100"/>
              </a:spcBef>
            </a:pPr>
            <a:r>
              <a:rPr lang="en-US" sz="2500" dirty="0"/>
              <a:t>EXTRA EJERCICIO 3: </a:t>
            </a:r>
            <a:br>
              <a:rPr lang="en-US" sz="2500" dirty="0"/>
            </a:br>
            <a:r>
              <a:rPr lang="en-US" b="0" dirty="0"/>
              <a:t>Find the safe radius for this technology using silicon as the core material. Consider sweeping the radius in a 5um to 30um range. </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F8CA8DF3-52A3-9289-8DE3-7B7BB0DB4A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11EF6B9-DF66-2F6E-E308-A01D0BE1C4E5}"/>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BA473A4B-4497-23A4-301A-204E9E70628F}"/>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E42F5523-C7A7-5575-059C-24A284198CE1}"/>
              </a:ext>
            </a:extLst>
          </p:cNvPr>
          <p:cNvSpPr/>
          <p:nvPr/>
        </p:nvSpPr>
        <p:spPr>
          <a:xfrm>
            <a:off x="609441" y="1418373"/>
            <a:ext cx="11199971" cy="402125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8DCAFA40-BCD7-345B-29CF-394AE5BE4A73}"/>
              </a:ext>
            </a:extLst>
          </p:cNvPr>
          <p:cNvSpPr txBox="1"/>
          <p:nvPr/>
        </p:nvSpPr>
        <p:spPr>
          <a:xfrm>
            <a:off x="6078894" y="1816202"/>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5" name="Imagen 4">
            <a:extLst>
              <a:ext uri="{FF2B5EF4-FFF2-40B4-BE49-F238E27FC236}">
                <a16:creationId xmlns:a16="http://schemas.microsoft.com/office/drawing/2014/main" id="{D4EFAC10-DFCF-3A7B-C489-24213B4545D2}"/>
              </a:ext>
            </a:extLst>
          </p:cNvPr>
          <p:cNvPicPr>
            <a:picLocks noChangeAspect="1"/>
          </p:cNvPicPr>
          <p:nvPr/>
        </p:nvPicPr>
        <p:blipFill>
          <a:blip r:embed="rId5"/>
          <a:stretch>
            <a:fillRect/>
          </a:stretch>
        </p:blipFill>
        <p:spPr>
          <a:xfrm>
            <a:off x="685800" y="1442806"/>
            <a:ext cx="4887895" cy="3920691"/>
          </a:xfrm>
          <a:prstGeom prst="rect">
            <a:avLst/>
          </a:prstGeom>
        </p:spPr>
      </p:pic>
      <p:pic>
        <p:nvPicPr>
          <p:cNvPr id="9" name="Imagen 8">
            <a:extLst>
              <a:ext uri="{FF2B5EF4-FFF2-40B4-BE49-F238E27FC236}">
                <a16:creationId xmlns:a16="http://schemas.microsoft.com/office/drawing/2014/main" id="{374C1AFF-12D3-AEAD-1EC6-2DD02BE72CA0}"/>
              </a:ext>
            </a:extLst>
          </p:cNvPr>
          <p:cNvPicPr>
            <a:picLocks noChangeAspect="1"/>
          </p:cNvPicPr>
          <p:nvPr/>
        </p:nvPicPr>
        <p:blipFill>
          <a:blip r:embed="rId6"/>
          <a:stretch>
            <a:fillRect/>
          </a:stretch>
        </p:blipFill>
        <p:spPr>
          <a:xfrm>
            <a:off x="5750889" y="1480423"/>
            <a:ext cx="6032086" cy="3920691"/>
          </a:xfrm>
          <a:prstGeom prst="rect">
            <a:avLst/>
          </a:prstGeom>
        </p:spPr>
      </p:pic>
    </p:spTree>
    <p:extLst>
      <p:ext uri="{BB962C8B-B14F-4D97-AF65-F5344CB8AC3E}">
        <p14:creationId xmlns:p14="http://schemas.microsoft.com/office/powerpoint/2010/main" val="2252519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0346F-1C11-6CE4-0C56-1065A674B6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5AB3941-E729-8651-6AFB-3F9FB2BFBCF8}"/>
              </a:ext>
            </a:extLst>
          </p:cNvPr>
          <p:cNvSpPr txBox="1">
            <a:spLocks noGrp="1"/>
          </p:cNvSpPr>
          <p:nvPr>
            <p:ph type="title"/>
          </p:nvPr>
        </p:nvSpPr>
        <p:spPr>
          <a:xfrm>
            <a:off x="583019" y="408883"/>
            <a:ext cx="11199971" cy="1782539"/>
          </a:xfrm>
          <a:prstGeom prst="rect">
            <a:avLst/>
          </a:prstGeom>
        </p:spPr>
        <p:txBody>
          <a:bodyPr vert="horz" wrap="square" lIns="0" tIns="12700" rIns="0" bIns="0" rtlCol="0">
            <a:spAutoFit/>
          </a:bodyPr>
          <a:lstStyle/>
          <a:p>
            <a:pPr marL="12700">
              <a:spcBef>
                <a:spcPts val="100"/>
              </a:spcBef>
            </a:pPr>
            <a:r>
              <a:rPr lang="en-US" sz="2500" dirty="0"/>
              <a:t>EXTRA EJERCICIO 3: </a:t>
            </a:r>
            <a:br>
              <a:rPr lang="en-US" sz="2500" dirty="0"/>
            </a:br>
            <a:r>
              <a:rPr lang="en-US" b="0" dirty="0"/>
              <a:t>Find the safe radius for this technology using silicon as the core material. Consider sweeping the radius in a 5um to 30um range. </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ACC6507C-92BA-53C7-C456-8329F38B79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0E4FA01-F4C5-3E20-A4C9-EDA76A24D394}"/>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3683F575-02B7-209A-F54D-D143B334522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0B9C3132-D722-0D81-F5A5-5CA88DA6E9D0}"/>
              </a:ext>
            </a:extLst>
          </p:cNvPr>
          <p:cNvSpPr txBox="1"/>
          <p:nvPr/>
        </p:nvSpPr>
        <p:spPr>
          <a:xfrm>
            <a:off x="583019" y="1612918"/>
            <a:ext cx="11199971" cy="341632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u="sng"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estas nuevas simulaciones se ha sustituido el núcleo de nitruro de silicio por silicio, manteniendo el dióxido de silicio como material de la cubierta. Además, en este caso se ha considerado una pérdida de propagación mayor, de 3 dB/cm. Debido al mayor índice de refracción del silicio, el modo se encuentra mucho más confinado en el núcleo, lo que da lugar a valores de índice efectivo significativamente mayores que en el caso anterior.</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la gráfica de pérdidas de la izquierda se observa un comportamiento similar al descrito previamente: las pérdidas de modo disminuyen al aumentar el radio de curvatura, mientras que las pérdidas de propagación aumentan debido al mayor recorrido del modo. Sin embargo, al considerar una pérdida de propagación mayor, la contribución de estas pérdidas es más significativa incluso siendo radios relativamente pequeños los simulados.</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Por otro lado, en la gráfica del índice efectivo en función del radio de curvatura, se observa que los valores son considerablemente mayores que en el caso del nitruro de silicio, situándose alrededor de 3. Esto se debe al mayor índice de refracción del silicio, que provoca un confinamiento más fuerte del modo dentro del núcleo. A medida que el radio de curvatura aumenta, el índice efectivo disminuye ligeramente y tiende a estabilizarse, ya que la guía se comporta cada vez más como una guía recta.</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Por último, podríamos decir que el rango de radios óptimos de 10-15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mientras que el rango de radios seguros va a ser de todos los valores simulados como mínimo, ya que para todos estos radios, su suma de pérdidas es menor a 0.1 dB.</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0442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7" y="265520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dirty="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6" name="CuadroTexto 5">
            <a:extLst>
              <a:ext uri="{FF2B5EF4-FFF2-40B4-BE49-F238E27FC236}">
                <a16:creationId xmlns:a16="http://schemas.microsoft.com/office/drawing/2014/main" id="{30DB343B-A24E-A634-93E8-282DB996B142}"/>
              </a:ext>
            </a:extLst>
          </p:cNvPr>
          <p:cNvSpPr txBox="1"/>
          <p:nvPr/>
        </p:nvSpPr>
        <p:spPr>
          <a:xfrm>
            <a:off x="1452886" y="312322"/>
            <a:ext cx="6120880" cy="2308324"/>
          </a:xfrm>
          <a:prstGeom prst="rect">
            <a:avLst/>
          </a:prstGeom>
          <a:noFill/>
        </p:spPr>
        <p:txBody>
          <a:bodyPr wrap="square">
            <a:spAutoFit/>
          </a:bodyPr>
          <a:lstStyle/>
          <a:p>
            <a:r>
              <a:rPr lang="es-ES" b="1" dirty="0" err="1"/>
              <a:t>git</a:t>
            </a:r>
            <a:r>
              <a:rPr lang="es-ES" b="1" dirty="0"/>
              <a:t> </a:t>
            </a:r>
            <a:r>
              <a:rPr lang="es-ES" b="1" dirty="0" err="1"/>
              <a:t>config</a:t>
            </a:r>
            <a:r>
              <a:rPr lang="es-ES" b="1" dirty="0"/>
              <a:t> --global user.name "{Tu nombre de usuario}"</a:t>
            </a:r>
            <a:endParaRPr lang="es-ES" dirty="0"/>
          </a:p>
          <a:p>
            <a:r>
              <a:rPr lang="es-ES" dirty="0"/>
              <a:t> </a:t>
            </a:r>
          </a:p>
          <a:p>
            <a:pPr>
              <a:buNone/>
            </a:pPr>
            <a:r>
              <a:rPr lang="en-US" dirty="0">
                <a:effectLst/>
                <a:latin typeface="-apple-system"/>
              </a:rPr>
              <a:t>git add -A</a:t>
            </a:r>
          </a:p>
          <a:p>
            <a:pPr>
              <a:buNone/>
            </a:pPr>
            <a:r>
              <a:rPr lang="en-US" dirty="0">
                <a:effectLst/>
                <a:latin typeface="-apple-system"/>
              </a:rPr>
              <a:t> </a:t>
            </a:r>
          </a:p>
          <a:p>
            <a:pPr>
              <a:buNone/>
            </a:pPr>
            <a:r>
              <a:rPr lang="en-US" dirty="0">
                <a:effectLst/>
                <a:latin typeface="-apple-system"/>
              </a:rPr>
              <a:t>git commit -m "</a:t>
            </a:r>
            <a:r>
              <a:rPr lang="en-US" dirty="0" err="1">
                <a:effectLst/>
                <a:latin typeface="-apple-system"/>
              </a:rPr>
              <a:t>cambios</a:t>
            </a:r>
            <a:r>
              <a:rPr lang="en-US" dirty="0">
                <a:effectLst/>
                <a:latin typeface="-apple-system"/>
              </a:rPr>
              <a:t>"</a:t>
            </a:r>
          </a:p>
          <a:p>
            <a:pPr>
              <a:buNone/>
            </a:pPr>
            <a:r>
              <a:rPr lang="en-US" dirty="0">
                <a:effectLst/>
                <a:latin typeface="-apple-system"/>
              </a:rPr>
              <a:t> </a:t>
            </a:r>
          </a:p>
          <a:p>
            <a:pPr>
              <a:buNone/>
            </a:pPr>
            <a:r>
              <a:rPr lang="en-US" dirty="0">
                <a:effectLst/>
                <a:latin typeface="-apple-system"/>
              </a:rPr>
              <a:t>git push</a:t>
            </a:r>
          </a:p>
          <a:p>
            <a:pPr>
              <a:buNone/>
            </a:pPr>
            <a:r>
              <a:rPr lang="en-US" dirty="0">
                <a:effectLst/>
                <a:latin typeface="-apple-system"/>
              </a:rPr>
              <a:t> </a:t>
            </a:r>
            <a:endParaRPr lang="es-E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1732</TotalTime>
  <Words>3679</Words>
  <Application>Microsoft Office PowerPoint</Application>
  <PresentationFormat>Panorámica</PresentationFormat>
  <Paragraphs>207</Paragraphs>
  <Slides>21</Slides>
  <Notes>18</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21</vt:i4>
      </vt:variant>
    </vt:vector>
  </HeadingPairs>
  <TitlesOfParts>
    <vt:vector size="30" baseType="lpstr">
      <vt:lpstr>-apple-system</vt: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#1 – Effective index of a waveguide </vt:lpstr>
      <vt:lpstr>Learning outcome #2 – Wavelength behavior Wavelength 1.5-1.6 µm (step 0.01 µm) – width 1.2 µm</vt:lpstr>
      <vt:lpstr>Learning outcome #2 – Wavelength behavior Wavelength 1.5-1.6 µm (step 0.01 µm) – width 1.2 µm</vt:lpstr>
      <vt:lpstr>Learning outcome #2 – Wavelength behavior Wavelength 1.5-1.6 µm (step 0.01 µm) – width 1.2 µm</vt:lpstr>
      <vt:lpstr>Learning outcome #3 – Width dependence Width 0.6 - 1.6 µm (step 0.1 µm) – Wavelength 1.55 µm </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Learning outcome #5 – Bend waveguide radius vs. loss – deep Find  neff_TE0 for wvl 1.55 µm, width 1.2 µm for R=25,50,75,100, 125,150 µm </vt:lpstr>
      <vt:lpstr>EJERCICIOS EXTRA   </vt:lpstr>
      <vt:lpstr>EXTRA EJERCICIO 1:  Repeat the LO.2. wavelength behavior simulations, considering the updated materials and dimensions  </vt:lpstr>
      <vt:lpstr>EXTRA EJERCICIO 1:  Repeat the LO.2. wavelength behavior simulations, considering the updated materials and dimensions  </vt:lpstr>
      <vt:lpstr>EXTRA EJERCICIO 2:  Repeat the LO.3. width dependence analysis, now sweeping in a 300nm-1um range.</vt:lpstr>
      <vt:lpstr>EXTRA EJERCICIO 2:  Repeat the LO.3. width dependence analysis, now sweeping in a 300 nm-1 um range.</vt:lpstr>
      <vt:lpstr>EXTRA EJERCICIO 3:  Find the safe radius for this technology using silicon as the core material. Consider sweeping the radius in a 5um to 30um range.   </vt:lpstr>
      <vt:lpstr>EXTRA EJERCICIO 3:  Find the safe radius for this technology using silicon as the core material. Consider sweeping the radius in a 5um to 30um range.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Lidia Tortola Juan</cp:lastModifiedBy>
  <cp:revision>24</cp:revision>
  <dcterms:created xsi:type="dcterms:W3CDTF">2025-01-27T02:46:57Z</dcterms:created>
  <dcterms:modified xsi:type="dcterms:W3CDTF">2026-03-11T16:34:40Z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