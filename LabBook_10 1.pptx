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5" r:id="rId3"/>
    <p:sldId id="290" r:id="rId4"/>
    <p:sldId id="298" r:id="rId5"/>
    <p:sldId id="302" r:id="rId6"/>
    <p:sldId id="291" r:id="rId7"/>
    <p:sldId id="301" r:id="rId8"/>
    <p:sldId id="292" r:id="rId9"/>
    <p:sldId id="303" r:id="rId10"/>
    <p:sldId id="297" r:id="rId11"/>
    <p:sldId id="304" r:id="rId12"/>
    <p:sldId id="293" r:id="rId13"/>
    <p:sldId id="288" r:id="rId14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28/02/2026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28/02/2026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99FA-97E9-FC7D-2B9A-BA726593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028ACA-2CBF-8F75-32D0-881978CDF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C834A5-D89E-6306-39BC-39F084B00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E4BC98-71A5-DEF9-0FC1-EE9BE6B25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262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7379-E8F7-0EEB-24B8-B37B4D10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9F7970-F455-DA80-F81B-AD9620714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013AFA-2D76-E2A2-0A6B-B6931F9B2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898D18-FB82-D342-4D88-F5E6F4C4C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40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EB1E-5176-F287-14B3-D6364A20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24B29C-89F6-0631-BFB6-DEAC27C95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0B46AA-E1A4-017C-CF86-9ED5E1E7E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45E78A-B74C-7E42-7D6E-923EF94C8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1572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668B-1BDE-E588-A700-CF53A785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69881F-BD8C-A12F-65E4-4D3886834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8C4B1F-4A34-106B-FC71-A08E8F62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C752FB-22D8-AE5E-A74D-882F59A7E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058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9ECA-B518-50D2-8604-23126DCC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B53A5A-0048-C702-8F7E-860224547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5348C2-C668-42AD-11C3-D9A2AAB49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2FB511-3713-07BB-835C-A6009AC63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6018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Lidia Tórtola Juan y Raúl Salido Calatayud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https://github.com/cccanvas-upv/cifoin-lab1.git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</a:t>
            </a:r>
            <a:r>
              <a:rPr lang="en-US" sz="2000" dirty="0" err="1"/>
              <a:t>neff</a:t>
            </a:r>
            <a:r>
              <a:rPr lang="en-US" sz="2000" dirty="0"/>
              <a:t> …)</a:t>
            </a:r>
            <a:endParaRPr lang="en-US" sz="2000" b="1" i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534989" y="4221458"/>
            <a:ext cx="11047570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primer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materiales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nitruro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dioxide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cabo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éxito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un corte transversal,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definir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además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material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utilizar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la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mallado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shallow,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existe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slab,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deep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dejado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presentan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buen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fuera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habria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modirficar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clad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definido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cuatro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cuatro solo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TE0 y TM0.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modo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0A16-F2F4-9AF8-DF86-1F9986DB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E661BFD-005B-617B-7E44-9EBDCA76A8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8F9C000-EAE2-45D7-BAAE-08F90DCC2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618349C-6186-B659-A1FB-DCB5D31E64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269ADA-2EAB-1916-57A2-82CCB1F3A5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8913B8E7-4B48-4485-0C30-71290D04EE4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A4BDF88-73DC-AAF8-4E1D-3CE69A3FDCD6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0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0471-E512-5565-2D88-AFBC3C1F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5319B52-BE7A-5EDF-8847-CE583D00C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B7A066D-CBDC-5798-F1F7-24E0CB1B0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746A4DE-8EDB-DF1F-F14B-0A1D45EB68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3B11AF-D881-E24A-11EA-EE0F800E3D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D4649C8-97D0-793B-D973-63B9588C8D57}"/>
                  </a:ext>
                </a:extLst>
              </p:cNvPr>
              <p:cNvSpPr txBox="1"/>
              <p:nvPr/>
            </p:nvSpPr>
            <p:spPr>
              <a:xfrm>
                <a:off x="583019" y="4819380"/>
                <a:ext cx="11199971" cy="16178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results (neff changes this way with wavelength, comparison between different waveguide cross-sections …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etc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primeras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figuras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representadas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 cross sections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y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respectivamente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shallow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está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representada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slab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tiene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mismo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s-ES" sz="1200" dirty="0"/>
                  <a:t>La diferencia principal es que la </a:t>
                </a:r>
                <a:r>
                  <a:rPr lang="es-ES" sz="1200" i="1" dirty="0" err="1"/>
                  <a:t>shallow</a:t>
                </a:r>
                <a:r>
                  <a:rPr lang="es-ES" sz="1200" dirty="0"/>
                  <a:t> tiene una capa de </a:t>
                </a:r>
                <a:r>
                  <a:rPr lang="es-ES" sz="1200" i="1" dirty="0" err="1"/>
                  <a:t>slab</a:t>
                </a:r>
                <a:r>
                  <a:rPr lang="es-ES" sz="1200" dirty="0"/>
                  <a:t> (material de núcleo) fuera del </a:t>
                </a:r>
                <a:r>
                  <a:rPr lang="es-ES" sz="1200" dirty="0" err="1"/>
                  <a:t>rib</a:t>
                </a:r>
                <a:r>
                  <a:rPr lang="es-ES" sz="1200" dirty="0"/>
                  <a:t>, mientras que en la </a:t>
                </a:r>
                <a:r>
                  <a:rPr lang="es-ES" sz="1200" i="1" dirty="0" err="1"/>
                  <a:t>deep</a:t>
                </a:r>
                <a:r>
                  <a:rPr lang="es-ES" sz="1200" dirty="0"/>
                  <a:t> esa zona está completamente rodeada por la cubierta (</a:t>
                </a:r>
                <a:r>
                  <a:rPr lang="es-ES" sz="1200" dirty="0" err="1"/>
                  <a:t>SiO</a:t>
                </a:r>
                <a:r>
                  <a:rPr lang="es-ES" sz="1200" dirty="0"/>
                  <a:t>₂).</a:t>
                </a:r>
              </a:p>
              <a:p>
                <a:r>
                  <a:rPr lang="es-ES" sz="1200" dirty="0"/>
                  <a:t>Debido a esto, en la guía </a:t>
                </a:r>
                <a:r>
                  <a:rPr lang="es-ES" sz="1200" i="1" dirty="0" err="1"/>
                  <a:t>shallow</a:t>
                </a:r>
                <a:r>
                  <a:rPr lang="es-ES" sz="1200" dirty="0"/>
                  <a:t> el modo está más confinado en material de alto índice, ya que parte del campo también se propaga por el </a:t>
                </a:r>
                <a:r>
                  <a:rPr lang="es-ES" sz="1200" dirty="0" err="1"/>
                  <a:t>slab</a:t>
                </a:r>
                <a:r>
                  <a:rPr lang="es-ES" sz="1200" dirty="0"/>
                  <a:t>. Como el índice efectivo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>
                            <a:latin typeface="+mj-l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1200" i="0">
                            <a:latin typeface="+mj-lt"/>
                          </a:rPr>
                          <m:t>n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200">
                            <a:latin typeface="+mj-lt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s-ES" sz="1200" dirty="0"/>
                  <a:t> depende del material que “ve” el modo, al haber mayor fracción de campo en el núcleo, su valor es más alto.</a:t>
                </a:r>
              </a:p>
              <a:p>
                <a:r>
                  <a:rPr lang="es-ES" sz="1200" dirty="0"/>
                  <a:t>En cambio, en la guía </a:t>
                </a:r>
                <a:r>
                  <a:rPr lang="es-ES" sz="1200" i="1" dirty="0" err="1"/>
                  <a:t>deep</a:t>
                </a:r>
                <a:r>
                  <a:rPr lang="es-ES" sz="1200" dirty="0"/>
                  <a:t> el campo se extiende más hacia la cubierta (índice menor), lo que reduce el confinamiento y hace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>
                            <a:latin typeface="+mj-l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1200" i="0">
                            <a:latin typeface="+mj-lt"/>
                          </a:rPr>
                          <m:t>n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200">
                            <a:latin typeface="+mj-lt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s-ES" sz="1200" dirty="0"/>
                  <a:t> sea más bajo.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D4649C8-97D0-793B-D973-63B9588C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19" y="4819380"/>
                <a:ext cx="11199971" cy="1617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0065779-FA07-79A3-959D-85192B0F35AB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143A1E-54DE-4E0B-C607-E875A8C41D19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C9140D-3EAB-09C8-E28A-4AFA565F7F80}"/>
              </a:ext>
            </a:extLst>
          </p:cNvPr>
          <p:cNvSpPr txBox="1"/>
          <p:nvPr/>
        </p:nvSpPr>
        <p:spPr>
          <a:xfrm>
            <a:off x="609441" y="1069729"/>
            <a:ext cx="1447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6" name="Imagen 5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8CF22875-A714-89D0-83B7-0730E24CD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842" y="1558564"/>
            <a:ext cx="4231768" cy="3075628"/>
          </a:xfrm>
          <a:prstGeom prst="rect">
            <a:avLst/>
          </a:prstGeom>
        </p:spPr>
      </p:pic>
      <p:pic>
        <p:nvPicPr>
          <p:cNvPr id="11" name="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D2D86B35-4FF6-F1E5-2DDC-A2A060CB8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5997" y="1527005"/>
            <a:ext cx="4377803" cy="317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7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542887" y="5045798"/>
            <a:ext cx="3267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slab_thickness</a:t>
            </a:r>
            <a:r>
              <a:rPr lang="en-US" dirty="0"/>
              <a:t> = 150nm</a:t>
            </a:r>
            <a:endParaRPr lang="es-ES" dirty="0"/>
          </a:p>
        </p:txBody>
      </p:sp>
      <p:pic>
        <p:nvPicPr>
          <p:cNvPr id="10" name="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0E2661E7-F8B1-FC85-20AA-858D01336D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87"/>
          <a:stretch>
            <a:fillRect/>
          </a:stretch>
        </p:blipFill>
        <p:spPr>
          <a:xfrm>
            <a:off x="6550910" y="1508141"/>
            <a:ext cx="5258502" cy="3010670"/>
          </a:xfrm>
          <a:prstGeom prst="rect">
            <a:avLst/>
          </a:prstGeom>
        </p:spPr>
      </p:pic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D207EA98-5B09-BC58-0A08-FC2F68FB5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29" y="1573281"/>
            <a:ext cx="5143103" cy="29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487D-A41E-9467-90C4-9B4FFD31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B639599-FD86-26FE-4494-F92E30A0B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E7E29A8-0A3F-E680-4995-0B7383855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B2E448D-F90B-316C-9A22-37B89D7470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50A87A-25D7-AC78-2D3C-65977DD80E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D243C48-D0CB-2131-C493-8E5DFCAD1557}"/>
                  </a:ext>
                </a:extLst>
              </p:cNvPr>
              <p:cNvSpPr txBox="1"/>
              <p:nvPr/>
            </p:nvSpPr>
            <p:spPr>
              <a:xfrm>
                <a:off x="685798" y="2183808"/>
                <a:ext cx="11199971" cy="24563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En primer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lugar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podemos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solamente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0 y 1,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mientras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otro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ado, para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entender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necesario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saber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considere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modo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está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propaganda,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tiene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núcleo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caso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2), y mayor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cubierta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caso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1.55).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Además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visto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figuras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las cross sections,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slab 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efectrivo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sea mayor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mejor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Por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otro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deep al no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material,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hay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despues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nucleo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material de Si02,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disminuye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rapidamente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cual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consiguiente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esté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s-ES" sz="1200" dirty="0"/>
                  <a:t>Además, en las gráficas se observa que el índice efectivo disminuye ligeramente al aumentar la longitud de onda para todos los modos y en ambas guías. Esto se debe a que, a mayores longitudes de onda, el modo se desconfina más y parte del campo se extiende hacia la cubierta, reduciendo el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 i="1"/>
                          <m:t>eff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  <a:r>
                  <a:rPr lang="es-ES" sz="1200" dirty="0"/>
                  <a:t>, DEBIDO A QUE CUANDO AUMENTAMOS LAS LONGIUTDES DE ONDA AUMENTA SU TAMAÑO Y POR TANTO DISMINUUYE SU CONFINAMIENTO.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Cabe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mencionar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tambien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propaguen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no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tampoco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bueno,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normalmente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solo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deseamos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uno,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hecho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propaguen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distintos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vez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puede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conllevar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veces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interferencias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intermodales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D243C48-D0CB-2131-C493-8E5DFCAD1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8" y="2183808"/>
                <a:ext cx="11199971" cy="24563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83CA6113-EDE4-221A-895C-6660C9379186}"/>
              </a:ext>
            </a:extLst>
          </p:cNvPr>
          <p:cNvSpPr txBox="1"/>
          <p:nvPr/>
        </p:nvSpPr>
        <p:spPr>
          <a:xfrm>
            <a:off x="583019" y="1325840"/>
            <a:ext cx="11199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Comment results (</a:t>
            </a:r>
            <a:r>
              <a:rPr lang="en-U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 changes this way with wavelength, comparison between different waveguide </a:t>
            </a:r>
          </a:p>
          <a:p>
            <a:pPr algn="just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cross-sections …</a:t>
            </a:r>
            <a:r>
              <a:rPr lang="en-U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412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2"/>
            <a:ext cx="11199971" cy="46776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7FE8EEDD-8993-BCEA-0B41-201B4F53E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0" y="1517970"/>
            <a:ext cx="7696200" cy="44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E4B9-ABBB-87A8-4B17-C171028A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9C23C97-D7CF-497D-A5D2-21CC05D101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22F4EF9-AE55-C48A-8B2E-3848EC351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001561-763B-091A-D701-C675075E0A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443C3E-55F8-F709-A423-226B9F3EFED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F9A7E5-D46C-0453-20FD-6B7360905609}"/>
              </a:ext>
            </a:extLst>
          </p:cNvPr>
          <p:cNvSpPr txBox="1"/>
          <p:nvPr/>
        </p:nvSpPr>
        <p:spPr>
          <a:xfrm>
            <a:off x="583019" y="1371600"/>
            <a:ext cx="11199971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distintos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ancho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cabe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destacar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rojas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azules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TM. Esto se ha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deducido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gracias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porcentaje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modo TE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temenos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0 TE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0 TM,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van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Sin embargo,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conforme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ancho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espacio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poder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major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1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modo 2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hasta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consigue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ancho de 1.25um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empieza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momento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ser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estarían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propaganda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TE.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encontramos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3,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modo TM 1,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rango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elegido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nunca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nunca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llegaban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(modo TM1 y TE1),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Sin embargo,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actual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determinado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comenzarian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2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94400B4-EE16-8E85-AB54-E82FE3B2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   - </a:t>
            </a: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29252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Comment on the results found for the TE0 and TM0 for both deep and shallow waveguides.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continuación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presenta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ecuacion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segundo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coeficientes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polinomicos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Su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disminuir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complejidad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representacion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calculo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llevando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cabo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aproximacion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sus indices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rango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longitudes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1.50 a 1.6,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tomando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1.55.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tomado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 dos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funciones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creadas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LO.2, tanto para la deep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la shallow.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partir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dirty="0"/>
                  <a:t>de los resultados obtenidos con el </a:t>
                </a:r>
                <a:r>
                  <a:rPr lang="es-ES" sz="1200" dirty="0" err="1"/>
                  <a:t>ModeSolver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dirty="0"/>
                  <a:t>se ha realizado un ajuste polinómico de segundo orden en torno a </a:t>
                </a:r>
                <a:r>
                  <a:rPr lang="el-GR" sz="1200" dirty="0"/>
                  <a:t>λ₀, </a:t>
                </a:r>
                <a:r>
                  <a:rPr lang="es-ES" sz="1200" dirty="0"/>
                  <a:t>obteniendo los coeficientes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s-ES" sz="1200" dirty="0"/>
                  <a:t>así como el índice de grupo y el parámetro de dispersión.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Posteriormente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analizado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se ha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llegado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la conclusion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correctos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coeficiente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n1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corresponde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longitude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la dispersion da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negativo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n3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positivo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ademas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n2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0 al ser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pendiente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negativa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2925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6EE6A301-802F-71A8-D45A-719DDCE23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0" y="1462655"/>
            <a:ext cx="5486560" cy="3291174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3B7AF3B-D6BB-A7C0-88D3-336824D54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1423" y="1462655"/>
            <a:ext cx="5486560" cy="32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FB58-B666-0C41-4C72-3ABC0EC4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3DF2B24-AC21-643D-B8C0-62993AB27B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   - </a:t>
            </a: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7813654-26E9-7238-D73E-68BA1316A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E2D0D11-BF34-FF92-6520-B37F368C0D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835810-53AB-5DA6-6898-CDFC21E038D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1.0 WAVEGUIDES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1E2B217-7A2F-7F84-8CFC-E023D5FB8F3B}"/>
                  </a:ext>
                </a:extLst>
              </p:cNvPr>
              <p:cNvSpPr txBox="1"/>
              <p:nvPr/>
            </p:nvSpPr>
            <p:spPr>
              <a:xfrm>
                <a:off x="481668" y="1690095"/>
                <a:ext cx="11198542" cy="38493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Comment on the results found for the TE0 and TM0 for both deep and shallow waveguides. 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A </a:t>
                </a:r>
                <a:r>
                  <a:rPr lang="en-US" sz="1200" dirty="0" err="1">
                    <a:cs typeface="Arial" panose="020B0604020202020204" pitchFamily="34" charset="0"/>
                  </a:rPr>
                  <a:t>continuación</a:t>
                </a:r>
                <a:r>
                  <a:rPr lang="en-US" sz="1200" dirty="0"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cs typeface="Arial" panose="020B0604020202020204" pitchFamily="34" charset="0"/>
                  </a:rPr>
                  <a:t>presenta</a:t>
                </a:r>
                <a:r>
                  <a:rPr lang="en-US" sz="1200" dirty="0"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cs typeface="Arial" panose="020B0604020202020204" pitchFamily="34" charset="0"/>
                  </a:rPr>
                  <a:t>ecuacion</a:t>
                </a:r>
                <a:r>
                  <a:rPr lang="en-US" sz="1200" dirty="0"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cs typeface="Arial" panose="020B0604020202020204" pitchFamily="34" charset="0"/>
                  </a:rPr>
                  <a:t>segundo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grado</a:t>
                </a:r>
                <a:r>
                  <a:rPr lang="en-US" sz="1200" dirty="0">
                    <a:cs typeface="Arial" panose="020B0604020202020204" pitchFamily="34" charset="0"/>
                  </a:rPr>
                  <a:t> con </a:t>
                </a:r>
                <a:r>
                  <a:rPr lang="en-US" sz="1200" dirty="0" err="1"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coeficientes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polinomicos</a:t>
                </a:r>
                <a:r>
                  <a:rPr lang="en-US" sz="1200" dirty="0">
                    <a:cs typeface="Arial" panose="020B0604020202020204" pitchFamily="34" charset="0"/>
                  </a:rPr>
                  <a:t>. Su </a:t>
                </a:r>
                <a:r>
                  <a:rPr lang="en-US" sz="1200" dirty="0" err="1">
                    <a:cs typeface="Arial" panose="020B0604020202020204" pitchFamily="34" charset="0"/>
                  </a:rPr>
                  <a:t>objetivo</a:t>
                </a:r>
                <a:r>
                  <a:rPr lang="en-US" sz="1200" dirty="0">
                    <a:cs typeface="Arial" panose="020B0604020202020204" pitchFamily="34" charset="0"/>
                  </a:rPr>
                  <a:t> es </a:t>
                </a:r>
                <a:r>
                  <a:rPr lang="en-US" sz="1200" dirty="0" err="1">
                    <a:cs typeface="Arial" panose="020B0604020202020204" pitchFamily="34" charset="0"/>
                  </a:rPr>
                  <a:t>disminuir</a:t>
                </a:r>
                <a:r>
                  <a:rPr lang="en-US" sz="1200" dirty="0"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cs typeface="Arial" panose="020B0604020202020204" pitchFamily="34" charset="0"/>
                  </a:rPr>
                  <a:t>complejidad</a:t>
                </a:r>
                <a:r>
                  <a:rPr lang="en-US" sz="1200" dirty="0"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cs typeface="Arial" panose="020B0604020202020204" pitchFamily="34" charset="0"/>
                  </a:rPr>
                  <a:t>representacion</a:t>
                </a:r>
                <a:r>
                  <a:rPr lang="en-US" sz="1200" dirty="0">
                    <a:cs typeface="Arial" panose="020B0604020202020204" pitchFamily="34" charset="0"/>
                  </a:rPr>
                  <a:t> y del </a:t>
                </a:r>
                <a:r>
                  <a:rPr lang="en-US" sz="1200" dirty="0" err="1">
                    <a:cs typeface="Arial" panose="020B0604020202020204" pitchFamily="34" charset="0"/>
                  </a:rPr>
                  <a:t>calculo</a:t>
                </a:r>
                <a:r>
                  <a:rPr lang="en-US" sz="1200" dirty="0">
                    <a:cs typeface="Arial" panose="020B0604020202020204" pitchFamily="34" charset="0"/>
                  </a:rPr>
                  <a:t> de las </a:t>
                </a:r>
                <a:r>
                  <a:rPr lang="en-US" sz="1200" dirty="0" err="1">
                    <a:cs typeface="Arial" panose="020B0604020202020204" pitchFamily="34" charset="0"/>
                  </a:rPr>
                  <a:t>guias</a:t>
                </a:r>
                <a:r>
                  <a:rPr lang="en-US" sz="1200" dirty="0"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cs typeface="Arial" panose="020B0604020202020204" pitchFamily="34" charset="0"/>
                  </a:rPr>
                  <a:t>llevando</a:t>
                </a:r>
                <a:r>
                  <a:rPr lang="en-US" sz="1200" dirty="0"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cs typeface="Arial" panose="020B0604020202020204" pitchFamily="34" charset="0"/>
                  </a:rPr>
                  <a:t>cabo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una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aproximacion</a:t>
                </a:r>
                <a:r>
                  <a:rPr lang="en-US" sz="1200" dirty="0">
                    <a:cs typeface="Arial" panose="020B0604020202020204" pitchFamily="34" charset="0"/>
                  </a:rPr>
                  <a:t> de sus indices </a:t>
                </a:r>
                <a:r>
                  <a:rPr lang="en-US" sz="1200" dirty="0" err="1">
                    <a:cs typeface="Arial" panose="020B0604020202020204" pitchFamily="34" charset="0"/>
                  </a:rPr>
                  <a:t>efectivos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rango</a:t>
                </a:r>
                <a:r>
                  <a:rPr lang="en-US" sz="1200" dirty="0">
                    <a:cs typeface="Arial" panose="020B0604020202020204" pitchFamily="34" charset="0"/>
                  </a:rPr>
                  <a:t> de longitudes de </a:t>
                </a:r>
                <a:r>
                  <a:rPr lang="en-US" sz="1200" dirty="0" err="1"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cs typeface="Arial" panose="020B0604020202020204" pitchFamily="34" charset="0"/>
                  </a:rPr>
                  <a:t> de 1.50 a 1.6, </a:t>
                </a:r>
                <a:r>
                  <a:rPr lang="en-US" sz="1200" dirty="0" err="1">
                    <a:cs typeface="Arial" panose="020B0604020202020204" pitchFamily="34" charset="0"/>
                  </a:rPr>
                  <a:t>tomando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cs typeface="Arial" panose="020B0604020202020204" pitchFamily="34" charset="0"/>
                  </a:rPr>
                  <a:t> 1.55.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cs typeface="Arial" panose="020B0604020202020204" pitchFamily="34" charset="0"/>
                  </a:rPr>
                  <a:t>ello</a:t>
                </a:r>
                <a:r>
                  <a:rPr lang="en-US" sz="1200" dirty="0"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tomado</a:t>
                </a:r>
                <a:r>
                  <a:rPr lang="en-US" sz="1200" dirty="0">
                    <a:cs typeface="Arial" panose="020B0604020202020204" pitchFamily="34" charset="0"/>
                  </a:rPr>
                  <a:t> las dos </a:t>
                </a:r>
                <a:r>
                  <a:rPr lang="en-US" sz="1200" dirty="0" err="1">
                    <a:cs typeface="Arial" panose="020B0604020202020204" pitchFamily="34" charset="0"/>
                  </a:rPr>
                  <a:t>funciones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creadas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cs typeface="Arial" panose="020B0604020202020204" pitchFamily="34" charset="0"/>
                  </a:rPr>
                  <a:t> LO.2, tanto para la deep </a:t>
                </a:r>
                <a:r>
                  <a:rPr lang="en-US" sz="1200" dirty="0" err="1"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cs typeface="Arial" panose="020B0604020202020204" pitchFamily="34" charset="0"/>
                  </a:rPr>
                  <a:t> para la shallow. A </a:t>
                </a:r>
                <a:r>
                  <a:rPr lang="en-US" sz="1200" dirty="0" err="1">
                    <a:cs typeface="Arial" panose="020B0604020202020204" pitchFamily="34" charset="0"/>
                  </a:rPr>
                  <a:t>partir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s-ES" sz="1200" dirty="0"/>
                  <a:t>de los resultados obtenidos con el </a:t>
                </a:r>
                <a:r>
                  <a:rPr lang="es-ES" sz="1200" dirty="0" err="1"/>
                  <a:t>ModeSolver</a:t>
                </a:r>
                <a:r>
                  <a:rPr lang="en-US" sz="1200" dirty="0">
                    <a:cs typeface="Arial" panose="020B0604020202020204" pitchFamily="34" charset="0"/>
                  </a:rPr>
                  <a:t>, </a:t>
                </a:r>
                <a:r>
                  <a:rPr lang="es-ES" sz="1200" dirty="0"/>
                  <a:t>se ha realizado un ajuste polinómico de segundo orden en torno a </a:t>
                </a:r>
                <a:r>
                  <a:rPr lang="el-GR" sz="1200" dirty="0"/>
                  <a:t>λ₀, </a:t>
                </a:r>
                <a:r>
                  <a:rPr lang="es-ES" sz="1200" dirty="0"/>
                  <a:t>obteniendo los coeficientes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1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3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s-ES" sz="1200" dirty="0"/>
                  <a:t>así como el índice de grupo y el parámetro de dispersión.</a:t>
                </a:r>
                <a:r>
                  <a:rPr lang="en-US" sz="1200" dirty="0"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 err="1">
                    <a:cs typeface="Arial" panose="020B0604020202020204" pitchFamily="34" charset="0"/>
                  </a:rPr>
                  <a:t>Posteriormente</a:t>
                </a:r>
                <a:r>
                  <a:rPr lang="en-US" sz="1200" dirty="0"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analizado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cs typeface="Arial" panose="020B0604020202020204" pitchFamily="34" charset="0"/>
                  </a:rPr>
                  <a:t> y se ha </a:t>
                </a:r>
                <a:r>
                  <a:rPr lang="en-US" sz="1200" dirty="0" err="1">
                    <a:cs typeface="Arial" panose="020B0604020202020204" pitchFamily="34" charset="0"/>
                  </a:rPr>
                  <a:t>llegado</a:t>
                </a:r>
                <a:r>
                  <a:rPr lang="en-US" sz="1200" dirty="0">
                    <a:cs typeface="Arial" panose="020B0604020202020204" pitchFamily="34" charset="0"/>
                  </a:rPr>
                  <a:t> a la conclusion de </a:t>
                </a:r>
                <a:r>
                  <a:rPr lang="en-US" sz="1200" dirty="0" err="1"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cs typeface="Arial" panose="020B0604020202020204" pitchFamily="34" charset="0"/>
                  </a:rPr>
                  <a:t> son </a:t>
                </a:r>
                <a:r>
                  <a:rPr lang="en-US" sz="1200" dirty="0" err="1">
                    <a:cs typeface="Arial" panose="020B0604020202020204" pitchFamily="34" charset="0"/>
                  </a:rPr>
                  <a:t>correctos</a:t>
                </a:r>
                <a:r>
                  <a:rPr lang="en-US" sz="1200" dirty="0"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coeficiente</a:t>
                </a:r>
                <a:r>
                  <a:rPr lang="en-US" sz="1200" dirty="0">
                    <a:cs typeface="Arial" panose="020B0604020202020204" pitchFamily="34" charset="0"/>
                  </a:rPr>
                  <a:t> n1 </a:t>
                </a:r>
                <a:r>
                  <a:rPr lang="en-US" sz="1200" dirty="0" err="1">
                    <a:cs typeface="Arial" panose="020B0604020202020204" pitchFamily="34" charset="0"/>
                  </a:rPr>
                  <a:t>corresponde</a:t>
                </a:r>
                <a:r>
                  <a:rPr lang="en-US" sz="1200" dirty="0">
                    <a:cs typeface="Arial" panose="020B0604020202020204" pitchFamily="34" charset="0"/>
                  </a:rPr>
                  <a:t> al </a:t>
                </a:r>
                <a:r>
                  <a:rPr lang="en-US" sz="1200" dirty="0" err="1"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cada</a:t>
                </a:r>
                <a:r>
                  <a:rPr lang="en-US" sz="1200" dirty="0"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la longitude de </a:t>
                </a:r>
                <a:r>
                  <a:rPr lang="en-US" sz="1200" dirty="0" err="1"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cs typeface="Arial" panose="020B0604020202020204" pitchFamily="34" charset="0"/>
                  </a:rPr>
                  <a:t>. </a:t>
                </a:r>
                <a:r>
                  <a:rPr lang="es-ES" sz="1200" dirty="0"/>
                  <a:t>Además,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es menor que cero, lo que indica que el índice efectivo disminuye al aumentar la longitud de onda debido al </a:t>
                </a:r>
                <a:r>
                  <a:rPr lang="es-ES" sz="1200" dirty="0" err="1"/>
                  <a:t>desconfiamiento</a:t>
                </a:r>
                <a:r>
                  <a:rPr lang="es-ES" sz="1200" dirty="0"/>
                  <a:t> modal. Por otro lado, la dispersión resulta negativa porque el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3</m:t>
                        </m:r>
                      </m:sub>
                    </m:sSub>
                  </m:oMath>
                </a14:m>
                <a:r>
                  <a:rPr lang="es-ES" sz="1200" dirty="0"/>
                  <a:t>es positivo, según la relación </a:t>
                </a:r>
                <a14:m>
                  <m:oMath xmlns:m="http://schemas.openxmlformats.org/officeDocument/2006/math">
                    <m:r>
                      <a:rPr lang="es-ES" sz="1200" i="1"/>
                      <m:t>𝐷</m:t>
                    </m:r>
                    <m:r>
                      <a:rPr lang="es-ES" sz="1200"/>
                      <m:t>=−</m:t>
                    </m:r>
                    <m:f>
                      <m:fPr>
                        <m:ctrlPr>
                          <a:rPr lang="ar-AE" sz="1200" i="1"/>
                        </m:ctrlPr>
                      </m:fPr>
                      <m:num>
                        <m:r>
                          <a:rPr lang="ar-AE" sz="1200"/>
                          <m:t>2</m:t>
                        </m:r>
                        <m:sSub>
                          <m:sSubPr>
                            <m:ctrlPr>
                              <a:rPr lang="ar-AE" sz="1200" i="1"/>
                            </m:ctrlPr>
                          </m:sSubPr>
                          <m:e>
                            <m:r>
                              <a:rPr lang="ar-AE" sz="1200" i="1"/>
                              <m:t>𝜆</m:t>
                            </m:r>
                          </m:e>
                          <m:sub>
                            <m:r>
                              <a:rPr lang="ar-AE" sz="1200"/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ar-AE" sz="1200" i="1"/>
                            </m:ctrlPr>
                          </m:sSubPr>
                          <m:e>
                            <m:r>
                              <a:rPr lang="ar-AE" sz="1200" i="1"/>
                              <m:t>𝑛</m:t>
                            </m:r>
                          </m:e>
                          <m:sub>
                            <m:r>
                              <a:rPr lang="ar-AE" sz="1200"/>
                              <m:t>3</m:t>
                            </m:r>
                          </m:sub>
                        </m:sSub>
                      </m:num>
                      <m:den>
                        <m:r>
                          <a:rPr lang="ar-AE" sz="1200" i="1"/>
                          <m:t>𝑐</m:t>
                        </m:r>
                      </m:den>
                    </m:f>
                  </m:oMath>
                </a14:m>
                <a:r>
                  <a:rPr lang="ar-AE" sz="1200" dirty="0"/>
                  <a:t>, </a:t>
                </a:r>
                <a:r>
                  <a:rPr lang="es-ES" sz="1200" dirty="0"/>
                  <a:t>lo que implica una curvatura cóncava hacia arriba del índice efectivo en el rango analizado.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s-ES" sz="1200" dirty="0"/>
                  <a:t>Asimismo, se observa que la guía </a:t>
                </a:r>
                <a:r>
                  <a:rPr lang="es-ES" sz="1200" dirty="0" err="1"/>
                  <a:t>shallow</a:t>
                </a:r>
                <a:r>
                  <a:rPr lang="es-ES" sz="1200" dirty="0"/>
                  <a:t> presenta valores ligeramente mayores de índice efectivo que la </a:t>
                </a:r>
                <a:r>
                  <a:rPr lang="es-ES" sz="1200" dirty="0" err="1"/>
                  <a:t>deep</a:t>
                </a:r>
                <a:r>
                  <a:rPr lang="es-ES" sz="1200" dirty="0"/>
                  <a:t>, lo que indica un mayor confinamiento modal debido a la presencia del </a:t>
                </a:r>
                <a:r>
                  <a:rPr lang="es-ES" sz="1200" dirty="0" err="1"/>
                  <a:t>slab</a:t>
                </a:r>
                <a:r>
                  <a:rPr lang="es-ES" sz="1200" dirty="0"/>
                  <a:t>.</a:t>
                </a:r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1E2B217-7A2F-7F84-8CFC-E023D5FB8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68" y="1690095"/>
                <a:ext cx="11198542" cy="3849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3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1.2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radius?, consider safe means less than 0.1 dB/90º.</a:t>
            </a:r>
          </a:p>
          <a:p>
            <a:pPr algn="just"/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2978141" y="2784355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Total Loss (dB/90º) vs R &amp; neff_TE0 vs R</a:t>
            </a: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DB343B-A24E-A634-93E8-282DB996B142}"/>
              </a:ext>
            </a:extLst>
          </p:cNvPr>
          <p:cNvSpPr txBox="1"/>
          <p:nvPr/>
        </p:nvSpPr>
        <p:spPr>
          <a:xfrm>
            <a:off x="1452886" y="312322"/>
            <a:ext cx="6120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git</a:t>
            </a:r>
            <a:r>
              <a:rPr lang="es-ES" b="1" dirty="0"/>
              <a:t> </a:t>
            </a:r>
            <a:r>
              <a:rPr lang="es-ES" b="1" dirty="0" err="1"/>
              <a:t>config</a:t>
            </a:r>
            <a:r>
              <a:rPr lang="es-ES" b="1" dirty="0"/>
              <a:t> --global user.name "{Tu nombre de usuario}"</a:t>
            </a:r>
            <a:endParaRPr lang="es-ES" dirty="0"/>
          </a:p>
          <a:p>
            <a:r>
              <a:rPr lang="es-ES" dirty="0"/>
              <a:t> 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git add -A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git commit -m "</a:t>
            </a:r>
            <a:r>
              <a:rPr lang="en-US" dirty="0" err="1">
                <a:effectLst/>
                <a:latin typeface="-apple-system"/>
              </a:rPr>
              <a:t>cambios</a:t>
            </a:r>
            <a:r>
              <a:rPr lang="en-US" dirty="0">
                <a:effectLst/>
                <a:latin typeface="-apple-system"/>
              </a:rPr>
              <a:t>"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git push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</TotalTime>
  <Words>2154</Words>
  <Application>Microsoft Office PowerPoint</Application>
  <PresentationFormat>Panorámica</PresentationFormat>
  <Paragraphs>144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-apple-system</vt:lpstr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Learning outcome #1 – Effective index of a waveguide </vt:lpstr>
      <vt:lpstr>Learning outcome #2 – Wavelength behavior Wavelength 1.5-1.6 µm (step 0.01 µm) – width 1.2 µm</vt:lpstr>
      <vt:lpstr>Learning outcome #2 – Wavelength behavior Wavelength 1.5-1.6 µm (step 0.01 µm) – width 1.2 µm</vt:lpstr>
      <vt:lpstr>Learning outcome #2 – Wavelength behavior Wavelength 1.5-1.6 µm (step 0.01 µm) – width 1.2 µm</vt:lpstr>
      <vt:lpstr>Learning outcome #3 – Width dependence Width 0.6 - 1.6 µm (step 0.1 µm) – Wavelength 1.55 µm </vt:lpstr>
      <vt:lpstr>Learning outcome #3 – Width dependence Width 0.6 - 1.6 µm (step 0.1 µm) – Wavelength 1.55 µm </vt:lpstr>
      <vt:lpstr>Learning outcome #4 – Waveguide compact model - Find the compact models of the following waveguides:  Deep waveguide, h=300nm, w=1.2um   - Shallow waveguide, core h=300nm, slab h=150 nm, w = 1.2um  </vt:lpstr>
      <vt:lpstr>Learning outcome #4 – Waveguide compact model - Find the compact models of the following waveguides:  Deep waveguide, h=300nm, w=1.2um   - Shallow waveguide, core h=300nm, slab h=150 nm, w = 1.2um  </vt:lpstr>
      <vt:lpstr>Learning outcome #5 – Bend waveguide radius vs. loss – deep Find  neff_TE0 for wvl 1.55 µm, width 1.2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Lidia Tortola Juan</cp:lastModifiedBy>
  <cp:revision>19</cp:revision>
  <dcterms:created xsi:type="dcterms:W3CDTF">2025-01-27T02:46:57Z</dcterms:created>
  <dcterms:modified xsi:type="dcterms:W3CDTF">2026-02-28T12:54:22Z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